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5" r:id="rId10"/>
    <p:sldId id="267"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457"/>
  </p:normalViewPr>
  <p:slideViewPr>
    <p:cSldViewPr snapToGrid="0">
      <p:cViewPr varScale="1">
        <p:scale>
          <a:sx n="97" d="100"/>
          <a:sy n="97" d="100"/>
        </p:scale>
        <p:origin x="10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Welcome. Today we will turn a city area into an editable SVG, explore its layers, then export our own cities. Suggested flow: 10 minutes introduction, 5 minutes live demo, 20 minutes hands-on and 10 minutes discussion. Timings are adjustable. The map shown is the live Gent export included with this deck</a:t>
            </a:r>
            <a:r>
              <a:rPr lang="nl-NL"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for a quick show of hands: who has traced a base map manually? </a:t>
            </a:r>
            <a:r>
              <a:rPr dirty="0" err="1"/>
              <a:t>MapExport</a:t>
            </a:r>
            <a:r>
              <a:rPr dirty="0"/>
              <a:t> tackles repetitive groundwork: streets, blocks and street labels. Do not promise a measured time saving. The amount of cleanup depends on the city and the source </a:t>
            </a:r>
            <a:r>
              <a:t>data.</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Point out water, roads, parks and blocks. SVG is a vector file: it can be scaled and edited in a vector editor. This is a base map, not a complete travel guide.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OpenStreetMap provides geographical data. </a:t>
            </a:r>
            <a:r>
              <a:rPr dirty="0" err="1"/>
              <a:t>MapExport</a:t>
            </a:r>
            <a:r>
              <a:rPr dirty="0"/>
              <a:t> transforms those features into a designed SVG, including computed city blocks and road labels. City blocks are areas between roads, not individual building footprints. Data coverage and quality vary by location</a:t>
            </a:r>
            <a:r>
              <a:rPr lang="nl-NL"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 https://</a:t>
            </a:r>
            <a:r>
              <a:rPr dirty="0" err="1"/>
              <a:t>coen.at</a:t>
            </a:r>
            <a:r>
              <a:rPr dirty="0"/>
              <a:t>/</a:t>
            </a:r>
            <a:r>
              <a:rPr dirty="0" err="1"/>
              <a:t>mapexport</a:t>
            </a:r>
            <a:r>
              <a:rPr dirty="0"/>
              <a:t>/ . The controls are on the left, the map on the right. Search, pick the matching location and use Draw rectangle. Screenshot captured from the live site, 13 September 2026. Live controls may evolve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the first exercise choose a manageable central </a:t>
            </a:r>
            <a:r>
              <a:rPr dirty="0" err="1"/>
              <a:t>neighbourhood</a:t>
            </a:r>
            <a:r>
              <a:rPr dirty="0"/>
              <a:t>, not an entire metropolitan area. In the sample the rectangle is roughly 2.3 × 2.9 km. The live interface shows approximate printed dimensions. Avoid implying that the website has an A3 selector. A larger export has more objects and may take longer</a:t>
            </a:r>
            <a:r>
              <a:rPr lang="nl-NL"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Show the layer checkboxes on the live site. Available options include water bodies, waterways, city blocks, parks/green space, roads, railways and transit features. Street-name controls include road categories. Explain that all available detail does not necessarily improve a printed USE-IT map. City blocks do not represent each individual building.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option labels observed on the live site. Use File &gt; Open, rather than placing the SVG as a linked image in another document. Inspect Layers or Layers and Objects after opening; group/layer presentation differs between editors. Keep the original SVG for recovery</a:t>
            </a:r>
            <a:r>
              <a:rPr lang="nl-NL"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DEMO SCRIPT</a:t>
            </a:r>
          </a:p>
          <a:p>
            <a:r>
              <a:rPr dirty="0"/>
              <a:t>Open presentations/assets/</a:t>
            </a:r>
            <a:r>
              <a:rPr dirty="0" err="1"/>
              <a:t>ghent-demo.svg</a:t>
            </a:r>
            <a:r>
              <a:rPr dirty="0"/>
              <a:t> in Inkscape. Fit the page to the window (5). Open Layer &gt; Layers and Objects and expand Map content. Find City blocks. Enter that layer and select its child paths, or select one block and use Edit &gt; Select Same &gt; Fill Color. Verify that only the city-block paths are selected: this sample contains 581. Lock unrelated layers first if their objects share the same fill. Click a palette </a:t>
            </a:r>
            <a:r>
              <a:rPr dirty="0" err="1"/>
              <a:t>colour</a:t>
            </a:r>
            <a:r>
              <a:rPr dirty="0"/>
              <a:t> or use Object &gt; Fill and Stroke to change Fill (do not Shift-click, which changes Stroke). Water, roads and parks should retain their </a:t>
            </a:r>
            <a:r>
              <a:rPr dirty="0" err="1"/>
              <a:t>colours</a:t>
            </a:r>
            <a:r>
              <a:rPr dirty="0"/>
              <a:t>. Undo once to show that all blocks changed together. Save a separate edited SVG</a:t>
            </a:r>
            <a:r>
              <a:rPr lang="nl-NL"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Keep this slide on screen throughout the hands-on exercise. Allow about 20 minutes. Participants can work individually or in pairs. Start with a small central area and choose the SVG format for the editor. Use File &gt; Open and keep the original download. Select only the City blocks paths before changing Fill. Keep roads and water unchanged. Hide and restore a layer, then find a street label. Save a separate working copy and note one concrete observation for the discussion. Done early? Compare the map with a place you know well. If an export is delayed, use https://</a:t>
            </a:r>
            <a:r>
              <a:rPr dirty="0" err="1"/>
              <a:t>coen.at</a:t>
            </a:r>
            <a:r>
              <a:rPr dirty="0"/>
              <a:t>/</a:t>
            </a:r>
            <a:r>
              <a:rPr dirty="0" err="1"/>
              <a:t>ghent.svg</a:t>
            </a:r>
            <a:r>
              <a:rPr dirty="0"/>
              <a:t> (local backup: presentations/assets/</a:t>
            </a:r>
            <a:r>
              <a:rPr dirty="0" err="1"/>
              <a:t>ghent-demo.svg</a:t>
            </a:r>
            <a:r>
              <a:rPr dirty="0"/>
              <a:t>). Watch the progress message and try a smaller area next time. If the file looks unexpected, check SVG format, fonts and layer visibility. Useful bug reports include city, area, editor and expected result</a:t>
            </a:r>
            <a:r>
              <a:rPr lang="nl-NL"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End here and invite an open discussion. Collect feedback in three columns on a board or shared document: observation, impact and desired change. Capture the city, area and editor for reproducible problems. Ask for concrete examples and let other participants add their experience before </a:t>
            </a:r>
            <a:r>
              <a:rPr dirty="0" err="1"/>
              <a:t>prioritising</a:t>
            </a:r>
            <a:r>
              <a:rPr dirty="0"/>
              <a:t>. Distinguish bugs, usability issues and feature wishes. Finish by asking each person for the one improvement that matters most; do not promise delivery 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coen.at/mapexpor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coen.at/ghent.sv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501E"/>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7375" r="17375"/>
          <a:stretch>
            <a:fillRect/>
          </a:stretch>
        </p:blipFill>
        <p:spPr>
          <a:xfrm>
            <a:off x="6667500" y="0"/>
            <a:ext cx="5524500" cy="6858000"/>
          </a:xfrm>
          <a:prstGeom prst="rect">
            <a:avLst/>
          </a:prstGeom>
        </p:spPr>
      </p:pic>
      <p:sp>
        <p:nvSpPr>
          <p:cNvPr id="2" name="Rectangle 1">
            <a:extLst>
              <a:ext uri="{FF2B5EF4-FFF2-40B4-BE49-F238E27FC236}">
                <a16:creationId xmlns:a16="http://schemas.microsoft.com/office/drawing/2014/main" id="{6B9A9E26-F7CB-4565-BD78-F5972A80B259}"/>
              </a:ext>
            </a:extLst>
          </p:cNvPr>
          <p:cNvSpPr>
            <a:spLocks noGrp="1"/>
          </p:cNvSpPr>
          <p:nvPr/>
        </p:nvSpPr>
        <p:spPr>
          <a:xfrm>
            <a:off x="457200" y="381000"/>
            <a:ext cx="6191250" cy="381000"/>
          </a:xfrm>
          <a:prstGeom prst="rect">
            <a:avLst/>
          </a:prstGeom>
          <a:noFill/>
          <a:ln w="0">
            <a:noFill/>
          </a:ln>
        </p:spPr>
        <p:txBody>
          <a:bodyPr>
            <a:noAutofit/>
          </a:bodyPr>
          <a:lstStyle/>
          <a:p>
            <a:pPr>
              <a:defRPr sz="1575" b="1">
                <a:solidFill>
                  <a:srgbClr val="FEF9E4"/>
                </a:solidFill>
                <a:latin typeface="Apfel Grotezk"/>
                <a:ea typeface="Apfel Grotezk"/>
                <a:cs typeface="Apfel Grotezk"/>
              </a:defRPr>
            </a:pPr>
            <a:r>
              <a:rPr sz="1575" b="1">
                <a:solidFill>
                  <a:srgbClr val="FEF9E4"/>
                </a:solidFill>
                <a:latin typeface="Apfel Grotezk"/>
                <a:ea typeface="Apfel Grotezk"/>
                <a:cs typeface="Apfel Grotezk"/>
              </a:rPr>
              <a:t>USE-IT DESIGN WORKSHOP</a:t>
            </a:r>
          </a:p>
        </p:txBody>
      </p:sp>
      <p:sp>
        <p:nvSpPr>
          <p:cNvPr id="3" name="Rectangle 2">
            <a:extLst>
              <a:ext uri="{FF2B5EF4-FFF2-40B4-BE49-F238E27FC236}">
                <a16:creationId xmlns:a16="http://schemas.microsoft.com/office/drawing/2014/main" id="{DC8705F0-DFC6-4F1C-B3E2-5C58C3A02714}"/>
              </a:ext>
            </a:extLst>
          </p:cNvPr>
          <p:cNvSpPr>
            <a:spLocks noGrp="1"/>
          </p:cNvSpPr>
          <p:nvPr/>
        </p:nvSpPr>
        <p:spPr>
          <a:xfrm>
            <a:off x="381000" y="1285875"/>
            <a:ext cx="6477000" cy="2762250"/>
          </a:xfrm>
          <a:prstGeom prst="rect">
            <a:avLst/>
          </a:prstGeom>
          <a:noFill/>
          <a:ln w="0">
            <a:noFill/>
          </a:ln>
        </p:spPr>
        <p:txBody>
          <a:bodyPr>
            <a:noAutofit/>
          </a:bodyPr>
          <a:lstStyle/>
          <a:p>
            <a:pPr>
              <a:defRPr sz="9300" b="0">
                <a:solidFill>
                  <a:srgbClr val="FEF9E4"/>
                </a:solidFill>
                <a:latin typeface="Mayonnaise Black"/>
                <a:ea typeface="Mayonnaise Black"/>
                <a:cs typeface="Mayonnaise Black"/>
              </a:defRPr>
            </a:pPr>
            <a:r>
              <a:rPr sz="9300" b="0">
                <a:solidFill>
                  <a:srgbClr val="FEF9E4"/>
                </a:solidFill>
                <a:latin typeface="Mayonnaise Black"/>
                <a:ea typeface="Mayonnaise Black"/>
                <a:cs typeface="Mayonnaise Black"/>
              </a:rPr>
              <a:t>MAP</a:t>
            </a:r>
          </a:p>
          <a:p>
            <a:pPr>
              <a:defRPr sz="9300" b="0">
                <a:solidFill>
                  <a:srgbClr val="FEF9E4"/>
                </a:solidFill>
                <a:latin typeface="Mayonnaise Black"/>
                <a:ea typeface="Mayonnaise Black"/>
                <a:cs typeface="Mayonnaise Black"/>
              </a:defRPr>
            </a:pPr>
            <a:r>
              <a:rPr sz="9300" b="0">
                <a:solidFill>
                  <a:srgbClr val="FEF9E4"/>
                </a:solidFill>
                <a:latin typeface="Mayonnaise Black"/>
                <a:ea typeface="Mayonnaise Black"/>
                <a:cs typeface="Mayonnaise Black"/>
              </a:rPr>
              <a:t>EXPORT</a:t>
            </a:r>
          </a:p>
        </p:txBody>
      </p:sp>
      <p:sp>
        <p:nvSpPr>
          <p:cNvPr id="4" name="Rectangle 3">
            <a:extLst>
              <a:ext uri="{FF2B5EF4-FFF2-40B4-BE49-F238E27FC236}">
                <a16:creationId xmlns:a16="http://schemas.microsoft.com/office/drawing/2014/main" id="{6F570A06-435D-4977-B174-6C0D68FC0BA8}"/>
              </a:ext>
            </a:extLst>
          </p:cNvPr>
          <p:cNvSpPr>
            <a:spLocks noGrp="1"/>
          </p:cNvSpPr>
          <p:nvPr/>
        </p:nvSpPr>
        <p:spPr>
          <a:xfrm>
            <a:off x="457200" y="4333875"/>
            <a:ext cx="5857875" cy="1190625"/>
          </a:xfrm>
          <a:prstGeom prst="rect">
            <a:avLst/>
          </a:prstGeom>
          <a:noFill/>
          <a:ln w="0">
            <a:noFill/>
          </a:ln>
        </p:spPr>
        <p:txBody>
          <a:bodyPr>
            <a:noAutofit/>
          </a:bodyPr>
          <a:lstStyle/>
          <a:p>
            <a:pPr>
              <a:defRPr sz="3225" b="0">
                <a:solidFill>
                  <a:srgbClr val="FEF9E4"/>
                </a:solidFill>
                <a:latin typeface="Apfel Grotezk"/>
                <a:ea typeface="Apfel Grotezk"/>
                <a:cs typeface="Apfel Grotezk"/>
              </a:defRPr>
            </a:pPr>
            <a:endParaRPr sz="3225" b="0" dirty="0">
              <a:solidFill>
                <a:srgbClr val="FEF9E4"/>
              </a:solidFill>
              <a:latin typeface="Apfel Grotezk"/>
              <a:ea typeface="Apfel Grotezk"/>
              <a:cs typeface="Apfel Grotezk"/>
            </a:endParaRPr>
          </a:p>
        </p:txBody>
      </p:sp>
      <p:sp>
        <p:nvSpPr>
          <p:cNvPr id="5" name="Rectangle 4">
            <a:extLst>
              <a:ext uri="{FF2B5EF4-FFF2-40B4-BE49-F238E27FC236}">
                <a16:creationId xmlns:a16="http://schemas.microsoft.com/office/drawing/2014/main" id="{8C29E529-F3E6-449D-A486-367F30B09189}"/>
              </a:ext>
            </a:extLst>
          </p:cNvPr>
          <p:cNvSpPr>
            <a:spLocks noGrp="1"/>
          </p:cNvSpPr>
          <p:nvPr/>
        </p:nvSpPr>
        <p:spPr>
          <a:xfrm>
            <a:off x="457200" y="6048375"/>
            <a:ext cx="5715000" cy="381000"/>
          </a:xfrm>
          <a:prstGeom prst="rect">
            <a:avLst/>
          </a:prstGeom>
          <a:noFill/>
          <a:ln w="0">
            <a:noFill/>
          </a:ln>
        </p:spPr>
        <p:txBody>
          <a:bodyPr>
            <a:noAutofit/>
          </a:bodyPr>
          <a:lstStyle/>
          <a:p>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coen.at/mapexport</a:t>
            </a:r>
          </a:p>
        </p:txBody>
      </p:sp>
      <p:sp>
        <p:nvSpPr>
          <p:cNvPr id="6" name="Rectangle 5">
            <a:extLst>
              <a:ext uri="{FF2B5EF4-FFF2-40B4-BE49-F238E27FC236}">
                <a16:creationId xmlns:a16="http://schemas.microsoft.com/office/drawing/2014/main" id="{DD95FBC6-55DF-49BA-996B-D438BE5ADB1B}"/>
              </a:ext>
            </a:extLst>
          </p:cNvPr>
          <p:cNvSpPr>
            <a:spLocks noGrp="1"/>
          </p:cNvSpPr>
          <p:nvPr/>
        </p:nvSpPr>
        <p:spPr>
          <a:xfrm>
            <a:off x="6667500" y="6534150"/>
            <a:ext cx="5524500" cy="323850"/>
          </a:xfrm>
          <a:prstGeom prst="rect">
            <a:avLst/>
          </a:prstGeom>
          <a:solidFill>
            <a:srgbClr val="FEF9E4"/>
          </a:solidFill>
          <a:ln w="0">
            <a:noFill/>
          </a:ln>
        </p:spPr>
        <p:txBody>
          <a:bodyPr/>
          <a:lstStyle/>
          <a:p>
            <a:endParaRPr lang="en-US"/>
          </a:p>
        </p:txBody>
      </p:sp>
      <p:sp>
        <p:nvSpPr>
          <p:cNvPr id="7" name="Rectangle 6">
            <a:extLst>
              <a:ext uri="{FF2B5EF4-FFF2-40B4-BE49-F238E27FC236}">
                <a16:creationId xmlns:a16="http://schemas.microsoft.com/office/drawing/2014/main" id="{3DCBE537-CCF6-4E61-8AB6-6C2EE034DDE3}"/>
              </a:ext>
            </a:extLst>
          </p:cNvPr>
          <p:cNvSpPr>
            <a:spLocks noGrp="1"/>
          </p:cNvSpPr>
          <p:nvPr/>
        </p:nvSpPr>
        <p:spPr>
          <a:xfrm>
            <a:off x="6838950" y="6553200"/>
            <a:ext cx="5238750" cy="2762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 data © OpenStreetMap contributors</a:t>
            </a:r>
          </a:p>
        </p:txBody>
      </p:sp>
    </p:spTree>
    <p:extLst>
      <p:ext uri="{BB962C8B-B14F-4D97-AF65-F5344CB8AC3E}">
        <p14:creationId xmlns:p14="http://schemas.microsoft.com/office/powerpoint/2010/main" val="34517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9584339-FF5D-4E08-9F98-4878E7CB69DE}"/>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THE PROBLEM</a:t>
            </a:r>
          </a:p>
        </p:txBody>
      </p:sp>
      <p:sp>
        <p:nvSpPr>
          <p:cNvPr id="2" name="Rectangle 1">
            <a:extLst>
              <a:ext uri="{FF2B5EF4-FFF2-40B4-BE49-F238E27FC236}">
                <a16:creationId xmlns:a16="http://schemas.microsoft.com/office/drawing/2014/main" id="{91167F96-0C3D-423A-A7F9-85B569A3AC73}"/>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lang="nl-NL" sz="4125" b="0" dirty="0">
                <a:solidFill>
                  <a:srgbClr val="18180F"/>
                </a:solidFill>
                <a:latin typeface="Mayonnaise Black"/>
                <a:ea typeface="Mayonnaise Black"/>
                <a:cs typeface="Mayonnaise Black"/>
              </a:rPr>
              <a:t>GETTING SCALABLE &amp; EDITABLE BASE MAPS IS A P.I.T.A.</a:t>
            </a:r>
            <a:endParaRPr sz="4125" b="0" dirty="0">
              <a:solidFill>
                <a:srgbClr val="18180F"/>
              </a:solidFill>
              <a:latin typeface="Mayonnaise Black"/>
              <a:ea typeface="Mayonnaise Black"/>
              <a:cs typeface="Mayonnaise Black"/>
            </a:endParaRPr>
          </a:p>
        </p:txBody>
      </p:sp>
      <p:sp>
        <p:nvSpPr>
          <p:cNvPr id="3" name="Rectangle 2">
            <a:extLst>
              <a:ext uri="{FF2B5EF4-FFF2-40B4-BE49-F238E27FC236}">
                <a16:creationId xmlns:a16="http://schemas.microsoft.com/office/drawing/2014/main" id="{9A2609B5-F6E4-4A82-95D5-8E634BABB4EA}"/>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dirty="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0A1081FE-1B86-4190-8665-444394D70FD9}"/>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02</a:t>
            </a:r>
          </a:p>
        </p:txBody>
      </p:sp>
      <p:sp>
        <p:nvSpPr>
          <p:cNvPr id="5" name="Rectangle 4">
            <a:extLst>
              <a:ext uri="{FF2B5EF4-FFF2-40B4-BE49-F238E27FC236}">
                <a16:creationId xmlns:a16="http://schemas.microsoft.com/office/drawing/2014/main" id="{471FFA2C-A8A2-4A7C-8909-EF33F09C080D}"/>
              </a:ext>
            </a:extLst>
          </p:cNvPr>
          <p:cNvSpPr>
            <a:spLocks noGrp="1"/>
          </p:cNvSpPr>
          <p:nvPr/>
        </p:nvSpPr>
        <p:spPr>
          <a:xfrm>
            <a:off x="457200" y="1895475"/>
            <a:ext cx="5715000" cy="1656108"/>
          </a:xfrm>
          <a:prstGeom prst="rect">
            <a:avLst/>
          </a:prstGeom>
          <a:noFill/>
          <a:ln w="0">
            <a:noFill/>
          </a:ln>
        </p:spPr>
        <p:txBody>
          <a:bodyPr>
            <a:noAutofit/>
          </a:bodyPr>
          <a:lstStyle/>
          <a:p>
            <a:pPr marL="457200" indent="-457200">
              <a:buFont typeface="Arial" panose="020B0604020202020204" pitchFamily="34" charset="0"/>
              <a:buChar char="•"/>
              <a:defRPr sz="2850" b="0">
                <a:solidFill>
                  <a:srgbClr val="18180F"/>
                </a:solidFill>
                <a:latin typeface="Apfel Grotezk"/>
                <a:ea typeface="Apfel Grotezk"/>
                <a:cs typeface="Apfel Grotezk"/>
              </a:defRPr>
            </a:pPr>
            <a:r>
              <a:rPr lang="nl-NL" sz="2850" b="0" dirty="0" err="1">
                <a:solidFill>
                  <a:srgbClr val="18180F"/>
                </a:solidFill>
                <a:latin typeface="Apfel Grotezk"/>
                <a:ea typeface="Apfel Grotezk"/>
                <a:cs typeface="Apfel Grotezk"/>
              </a:rPr>
              <a:t>Tracing</a:t>
            </a:r>
            <a:r>
              <a:rPr lang="nl-NL" sz="2850" b="0" dirty="0">
                <a:solidFill>
                  <a:srgbClr val="18180F"/>
                </a:solidFill>
                <a:latin typeface="Apfel Grotezk"/>
                <a:ea typeface="Apfel Grotezk"/>
                <a:cs typeface="Apfel Grotezk"/>
              </a:rPr>
              <a:t> </a:t>
            </a:r>
            <a:r>
              <a:rPr lang="nl-NL" sz="2850" b="0" dirty="0" err="1">
                <a:solidFill>
                  <a:srgbClr val="18180F"/>
                </a:solidFill>
                <a:latin typeface="Apfel Grotezk"/>
                <a:ea typeface="Apfel Grotezk"/>
                <a:cs typeface="Apfel Grotezk"/>
              </a:rPr>
              <a:t>from</a:t>
            </a:r>
            <a:r>
              <a:rPr lang="nl-NL" sz="2850" b="0" dirty="0">
                <a:solidFill>
                  <a:srgbClr val="18180F"/>
                </a:solidFill>
                <a:latin typeface="Apfel Grotezk"/>
                <a:ea typeface="Apfel Grotezk"/>
                <a:cs typeface="Apfel Grotezk"/>
              </a:rPr>
              <a:t> Google </a:t>
            </a:r>
            <a:r>
              <a:rPr lang="nl-NL" sz="2850" b="0" dirty="0" err="1">
                <a:solidFill>
                  <a:srgbClr val="18180F"/>
                </a:solidFill>
                <a:latin typeface="Apfel Grotezk"/>
                <a:ea typeface="Apfel Grotezk"/>
                <a:cs typeface="Apfel Grotezk"/>
              </a:rPr>
              <a:t>Maps</a:t>
            </a:r>
            <a:endParaRPr lang="nl-NL" sz="2850" dirty="0">
              <a:solidFill>
                <a:srgbClr val="18180F"/>
              </a:solidFill>
              <a:latin typeface="Apfel Grotezk"/>
              <a:ea typeface="Apfel Grotezk"/>
              <a:cs typeface="Apfel Grotezk"/>
            </a:endParaRPr>
          </a:p>
          <a:p>
            <a:pPr marL="457200" indent="-457200">
              <a:buFont typeface="Arial" panose="020B0604020202020204" pitchFamily="34" charset="0"/>
              <a:buChar char="•"/>
              <a:defRPr sz="2850" b="0">
                <a:solidFill>
                  <a:srgbClr val="18180F"/>
                </a:solidFill>
                <a:latin typeface="Apfel Grotezk"/>
                <a:ea typeface="Apfel Grotezk"/>
                <a:cs typeface="Apfel Grotezk"/>
              </a:defRPr>
            </a:pPr>
            <a:r>
              <a:rPr lang="nl-NL" sz="2850" b="0" dirty="0" err="1">
                <a:solidFill>
                  <a:srgbClr val="18180F"/>
                </a:solidFill>
                <a:latin typeface="Apfel Grotezk"/>
                <a:ea typeface="Apfel Grotezk"/>
                <a:cs typeface="Apfel Grotezk"/>
              </a:rPr>
              <a:t>asking</a:t>
            </a:r>
            <a:r>
              <a:rPr lang="nl-NL" sz="2850" b="0" dirty="0">
                <a:solidFill>
                  <a:srgbClr val="18180F"/>
                </a:solidFill>
                <a:latin typeface="Apfel Grotezk"/>
                <a:ea typeface="Apfel Grotezk"/>
                <a:cs typeface="Apfel Grotezk"/>
              </a:rPr>
              <a:t> </a:t>
            </a:r>
            <a:r>
              <a:rPr lang="nl-NL" sz="2850" b="0" dirty="0" err="1">
                <a:solidFill>
                  <a:srgbClr val="18180F"/>
                </a:solidFill>
                <a:latin typeface="Apfel Grotezk"/>
                <a:ea typeface="Apfel Grotezk"/>
                <a:cs typeface="Apfel Grotezk"/>
              </a:rPr>
              <a:t>local</a:t>
            </a:r>
            <a:r>
              <a:rPr lang="nl-NL" sz="2850" b="0" dirty="0">
                <a:solidFill>
                  <a:srgbClr val="18180F"/>
                </a:solidFill>
                <a:latin typeface="Apfel Grotezk"/>
                <a:ea typeface="Apfel Grotezk"/>
                <a:cs typeface="Apfel Grotezk"/>
              </a:rPr>
              <a:t> </a:t>
            </a:r>
            <a:r>
              <a:rPr lang="nl-NL" sz="2850" b="0" dirty="0" err="1">
                <a:solidFill>
                  <a:srgbClr val="18180F"/>
                </a:solidFill>
                <a:latin typeface="Apfel Grotezk"/>
                <a:ea typeface="Apfel Grotezk"/>
                <a:cs typeface="Apfel Grotezk"/>
              </a:rPr>
              <a:t>governments</a:t>
            </a:r>
            <a:endParaRPr lang="nl-NL" sz="2850" dirty="0">
              <a:solidFill>
                <a:srgbClr val="18180F"/>
              </a:solidFill>
              <a:latin typeface="Apfel Grotezk"/>
              <a:ea typeface="Apfel Grotezk"/>
              <a:cs typeface="Apfel Grotezk"/>
            </a:endParaRPr>
          </a:p>
          <a:p>
            <a:pPr marL="457200" indent="-457200">
              <a:buFont typeface="Arial" panose="020B0604020202020204" pitchFamily="34" charset="0"/>
              <a:buChar char="•"/>
              <a:defRPr sz="2850" b="0">
                <a:solidFill>
                  <a:srgbClr val="18180F"/>
                </a:solidFill>
                <a:latin typeface="Apfel Grotezk"/>
                <a:ea typeface="Apfel Grotezk"/>
                <a:cs typeface="Apfel Grotezk"/>
              </a:defRPr>
            </a:pPr>
            <a:r>
              <a:rPr lang="nl-NL" sz="2850" b="0" dirty="0">
                <a:solidFill>
                  <a:srgbClr val="18180F"/>
                </a:solidFill>
                <a:latin typeface="Apfel Grotezk"/>
                <a:ea typeface="Apfel Grotezk"/>
                <a:cs typeface="Apfel Grotezk"/>
              </a:rPr>
              <a:t>obscure </a:t>
            </a:r>
            <a:r>
              <a:rPr lang="nl-NL" sz="2850" b="0" dirty="0" err="1">
                <a:solidFill>
                  <a:srgbClr val="18180F"/>
                </a:solidFill>
                <a:latin typeface="Apfel Grotezk"/>
                <a:ea typeface="Apfel Grotezk"/>
                <a:cs typeface="Apfel Grotezk"/>
              </a:rPr>
              <a:t>PDF’s</a:t>
            </a:r>
            <a:r>
              <a:rPr lang="nl-NL" sz="2850" b="0" dirty="0">
                <a:solidFill>
                  <a:srgbClr val="18180F"/>
                </a:solidFill>
                <a:latin typeface="Apfel Grotezk"/>
                <a:ea typeface="Apfel Grotezk"/>
                <a:cs typeface="Apfel Grotezk"/>
              </a:rPr>
              <a:t> online… </a:t>
            </a:r>
            <a:endParaRPr sz="2850" b="0" dirty="0">
              <a:solidFill>
                <a:srgbClr val="18180F"/>
              </a:solidFill>
              <a:latin typeface="Apfel Grotezk"/>
              <a:ea typeface="Apfel Grotezk"/>
              <a:cs typeface="Apfel Grotezk"/>
            </a:endParaRPr>
          </a:p>
        </p:txBody>
      </p:sp>
      <p:sp>
        <p:nvSpPr>
          <p:cNvPr id="12" name="Rectangle 11">
            <a:extLst>
              <a:ext uri="{FF2B5EF4-FFF2-40B4-BE49-F238E27FC236}">
                <a16:creationId xmlns:a16="http://schemas.microsoft.com/office/drawing/2014/main" id="{88C01356-0627-45D0-B766-65C54537D9A1}"/>
              </a:ext>
            </a:extLst>
          </p:cNvPr>
          <p:cNvSpPr>
            <a:spLocks noGrp="1"/>
          </p:cNvSpPr>
          <p:nvPr/>
        </p:nvSpPr>
        <p:spPr>
          <a:xfrm>
            <a:off x="7658100" y="1809750"/>
            <a:ext cx="4076700" cy="4210050"/>
          </a:xfrm>
          <a:prstGeom prst="rect">
            <a:avLst/>
          </a:prstGeom>
          <a:solidFill>
            <a:srgbClr val="7ECAB6"/>
          </a:solidFill>
          <a:ln w="0">
            <a:noFill/>
          </a:ln>
        </p:spPr>
        <p:txBody>
          <a:bodyPr/>
          <a:lstStyle/>
          <a:p>
            <a:endParaRPr lang="en-US"/>
          </a:p>
        </p:txBody>
      </p:sp>
      <p:sp>
        <p:nvSpPr>
          <p:cNvPr id="13" name="Rectangle 12">
            <a:extLst>
              <a:ext uri="{FF2B5EF4-FFF2-40B4-BE49-F238E27FC236}">
                <a16:creationId xmlns:a16="http://schemas.microsoft.com/office/drawing/2014/main" id="{D05BE495-1C0A-4D0C-B964-B41E12622865}"/>
              </a:ext>
            </a:extLst>
          </p:cNvPr>
          <p:cNvSpPr>
            <a:spLocks noGrp="1"/>
          </p:cNvSpPr>
          <p:nvPr/>
        </p:nvSpPr>
        <p:spPr>
          <a:xfrm>
            <a:off x="7934325" y="2314575"/>
            <a:ext cx="3524250" cy="2857500"/>
          </a:xfrm>
          <a:prstGeom prst="rect">
            <a:avLst/>
          </a:prstGeom>
          <a:noFill/>
          <a:ln w="0">
            <a:noFill/>
          </a:ln>
        </p:spPr>
        <p:txBody>
          <a:bodyPr>
            <a:noAutofit/>
          </a:bodyPr>
          <a:lstStyle/>
          <a:p>
            <a:pPr>
              <a:defRPr sz="3900" b="0">
                <a:solidFill>
                  <a:srgbClr val="18180F"/>
                </a:solidFill>
                <a:latin typeface="Mayonnaise Black"/>
                <a:ea typeface="Mayonnaise Black"/>
                <a:cs typeface="Mayonnaise Black"/>
              </a:defRPr>
            </a:pPr>
            <a:r>
              <a:rPr lang="en-US" sz="3900" b="1" dirty="0">
                <a:solidFill>
                  <a:srgbClr val="18180F"/>
                </a:solidFill>
                <a:latin typeface="Apfel Grotezk" pitchFamily="2" charset="77"/>
                <a:ea typeface="Mayonnaise Black"/>
                <a:cs typeface="Mayonnaise Black"/>
              </a:rPr>
              <a:t>“OSM already has everything we need, why not use that?”</a:t>
            </a:r>
          </a:p>
        </p:txBody>
      </p:sp>
    </p:spTree>
    <p:extLst>
      <p:ext uri="{BB962C8B-B14F-4D97-AF65-F5344CB8AC3E}">
        <p14:creationId xmlns:p14="http://schemas.microsoft.com/office/powerpoint/2010/main" val="392049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D556D4-4CD9-4DF9-BFA7-D0ED4A9A43C2}"/>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dirty="0">
                <a:solidFill>
                  <a:srgbClr val="F4501E"/>
                </a:solidFill>
                <a:latin typeface="Apfel Grotezk"/>
                <a:ea typeface="Apfel Grotezk"/>
                <a:cs typeface="Apfel Grotezk"/>
              </a:rPr>
              <a:t>THE </a:t>
            </a:r>
            <a:r>
              <a:rPr lang="nl-NL" sz="1275" b="1" dirty="0">
                <a:solidFill>
                  <a:srgbClr val="F4501E"/>
                </a:solidFill>
                <a:latin typeface="Apfel Grotezk"/>
                <a:ea typeface="Apfel Grotezk"/>
                <a:cs typeface="Apfel Grotezk"/>
              </a:rPr>
              <a:t>SOLUTION</a:t>
            </a:r>
            <a:endParaRPr sz="1275" b="1" dirty="0">
              <a:solidFill>
                <a:srgbClr val="F4501E"/>
              </a:solidFill>
              <a:latin typeface="Apfel Grotezk"/>
              <a:ea typeface="Apfel Grotezk"/>
              <a:cs typeface="Apfel Grotezk"/>
            </a:endParaRPr>
          </a:p>
        </p:txBody>
      </p:sp>
      <p:sp>
        <p:nvSpPr>
          <p:cNvPr id="2" name="Rectangle 1">
            <a:extLst>
              <a:ext uri="{FF2B5EF4-FFF2-40B4-BE49-F238E27FC236}">
                <a16:creationId xmlns:a16="http://schemas.microsoft.com/office/drawing/2014/main" id="{BC94E361-F36D-45BA-ACF7-3FC954EC845B}"/>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dirty="0">
                <a:solidFill>
                  <a:srgbClr val="18180F"/>
                </a:solidFill>
                <a:latin typeface="Mayonnaise Black"/>
                <a:ea typeface="Mayonnaise Black"/>
                <a:cs typeface="Mayonnaise Black"/>
              </a:rPr>
              <a:t>A</a:t>
            </a:r>
            <a:r>
              <a:rPr lang="nl-NL" sz="4125" b="0" dirty="0">
                <a:solidFill>
                  <a:srgbClr val="18180F"/>
                </a:solidFill>
                <a:latin typeface="Mayonnaise Black"/>
                <a:ea typeface="Mayonnaise Black"/>
                <a:cs typeface="Mayonnaise Black"/>
              </a:rPr>
              <a:t>N INSTANT</a:t>
            </a:r>
            <a:r>
              <a:rPr sz="4125" b="0" dirty="0">
                <a:solidFill>
                  <a:srgbClr val="18180F"/>
                </a:solidFill>
                <a:latin typeface="Mayonnaise Black"/>
                <a:ea typeface="Mayonnaise Black"/>
                <a:cs typeface="Mayonnaise Black"/>
              </a:rPr>
              <a:t> BASE MAP YOU CAN </a:t>
            </a:r>
            <a:r>
              <a:rPr lang="nl-NL" sz="4125" dirty="0">
                <a:solidFill>
                  <a:srgbClr val="18180F"/>
                </a:solidFill>
                <a:latin typeface="Mayonnaise Black"/>
                <a:ea typeface="Mayonnaise Black"/>
                <a:cs typeface="Mayonnaise Black"/>
              </a:rPr>
              <a:t>EDIT</a:t>
            </a:r>
            <a:endParaRPr sz="4125" b="0" dirty="0">
              <a:solidFill>
                <a:srgbClr val="18180F"/>
              </a:solidFill>
              <a:latin typeface="Mayonnaise Black"/>
              <a:ea typeface="Mayonnaise Black"/>
              <a:cs typeface="Mayonnaise Black"/>
            </a:endParaRPr>
          </a:p>
        </p:txBody>
      </p:sp>
      <p:sp>
        <p:nvSpPr>
          <p:cNvPr id="3" name="Rectangle 2">
            <a:extLst>
              <a:ext uri="{FF2B5EF4-FFF2-40B4-BE49-F238E27FC236}">
                <a16:creationId xmlns:a16="http://schemas.microsoft.com/office/drawing/2014/main" id="{79AA99F8-8594-46BA-BB27-CF52514896C3}"/>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B7F8EEF0-EB5C-4204-B924-02B1274A1F78}"/>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03</a:t>
            </a:r>
          </a:p>
        </p:txBody>
      </p:sp>
      <p:pic>
        <p:nvPicPr>
          <p:cNvPr id="13" name="Picture 12"/>
          <p:cNvPicPr>
            <a:picLocks noChangeAspect="1"/>
          </p:cNvPicPr>
          <p:nvPr/>
        </p:nvPicPr>
        <p:blipFill>
          <a:blip r:embed="rId3"/>
          <a:srcRect t="14153" b="14153"/>
          <a:stretch>
            <a:fillRect/>
          </a:stretch>
        </p:blipFill>
        <p:spPr>
          <a:xfrm>
            <a:off x="457200" y="1847850"/>
            <a:ext cx="7315200" cy="4248150"/>
          </a:xfrm>
          <a:prstGeom prst="rect">
            <a:avLst/>
          </a:prstGeom>
        </p:spPr>
      </p:pic>
      <p:sp>
        <p:nvSpPr>
          <p:cNvPr id="6" name="Rectangle 5">
            <a:extLst>
              <a:ext uri="{FF2B5EF4-FFF2-40B4-BE49-F238E27FC236}">
                <a16:creationId xmlns:a16="http://schemas.microsoft.com/office/drawing/2014/main" id="{23A2B44E-DED6-4D20-B9E1-32495980B262}"/>
              </a:ext>
            </a:extLst>
          </p:cNvPr>
          <p:cNvSpPr>
            <a:spLocks noGrp="1"/>
          </p:cNvSpPr>
          <p:nvPr/>
        </p:nvSpPr>
        <p:spPr>
          <a:xfrm>
            <a:off x="8143875" y="1971675"/>
            <a:ext cx="3571875" cy="476250"/>
          </a:xfrm>
          <a:prstGeom prst="rect">
            <a:avLst/>
          </a:prstGeom>
          <a:noFill/>
          <a:ln w="0">
            <a:noFill/>
          </a:ln>
        </p:spPr>
        <p:txBody>
          <a:bodyPr>
            <a:noAutofit/>
          </a:bodyPr>
          <a:lstStyle/>
          <a:p>
            <a:pPr>
              <a:defRPr sz="2700" b="1">
                <a:solidFill>
                  <a:srgbClr val="F4501E"/>
                </a:solidFill>
                <a:latin typeface="Apfel Grotezk"/>
                <a:ea typeface="Apfel Grotezk"/>
                <a:cs typeface="Apfel Grotezk"/>
              </a:defRPr>
            </a:pPr>
            <a:r>
              <a:rPr sz="2700" b="1">
                <a:solidFill>
                  <a:srgbClr val="F4501E"/>
                </a:solidFill>
                <a:latin typeface="Apfel Grotezk"/>
                <a:ea typeface="Apfel Grotezk"/>
                <a:cs typeface="Apfel Grotezk"/>
              </a:rPr>
              <a:t>Editable SVG</a:t>
            </a:r>
          </a:p>
        </p:txBody>
      </p:sp>
      <p:sp>
        <p:nvSpPr>
          <p:cNvPr id="7" name="Rectangle 6">
            <a:extLst>
              <a:ext uri="{FF2B5EF4-FFF2-40B4-BE49-F238E27FC236}">
                <a16:creationId xmlns:a16="http://schemas.microsoft.com/office/drawing/2014/main" id="{161872ED-9259-44E3-887D-7D11FDC86796}"/>
              </a:ext>
            </a:extLst>
          </p:cNvPr>
          <p:cNvSpPr>
            <a:spLocks noGrp="1"/>
          </p:cNvSpPr>
          <p:nvPr/>
        </p:nvSpPr>
        <p:spPr>
          <a:xfrm>
            <a:off x="8143875" y="2628900"/>
            <a:ext cx="3562350" cy="2819400"/>
          </a:xfrm>
          <a:prstGeom prst="rect">
            <a:avLst/>
          </a:prstGeom>
          <a:noFill/>
          <a:ln w="0">
            <a:noFill/>
          </a:ln>
        </p:spPr>
        <p:txBody>
          <a:bodyPr>
            <a:noAutofit/>
          </a:bodyPr>
          <a:lstStyle/>
          <a:p>
            <a:pPr>
              <a:defRPr sz="2100" b="0">
                <a:solidFill>
                  <a:srgbClr val="18180F"/>
                </a:solidFill>
                <a:latin typeface="Apfel Grotezk"/>
                <a:ea typeface="Apfel Grotezk"/>
                <a:cs typeface="Apfel Grotezk"/>
              </a:defRPr>
            </a:pPr>
            <a:r>
              <a:rPr sz="2100" b="0" dirty="0">
                <a:solidFill>
                  <a:srgbClr val="18180F"/>
                </a:solidFill>
                <a:latin typeface="Apfel Grotezk"/>
                <a:ea typeface="Apfel Grotezk"/>
                <a:cs typeface="Apfel Grotezk"/>
              </a:rPr>
              <a:t>Separate layers and groups</a:t>
            </a:r>
          </a:p>
          <a:p>
            <a:endParaRPr sz="2100" b="0" dirty="0">
              <a:solidFill>
                <a:srgbClr val="18180F"/>
              </a:solidFill>
              <a:latin typeface="Apfel Grotezk"/>
              <a:ea typeface="Apfel Grotezk"/>
              <a:cs typeface="Apfel Grotezk"/>
            </a:endParaRPr>
          </a:p>
          <a:p>
            <a:pPr>
              <a:defRPr sz="2100" b="0">
                <a:solidFill>
                  <a:srgbClr val="18180F"/>
                </a:solidFill>
                <a:latin typeface="Apfel Grotezk"/>
                <a:ea typeface="Apfel Grotezk"/>
                <a:cs typeface="Apfel Grotezk"/>
              </a:defRPr>
            </a:pPr>
            <a:r>
              <a:rPr sz="2100" b="0" dirty="0">
                <a:solidFill>
                  <a:srgbClr val="18180F"/>
                </a:solidFill>
                <a:latin typeface="Apfel Grotezk"/>
                <a:ea typeface="Apfel Grotezk"/>
                <a:cs typeface="Apfel Grotezk"/>
              </a:rPr>
              <a:t>Vector shapes and street labels</a:t>
            </a:r>
          </a:p>
          <a:p>
            <a:endParaRPr sz="2100" b="0" dirty="0">
              <a:solidFill>
                <a:srgbClr val="18180F"/>
              </a:solidFill>
              <a:latin typeface="Apfel Grotezk"/>
              <a:ea typeface="Apfel Grotezk"/>
              <a:cs typeface="Apfel Grotezk"/>
            </a:endParaRPr>
          </a:p>
          <a:p>
            <a:pPr>
              <a:defRPr sz="2100" b="0">
                <a:solidFill>
                  <a:srgbClr val="18180F"/>
                </a:solidFill>
                <a:latin typeface="Apfel Grotezk"/>
                <a:ea typeface="Apfel Grotezk"/>
                <a:cs typeface="Apfel Grotezk"/>
              </a:defRPr>
            </a:pPr>
            <a:r>
              <a:rPr sz="2100" b="0" dirty="0">
                <a:solidFill>
                  <a:srgbClr val="18180F"/>
                </a:solidFill>
                <a:latin typeface="Apfel Grotezk"/>
                <a:ea typeface="Apfel Grotezk"/>
                <a:cs typeface="Apfel Grotezk"/>
              </a:rPr>
              <a:t>A starting point for your</a:t>
            </a:r>
          </a:p>
          <a:p>
            <a:pPr>
              <a:defRPr sz="2100" b="0">
                <a:solidFill>
                  <a:srgbClr val="18180F"/>
                </a:solidFill>
                <a:latin typeface="Apfel Grotezk"/>
                <a:ea typeface="Apfel Grotezk"/>
                <a:cs typeface="Apfel Grotezk"/>
              </a:defRPr>
            </a:pPr>
            <a:r>
              <a:rPr sz="2100" b="0" dirty="0">
                <a:solidFill>
                  <a:srgbClr val="18180F"/>
                </a:solidFill>
                <a:latin typeface="Apfel Grotezk"/>
                <a:ea typeface="Apfel Grotezk"/>
                <a:cs typeface="Apfel Grotezk"/>
              </a:rPr>
              <a:t>USE-IT </a:t>
            </a:r>
            <a:r>
              <a:rPr lang="nl-NL" sz="2100" dirty="0">
                <a:solidFill>
                  <a:srgbClr val="18180F"/>
                </a:solidFill>
                <a:latin typeface="Apfel Grotezk"/>
                <a:ea typeface="Apfel Grotezk"/>
                <a:cs typeface="Apfel Grotezk"/>
              </a:rPr>
              <a:t>map</a:t>
            </a:r>
            <a:endParaRPr sz="2100" b="0" dirty="0">
              <a:solidFill>
                <a:srgbClr val="18180F"/>
              </a:solidFill>
              <a:latin typeface="Apfel Grotezk"/>
              <a:ea typeface="Apfel Grotezk"/>
              <a:cs typeface="Apfel Grotezk"/>
            </a:endParaRPr>
          </a:p>
        </p:txBody>
      </p:sp>
    </p:spTree>
    <p:extLst>
      <p:ext uri="{BB962C8B-B14F-4D97-AF65-F5344CB8AC3E}">
        <p14:creationId xmlns:p14="http://schemas.microsoft.com/office/powerpoint/2010/main" val="1400400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B0016C1-3F3D-41B2-85E7-1F565548378A}"/>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HOW IT WORKS</a:t>
            </a:r>
          </a:p>
        </p:txBody>
      </p:sp>
      <p:sp>
        <p:nvSpPr>
          <p:cNvPr id="2" name="Rectangle 1">
            <a:extLst>
              <a:ext uri="{FF2B5EF4-FFF2-40B4-BE49-F238E27FC236}">
                <a16:creationId xmlns:a16="http://schemas.microsoft.com/office/drawing/2014/main" id="{A58D0780-5158-48F8-9FDC-B614869E6CF4}"/>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FROM OPEN DATA TO YOUR DESIGN</a:t>
            </a:r>
          </a:p>
        </p:txBody>
      </p:sp>
      <p:sp>
        <p:nvSpPr>
          <p:cNvPr id="3" name="Rectangle 2">
            <a:extLst>
              <a:ext uri="{FF2B5EF4-FFF2-40B4-BE49-F238E27FC236}">
                <a16:creationId xmlns:a16="http://schemas.microsoft.com/office/drawing/2014/main" id="{2EFBFF58-8D2A-4ED7-85A2-562ED0EB68A0}"/>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17579817-425F-446B-AC8B-F49794882491}"/>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04</a:t>
            </a:r>
          </a:p>
        </p:txBody>
      </p:sp>
      <p:sp>
        <p:nvSpPr>
          <p:cNvPr id="5" name="Rectangle 4">
            <a:extLst>
              <a:ext uri="{FF2B5EF4-FFF2-40B4-BE49-F238E27FC236}">
                <a16:creationId xmlns:a16="http://schemas.microsoft.com/office/drawing/2014/main" id="{416D5DD0-23B3-40E9-8E9A-12853F0C4327}"/>
              </a:ext>
            </a:extLst>
          </p:cNvPr>
          <p:cNvSpPr>
            <a:spLocks noGrp="1"/>
          </p:cNvSpPr>
          <p:nvPr/>
        </p:nvSpPr>
        <p:spPr>
          <a:xfrm>
            <a:off x="457200" y="1752600"/>
            <a:ext cx="685800" cy="552450"/>
          </a:xfrm>
          <a:prstGeom prst="rect">
            <a:avLst/>
          </a:prstGeom>
          <a:noFill/>
          <a:ln w="0">
            <a:noFill/>
          </a:ln>
        </p:spPr>
        <p:txBody>
          <a:bodyPr>
            <a:noAutofit/>
          </a:bodyPr>
          <a:lstStyle/>
          <a:p>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01</a:t>
            </a:r>
          </a:p>
        </p:txBody>
      </p:sp>
      <p:sp>
        <p:nvSpPr>
          <p:cNvPr id="6" name="Rectangle 5">
            <a:extLst>
              <a:ext uri="{FF2B5EF4-FFF2-40B4-BE49-F238E27FC236}">
                <a16:creationId xmlns:a16="http://schemas.microsoft.com/office/drawing/2014/main" id="{D91E94B7-BE09-4508-A857-A643670B6EF9}"/>
              </a:ext>
            </a:extLst>
          </p:cNvPr>
          <p:cNvSpPr>
            <a:spLocks noGrp="1"/>
          </p:cNvSpPr>
          <p:nvPr/>
        </p:nvSpPr>
        <p:spPr>
          <a:xfrm>
            <a:off x="1257300" y="1752600"/>
            <a:ext cx="9486900" cy="400050"/>
          </a:xfrm>
          <a:prstGeom prst="rect">
            <a:avLst/>
          </a:prstGeom>
          <a:noFill/>
          <a:ln w="0">
            <a:noFill/>
          </a:ln>
        </p:spPr>
        <p:txBody>
          <a:bodyPr>
            <a:noAutofit/>
          </a:bodyPr>
          <a:lstStyle/>
          <a:p>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an area</a:t>
            </a:r>
          </a:p>
        </p:txBody>
      </p:sp>
      <p:sp>
        <p:nvSpPr>
          <p:cNvPr id="7" name="Rectangle 6">
            <a:extLst>
              <a:ext uri="{FF2B5EF4-FFF2-40B4-BE49-F238E27FC236}">
                <a16:creationId xmlns:a16="http://schemas.microsoft.com/office/drawing/2014/main" id="{CA996B43-699F-4054-88DB-E1AA6A53084C}"/>
              </a:ext>
            </a:extLst>
          </p:cNvPr>
          <p:cNvSpPr>
            <a:spLocks noGrp="1"/>
          </p:cNvSpPr>
          <p:nvPr/>
        </p:nvSpPr>
        <p:spPr>
          <a:xfrm>
            <a:off x="1257300" y="2190750"/>
            <a:ext cx="9486900" cy="638175"/>
          </a:xfrm>
          <a:prstGeom prst="rect">
            <a:avLst/>
          </a:prstGeom>
          <a:noFill/>
          <a:ln w="0">
            <a:noFill/>
          </a:ln>
        </p:spPr>
        <p:txBody>
          <a:bodyPr>
            <a:noAutofit/>
          </a:bodyPr>
          <a:lstStyle/>
          <a:p>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Find your city and draw a rectangle.</a:t>
            </a:r>
          </a:p>
        </p:txBody>
      </p:sp>
      <p:sp>
        <p:nvSpPr>
          <p:cNvPr id="8" name="Rectangle 7">
            <a:extLst>
              <a:ext uri="{FF2B5EF4-FFF2-40B4-BE49-F238E27FC236}">
                <a16:creationId xmlns:a16="http://schemas.microsoft.com/office/drawing/2014/main" id="{B6592AB6-C865-4172-BE26-D3DAC72F479B}"/>
              </a:ext>
            </a:extLst>
          </p:cNvPr>
          <p:cNvSpPr>
            <a:spLocks noGrp="1"/>
          </p:cNvSpPr>
          <p:nvPr/>
        </p:nvSpPr>
        <p:spPr>
          <a:xfrm>
            <a:off x="457200" y="2819400"/>
            <a:ext cx="685800" cy="552450"/>
          </a:xfrm>
          <a:prstGeom prst="rect">
            <a:avLst/>
          </a:prstGeom>
          <a:noFill/>
          <a:ln w="0">
            <a:noFill/>
          </a:ln>
        </p:spPr>
        <p:txBody>
          <a:bodyPr>
            <a:noAutofit/>
          </a:bodyPr>
          <a:lstStyle/>
          <a:p>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02</a:t>
            </a:r>
          </a:p>
        </p:txBody>
      </p:sp>
      <p:sp>
        <p:nvSpPr>
          <p:cNvPr id="9" name="Rectangle 8">
            <a:extLst>
              <a:ext uri="{FF2B5EF4-FFF2-40B4-BE49-F238E27FC236}">
                <a16:creationId xmlns:a16="http://schemas.microsoft.com/office/drawing/2014/main" id="{5B7B811A-4617-4077-B697-7DA48D345B91}"/>
              </a:ext>
            </a:extLst>
          </p:cNvPr>
          <p:cNvSpPr>
            <a:spLocks noGrp="1"/>
          </p:cNvSpPr>
          <p:nvPr/>
        </p:nvSpPr>
        <p:spPr>
          <a:xfrm>
            <a:off x="1257300" y="2819400"/>
            <a:ext cx="9486900" cy="400050"/>
          </a:xfrm>
          <a:prstGeom prst="rect">
            <a:avLst/>
          </a:prstGeom>
          <a:noFill/>
          <a:ln w="0">
            <a:noFill/>
          </a:ln>
        </p:spPr>
        <p:txBody>
          <a:bodyPr>
            <a:noAutofit/>
          </a:bodyPr>
          <a:lstStyle/>
          <a:p>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Get the map features</a:t>
            </a:r>
          </a:p>
        </p:txBody>
      </p:sp>
      <p:sp>
        <p:nvSpPr>
          <p:cNvPr id="10" name="Rectangle 9">
            <a:extLst>
              <a:ext uri="{FF2B5EF4-FFF2-40B4-BE49-F238E27FC236}">
                <a16:creationId xmlns:a16="http://schemas.microsoft.com/office/drawing/2014/main" id="{15583C15-6906-45A1-8EEE-04D40D416186}"/>
              </a:ext>
            </a:extLst>
          </p:cNvPr>
          <p:cNvSpPr>
            <a:spLocks noGrp="1"/>
          </p:cNvSpPr>
          <p:nvPr/>
        </p:nvSpPr>
        <p:spPr>
          <a:xfrm>
            <a:off x="1257300" y="3257550"/>
            <a:ext cx="9486900" cy="638175"/>
          </a:xfrm>
          <a:prstGeom prst="rect">
            <a:avLst/>
          </a:prstGeom>
          <a:noFill/>
          <a:ln w="0">
            <a:noFill/>
          </a:ln>
        </p:spPr>
        <p:txBody>
          <a:bodyPr>
            <a:noAutofit/>
          </a:bodyPr>
          <a:lstStyle/>
          <a:p>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MapExport retrieves OpenStreetMap data.</a:t>
            </a:r>
          </a:p>
        </p:txBody>
      </p:sp>
      <p:sp>
        <p:nvSpPr>
          <p:cNvPr id="11" name="Rectangle 10">
            <a:extLst>
              <a:ext uri="{FF2B5EF4-FFF2-40B4-BE49-F238E27FC236}">
                <a16:creationId xmlns:a16="http://schemas.microsoft.com/office/drawing/2014/main" id="{CA7CDA99-DB32-4C53-941F-74993C66C5C2}"/>
              </a:ext>
            </a:extLst>
          </p:cNvPr>
          <p:cNvSpPr>
            <a:spLocks noGrp="1"/>
          </p:cNvSpPr>
          <p:nvPr/>
        </p:nvSpPr>
        <p:spPr>
          <a:xfrm>
            <a:off x="457200" y="3886200"/>
            <a:ext cx="685800" cy="552450"/>
          </a:xfrm>
          <a:prstGeom prst="rect">
            <a:avLst/>
          </a:prstGeom>
          <a:noFill/>
          <a:ln w="0">
            <a:noFill/>
          </a:ln>
        </p:spPr>
        <p:txBody>
          <a:bodyPr>
            <a:noAutofit/>
          </a:bodyPr>
          <a:lstStyle/>
          <a:p>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03</a:t>
            </a:r>
          </a:p>
        </p:txBody>
      </p:sp>
      <p:sp>
        <p:nvSpPr>
          <p:cNvPr id="12" name="Rectangle 11">
            <a:extLst>
              <a:ext uri="{FF2B5EF4-FFF2-40B4-BE49-F238E27FC236}">
                <a16:creationId xmlns:a16="http://schemas.microsoft.com/office/drawing/2014/main" id="{ADAD72A6-ED5C-4383-A57C-C58D8588F432}"/>
              </a:ext>
            </a:extLst>
          </p:cNvPr>
          <p:cNvSpPr>
            <a:spLocks noGrp="1"/>
          </p:cNvSpPr>
          <p:nvPr/>
        </p:nvSpPr>
        <p:spPr>
          <a:xfrm>
            <a:off x="1257300" y="3886200"/>
            <a:ext cx="9486900" cy="400050"/>
          </a:xfrm>
          <a:prstGeom prst="rect">
            <a:avLst/>
          </a:prstGeom>
          <a:noFill/>
          <a:ln w="0">
            <a:noFill/>
          </a:ln>
        </p:spPr>
        <p:txBody>
          <a:bodyPr>
            <a:noAutofit/>
          </a:bodyPr>
          <a:lstStyle/>
          <a:p>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Build the base map</a:t>
            </a:r>
          </a:p>
        </p:txBody>
      </p:sp>
      <p:sp>
        <p:nvSpPr>
          <p:cNvPr id="13" name="Rectangle 12">
            <a:extLst>
              <a:ext uri="{FF2B5EF4-FFF2-40B4-BE49-F238E27FC236}">
                <a16:creationId xmlns:a16="http://schemas.microsoft.com/office/drawing/2014/main" id="{737B3529-4A12-45BD-8A13-ADCFE62F38E1}"/>
              </a:ext>
            </a:extLst>
          </p:cNvPr>
          <p:cNvSpPr>
            <a:spLocks noGrp="1"/>
          </p:cNvSpPr>
          <p:nvPr/>
        </p:nvSpPr>
        <p:spPr>
          <a:xfrm>
            <a:off x="1257300" y="4324350"/>
            <a:ext cx="9486900" cy="638175"/>
          </a:xfrm>
          <a:prstGeom prst="rect">
            <a:avLst/>
          </a:prstGeom>
          <a:noFill/>
          <a:ln w="0">
            <a:noFill/>
          </a:ln>
        </p:spPr>
        <p:txBody>
          <a:bodyPr>
            <a:noAutofit/>
          </a:bodyPr>
          <a:lstStyle/>
          <a:p>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It draws roads, derives blocks and places labels.</a:t>
            </a:r>
          </a:p>
        </p:txBody>
      </p:sp>
      <p:sp>
        <p:nvSpPr>
          <p:cNvPr id="14" name="Rectangle 13">
            <a:extLst>
              <a:ext uri="{FF2B5EF4-FFF2-40B4-BE49-F238E27FC236}">
                <a16:creationId xmlns:a16="http://schemas.microsoft.com/office/drawing/2014/main" id="{D00659AF-9D9B-4D23-BB94-F9D0DC3F5DAD}"/>
              </a:ext>
            </a:extLst>
          </p:cNvPr>
          <p:cNvSpPr>
            <a:spLocks noGrp="1"/>
          </p:cNvSpPr>
          <p:nvPr/>
        </p:nvSpPr>
        <p:spPr>
          <a:xfrm>
            <a:off x="457200" y="4953000"/>
            <a:ext cx="685800" cy="552450"/>
          </a:xfrm>
          <a:prstGeom prst="rect">
            <a:avLst/>
          </a:prstGeom>
          <a:noFill/>
          <a:ln w="0">
            <a:noFill/>
          </a:ln>
        </p:spPr>
        <p:txBody>
          <a:bodyPr>
            <a:noAutofit/>
          </a:bodyPr>
          <a:lstStyle/>
          <a:p>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04</a:t>
            </a:r>
          </a:p>
        </p:txBody>
      </p:sp>
      <p:sp>
        <p:nvSpPr>
          <p:cNvPr id="15" name="Rectangle 14">
            <a:extLst>
              <a:ext uri="{FF2B5EF4-FFF2-40B4-BE49-F238E27FC236}">
                <a16:creationId xmlns:a16="http://schemas.microsoft.com/office/drawing/2014/main" id="{6129152D-214F-40F7-913F-09E1A29EA5CE}"/>
              </a:ext>
            </a:extLst>
          </p:cNvPr>
          <p:cNvSpPr>
            <a:spLocks noGrp="1"/>
          </p:cNvSpPr>
          <p:nvPr/>
        </p:nvSpPr>
        <p:spPr>
          <a:xfrm>
            <a:off x="1257300" y="4953000"/>
            <a:ext cx="9486900" cy="400050"/>
          </a:xfrm>
          <a:prstGeom prst="rect">
            <a:avLst/>
          </a:prstGeom>
          <a:noFill/>
          <a:ln w="0">
            <a:noFill/>
          </a:ln>
        </p:spPr>
        <p:txBody>
          <a:bodyPr>
            <a:noAutofit/>
          </a:bodyPr>
          <a:lstStyle/>
          <a:p>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Continue in your editor</a:t>
            </a:r>
          </a:p>
        </p:txBody>
      </p:sp>
      <p:sp>
        <p:nvSpPr>
          <p:cNvPr id="16" name="Rectangle 15">
            <a:extLst>
              <a:ext uri="{FF2B5EF4-FFF2-40B4-BE49-F238E27FC236}">
                <a16:creationId xmlns:a16="http://schemas.microsoft.com/office/drawing/2014/main" id="{F0767B24-9E17-4B95-95FA-34BBC908953A}"/>
              </a:ext>
            </a:extLst>
          </p:cNvPr>
          <p:cNvSpPr>
            <a:spLocks noGrp="1"/>
          </p:cNvSpPr>
          <p:nvPr/>
        </p:nvSpPr>
        <p:spPr>
          <a:xfrm>
            <a:off x="1257300" y="5391150"/>
            <a:ext cx="9486900" cy="638175"/>
          </a:xfrm>
          <a:prstGeom prst="rect">
            <a:avLst/>
          </a:prstGeom>
          <a:noFill/>
          <a:ln w="0">
            <a:noFill/>
          </a:ln>
        </p:spPr>
        <p:txBody>
          <a:bodyPr>
            <a:noAutofit/>
          </a:bodyPr>
          <a:lstStyle/>
          <a:p>
            <a:pPr>
              <a:defRPr sz="1950" b="0">
                <a:solidFill>
                  <a:srgbClr val="18180F"/>
                </a:solidFill>
                <a:latin typeface="Apfel Grotezk"/>
                <a:ea typeface="Apfel Grotezk"/>
                <a:cs typeface="Apfel Grotezk"/>
              </a:defRPr>
            </a:pPr>
            <a:r>
              <a:rPr sz="1950" b="0" dirty="0">
                <a:solidFill>
                  <a:srgbClr val="18180F"/>
                </a:solidFill>
                <a:latin typeface="Apfel Grotezk"/>
                <a:ea typeface="Apfel Grotezk"/>
                <a:cs typeface="Apfel Grotezk"/>
              </a:rPr>
              <a:t>Download an SVG and open it in Illustrator or Inkscape.</a:t>
            </a:r>
            <a:endParaRPr lang="nl-NL" sz="1950" b="0" dirty="0">
              <a:solidFill>
                <a:srgbClr val="18180F"/>
              </a:solidFill>
              <a:latin typeface="Apfel Grotezk"/>
              <a:ea typeface="Apfel Grotezk"/>
              <a:cs typeface="Apfel Grotezk"/>
            </a:endParaRPr>
          </a:p>
          <a:p>
            <a:pPr>
              <a:defRPr sz="1950" b="0">
                <a:solidFill>
                  <a:srgbClr val="18180F"/>
                </a:solidFill>
                <a:latin typeface="Apfel Grotezk"/>
                <a:ea typeface="Apfel Grotezk"/>
                <a:cs typeface="Apfel Grotezk"/>
              </a:defRPr>
            </a:pPr>
            <a:r>
              <a:rPr lang="en-US" sz="1950" dirty="0">
                <a:solidFill>
                  <a:srgbClr val="18180F"/>
                </a:solidFill>
                <a:latin typeface="Apfel Grotezk"/>
                <a:ea typeface="Apfel Grotezk"/>
                <a:cs typeface="Apfel Grotezk"/>
              </a:rPr>
              <a:t>(or any other editor that understands SVG)</a:t>
            </a:r>
            <a:endParaRPr sz="1950" b="0" dirty="0">
              <a:solidFill>
                <a:srgbClr val="18180F"/>
              </a:solidFill>
              <a:latin typeface="Apfel Grotezk"/>
              <a:ea typeface="Apfel Grotezk"/>
              <a:cs typeface="Apfel Grotezk"/>
            </a:endParaRPr>
          </a:p>
        </p:txBody>
      </p:sp>
    </p:spTree>
    <p:extLst>
      <p:ext uri="{BB962C8B-B14F-4D97-AF65-F5344CB8AC3E}">
        <p14:creationId xmlns:p14="http://schemas.microsoft.com/office/powerpoint/2010/main" val="193080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73817F9-BCFE-4CF3-A149-4DA1F2A21B90}"/>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IN THE BROWSER</a:t>
            </a:r>
          </a:p>
        </p:txBody>
      </p:sp>
      <p:sp>
        <p:nvSpPr>
          <p:cNvPr id="2" name="Rectangle 1">
            <a:extLst>
              <a:ext uri="{FF2B5EF4-FFF2-40B4-BE49-F238E27FC236}">
                <a16:creationId xmlns:a16="http://schemas.microsoft.com/office/drawing/2014/main" id="{69E33821-DE01-4464-996D-642A047CDB96}"/>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lang="nl-NL" sz="4125" b="0" dirty="0">
                <a:solidFill>
                  <a:srgbClr val="18180F"/>
                </a:solidFill>
                <a:latin typeface="Mayonnaise Black"/>
                <a:ea typeface="Mayonnaise Black"/>
                <a:cs typeface="Mayonnaise Black"/>
              </a:rPr>
              <a:t>HOW IT WORKS</a:t>
            </a:r>
            <a:endParaRPr sz="4125" b="0" dirty="0">
              <a:solidFill>
                <a:srgbClr val="18180F"/>
              </a:solidFill>
              <a:latin typeface="Mayonnaise Black"/>
              <a:ea typeface="Mayonnaise Black"/>
              <a:cs typeface="Mayonnaise Black"/>
            </a:endParaRPr>
          </a:p>
        </p:txBody>
      </p:sp>
      <p:sp>
        <p:nvSpPr>
          <p:cNvPr id="3" name="Rectangle 2">
            <a:extLst>
              <a:ext uri="{FF2B5EF4-FFF2-40B4-BE49-F238E27FC236}">
                <a16:creationId xmlns:a16="http://schemas.microsoft.com/office/drawing/2014/main" id="{D1B3A575-088A-4DB8-992C-6C750E5FD463}"/>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dirty="0">
                <a:solidFill>
                  <a:srgbClr val="18180F"/>
                </a:solidFill>
                <a:latin typeface="Apfel Grotezk"/>
                <a:ea typeface="Apfel Grotezk"/>
                <a:cs typeface="Apfel Grotezk"/>
              </a:rPr>
              <a:t>MAPEXPORT  /  USE-IT </a:t>
            </a:r>
          </a:p>
        </p:txBody>
      </p:sp>
      <p:sp>
        <p:nvSpPr>
          <p:cNvPr id="4" name="Rectangle 3">
            <a:extLst>
              <a:ext uri="{FF2B5EF4-FFF2-40B4-BE49-F238E27FC236}">
                <a16:creationId xmlns:a16="http://schemas.microsoft.com/office/drawing/2014/main" id="{43405EBA-A73D-4B3E-BB0E-D169FBA07ECC}"/>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05</a:t>
            </a:r>
          </a:p>
        </p:txBody>
      </p:sp>
      <p:pic>
        <p:nvPicPr>
          <p:cNvPr id="13" name="Picture 12"/>
          <p:cNvPicPr>
            <a:picLocks noChangeAspect="1"/>
          </p:cNvPicPr>
          <p:nvPr/>
        </p:nvPicPr>
        <p:blipFill>
          <a:blip r:embed="rId3"/>
          <a:stretch/>
        </p:blipFill>
        <p:spPr>
          <a:xfrm>
            <a:off x="957792" y="1685925"/>
            <a:ext cx="8009467" cy="4505325"/>
          </a:xfrm>
          <a:prstGeom prst="rect">
            <a:avLst/>
          </a:prstGeom>
        </p:spPr>
      </p:pic>
      <p:sp>
        <p:nvSpPr>
          <p:cNvPr id="6" name="Rectangle 5">
            <a:extLst>
              <a:ext uri="{FF2B5EF4-FFF2-40B4-BE49-F238E27FC236}">
                <a16:creationId xmlns:a16="http://schemas.microsoft.com/office/drawing/2014/main" id="{9B2FCC1E-9D28-4A2D-AD9E-4D5E70486890}"/>
              </a:ext>
            </a:extLst>
          </p:cNvPr>
          <p:cNvSpPr>
            <a:spLocks noGrp="1"/>
          </p:cNvSpPr>
          <p:nvPr/>
        </p:nvSpPr>
        <p:spPr>
          <a:xfrm>
            <a:off x="9715500" y="1990725"/>
            <a:ext cx="2171700" cy="666750"/>
          </a:xfrm>
          <a:prstGeom prst="rect">
            <a:avLst/>
          </a:prstGeom>
          <a:noFill/>
          <a:ln w="0">
            <a:noFill/>
          </a:ln>
        </p:spPr>
        <p:txBody>
          <a:bodyPr>
            <a:noAutofit/>
          </a:bodyPr>
          <a:lstStyle/>
          <a:p>
            <a:pPr>
              <a:defRPr sz="1875" b="1">
                <a:solidFill>
                  <a:srgbClr val="F4501E"/>
                </a:solidFill>
                <a:latin typeface="Apfel Grotezk"/>
                <a:ea typeface="Apfel Grotezk"/>
                <a:cs typeface="Apfel Grotezk"/>
              </a:defRPr>
            </a:pPr>
            <a:r>
              <a:rPr sz="1875" b="1">
                <a:solidFill>
                  <a:srgbClr val="F4501E"/>
                </a:solidFill>
                <a:latin typeface="Apfel Grotezk"/>
                <a:ea typeface="Apfel Grotezk"/>
                <a:cs typeface="Apfel Grotezk"/>
              </a:rPr>
              <a:t>1  Find a city</a:t>
            </a:r>
          </a:p>
        </p:txBody>
      </p:sp>
      <p:sp>
        <p:nvSpPr>
          <p:cNvPr id="7" name="Rectangle 6">
            <a:extLst>
              <a:ext uri="{FF2B5EF4-FFF2-40B4-BE49-F238E27FC236}">
                <a16:creationId xmlns:a16="http://schemas.microsoft.com/office/drawing/2014/main" id="{A378F516-7828-495F-8169-25975B1D506A}"/>
              </a:ext>
            </a:extLst>
          </p:cNvPr>
          <p:cNvSpPr>
            <a:spLocks noGrp="1"/>
          </p:cNvSpPr>
          <p:nvPr/>
        </p:nvSpPr>
        <p:spPr>
          <a:xfrm>
            <a:off x="9715500" y="3162300"/>
            <a:ext cx="2190750" cy="714375"/>
          </a:xfrm>
          <a:prstGeom prst="rect">
            <a:avLst/>
          </a:prstGeom>
          <a:noFill/>
          <a:ln w="0">
            <a:noFill/>
          </a:ln>
        </p:spPr>
        <p:txBody>
          <a:bodyPr>
            <a:noAutofit/>
          </a:bodyPr>
          <a:lstStyle/>
          <a:p>
            <a:pPr>
              <a:defRPr sz="1875" b="1">
                <a:solidFill>
                  <a:srgbClr val="F4501E"/>
                </a:solidFill>
                <a:latin typeface="Apfel Grotezk"/>
                <a:ea typeface="Apfel Grotezk"/>
                <a:cs typeface="Apfel Grotezk"/>
              </a:defRPr>
            </a:pPr>
            <a:r>
              <a:rPr sz="1875" b="1">
                <a:solidFill>
                  <a:srgbClr val="F4501E"/>
                </a:solidFill>
                <a:latin typeface="Apfel Grotezk"/>
                <a:ea typeface="Apfel Grotezk"/>
                <a:cs typeface="Apfel Grotezk"/>
              </a:rPr>
              <a:t>2  Draw an area</a:t>
            </a:r>
          </a:p>
        </p:txBody>
      </p:sp>
      <p:sp>
        <p:nvSpPr>
          <p:cNvPr id="8" name="Rectangle 7">
            <a:extLst>
              <a:ext uri="{FF2B5EF4-FFF2-40B4-BE49-F238E27FC236}">
                <a16:creationId xmlns:a16="http://schemas.microsoft.com/office/drawing/2014/main" id="{59B83E10-C35D-448F-B643-E3CF82019BE3}"/>
              </a:ext>
            </a:extLst>
          </p:cNvPr>
          <p:cNvSpPr>
            <a:spLocks noGrp="1"/>
          </p:cNvSpPr>
          <p:nvPr/>
        </p:nvSpPr>
        <p:spPr>
          <a:xfrm>
            <a:off x="9715500" y="4343400"/>
            <a:ext cx="2190750" cy="714375"/>
          </a:xfrm>
          <a:prstGeom prst="rect">
            <a:avLst/>
          </a:prstGeom>
          <a:noFill/>
          <a:ln w="0">
            <a:noFill/>
          </a:ln>
        </p:spPr>
        <p:txBody>
          <a:bodyPr>
            <a:noAutofit/>
          </a:bodyPr>
          <a:lstStyle/>
          <a:p>
            <a:pPr>
              <a:defRPr sz="1875" b="1">
                <a:solidFill>
                  <a:srgbClr val="F4501E"/>
                </a:solidFill>
                <a:latin typeface="Apfel Grotezk"/>
                <a:ea typeface="Apfel Grotezk"/>
                <a:cs typeface="Apfel Grotezk"/>
              </a:defRPr>
            </a:pPr>
            <a:r>
              <a:rPr sz="1875" b="1">
                <a:solidFill>
                  <a:srgbClr val="F4501E"/>
                </a:solidFill>
                <a:latin typeface="Apfel Grotezk"/>
                <a:ea typeface="Apfel Grotezk"/>
                <a:cs typeface="Apfel Grotezk"/>
              </a:rPr>
              <a:t>3  Choose layers</a:t>
            </a:r>
          </a:p>
        </p:txBody>
      </p:sp>
    </p:spTree>
    <p:extLst>
      <p:ext uri="{BB962C8B-B14F-4D97-AF65-F5344CB8AC3E}">
        <p14:creationId xmlns:p14="http://schemas.microsoft.com/office/powerpoint/2010/main" val="19779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F4561C-4B70-4FB2-9962-8FE85F560200}"/>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CHOOSE YOUR AREA</a:t>
            </a:r>
          </a:p>
        </p:txBody>
      </p:sp>
      <p:sp>
        <p:nvSpPr>
          <p:cNvPr id="2" name="Rectangle 1">
            <a:extLst>
              <a:ext uri="{FF2B5EF4-FFF2-40B4-BE49-F238E27FC236}">
                <a16:creationId xmlns:a16="http://schemas.microsoft.com/office/drawing/2014/main" id="{EDE012E3-BCF9-4038-B17C-560E16414CD9}"/>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START WITH A WALKABLE CITY CENTRE</a:t>
            </a:r>
          </a:p>
        </p:txBody>
      </p:sp>
      <p:sp>
        <p:nvSpPr>
          <p:cNvPr id="3" name="Rectangle 2">
            <a:extLst>
              <a:ext uri="{FF2B5EF4-FFF2-40B4-BE49-F238E27FC236}">
                <a16:creationId xmlns:a16="http://schemas.microsoft.com/office/drawing/2014/main" id="{E6C3BA23-42E8-47AB-A971-AAEBBFE9341E}"/>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A4582452-D2DF-4503-8399-D33C772EF234}"/>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06</a:t>
            </a:r>
          </a:p>
        </p:txBody>
      </p:sp>
      <p:pic>
        <p:nvPicPr>
          <p:cNvPr id="12" name="Picture 11"/>
          <p:cNvPicPr>
            <a:picLocks noChangeAspect="1"/>
          </p:cNvPicPr>
          <p:nvPr/>
        </p:nvPicPr>
        <p:blipFill>
          <a:blip r:embed="rId3"/>
          <a:stretch/>
        </p:blipFill>
        <p:spPr>
          <a:xfrm>
            <a:off x="457200" y="1791891"/>
            <a:ext cx="7886700" cy="4436269"/>
          </a:xfrm>
          <a:prstGeom prst="rect">
            <a:avLst/>
          </a:prstGeom>
        </p:spPr>
      </p:pic>
      <p:sp>
        <p:nvSpPr>
          <p:cNvPr id="6" name="Rectangle 5">
            <a:extLst>
              <a:ext uri="{FF2B5EF4-FFF2-40B4-BE49-F238E27FC236}">
                <a16:creationId xmlns:a16="http://schemas.microsoft.com/office/drawing/2014/main" id="{405911ED-225D-4BFF-8E2F-46316AA1294B}"/>
              </a:ext>
            </a:extLst>
          </p:cNvPr>
          <p:cNvSpPr>
            <a:spLocks noGrp="1"/>
          </p:cNvSpPr>
          <p:nvPr/>
        </p:nvSpPr>
        <p:spPr>
          <a:xfrm>
            <a:off x="8610600" y="1981200"/>
            <a:ext cx="3076575" cy="933450"/>
          </a:xfrm>
          <a:prstGeom prst="rect">
            <a:avLst/>
          </a:prstGeom>
          <a:noFill/>
          <a:ln w="0">
            <a:noFill/>
          </a:ln>
        </p:spPr>
        <p:txBody>
          <a:bodyPr>
            <a:noAutofit/>
          </a:bodyPr>
          <a:lstStyle/>
          <a:p>
            <a:pPr>
              <a:defRPr sz="2550" b="1">
                <a:solidFill>
                  <a:srgbClr val="F4501E"/>
                </a:solidFill>
                <a:latin typeface="Apfel Grotezk"/>
                <a:ea typeface="Apfel Grotezk"/>
                <a:cs typeface="Apfel Grotezk"/>
              </a:defRPr>
            </a:pPr>
            <a:r>
              <a:rPr sz="2550" b="1">
                <a:solidFill>
                  <a:srgbClr val="F4501E"/>
                </a:solidFill>
                <a:latin typeface="Apfel Grotezk"/>
                <a:ea typeface="Apfel Grotezk"/>
                <a:cs typeface="Apfel Grotezk"/>
              </a:rPr>
              <a:t>Keep the first area small.</a:t>
            </a:r>
          </a:p>
        </p:txBody>
      </p:sp>
      <p:sp>
        <p:nvSpPr>
          <p:cNvPr id="7" name="Rectangle 6">
            <a:extLst>
              <a:ext uri="{FF2B5EF4-FFF2-40B4-BE49-F238E27FC236}">
                <a16:creationId xmlns:a16="http://schemas.microsoft.com/office/drawing/2014/main" id="{5F5FC0DF-6ED5-4FC7-9448-04BE1FEA8A0F}"/>
              </a:ext>
            </a:extLst>
          </p:cNvPr>
          <p:cNvSpPr>
            <a:spLocks noGrp="1"/>
          </p:cNvSpPr>
          <p:nvPr/>
        </p:nvSpPr>
        <p:spPr>
          <a:xfrm>
            <a:off x="8610600" y="3162300"/>
            <a:ext cx="3105150" cy="2752725"/>
          </a:xfrm>
          <a:prstGeom prst="rect">
            <a:avLst/>
          </a:prstGeom>
          <a:noFill/>
          <a:ln w="0">
            <a:noFill/>
          </a:ln>
        </p:spPr>
        <p:txBody>
          <a:bodyPr>
            <a:noAutofit/>
          </a:bodyPr>
          <a:lstStyle/>
          <a:p>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Include a recognisable landmark.</a:t>
            </a:r>
          </a:p>
          <a:p>
            <a:endParaRPr sz="2025" b="0">
              <a:solidFill>
                <a:srgbClr val="18180F"/>
              </a:solidFill>
              <a:latin typeface="Apfel Grotezk"/>
              <a:ea typeface="Apfel Grotezk"/>
              <a:cs typeface="Apfel Grotezk"/>
            </a:endParaRPr>
          </a:p>
          <a:p>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Check the area and printed size.</a:t>
            </a:r>
          </a:p>
          <a:p>
            <a:endParaRPr sz="2025" b="0">
              <a:solidFill>
                <a:srgbClr val="18180F"/>
              </a:solidFill>
              <a:latin typeface="Apfel Grotezk"/>
              <a:ea typeface="Apfel Grotezk"/>
              <a:cs typeface="Apfel Grotezk"/>
            </a:endParaRPr>
          </a:p>
          <a:p>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Leave room for your eventual layout.</a:t>
            </a:r>
          </a:p>
        </p:txBody>
      </p:sp>
    </p:spTree>
    <p:extLst>
      <p:ext uri="{BB962C8B-B14F-4D97-AF65-F5344CB8AC3E}">
        <p14:creationId xmlns:p14="http://schemas.microsoft.com/office/powerpoint/2010/main" val="408545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A24E38-086E-4F22-B76F-81658A59C27F}"/>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LAYERS</a:t>
            </a:r>
          </a:p>
        </p:txBody>
      </p:sp>
      <p:sp>
        <p:nvSpPr>
          <p:cNvPr id="2" name="Rectangle 1">
            <a:extLst>
              <a:ext uri="{FF2B5EF4-FFF2-40B4-BE49-F238E27FC236}">
                <a16:creationId xmlns:a16="http://schemas.microsoft.com/office/drawing/2014/main" id="{2D7D2686-B341-4606-8EA1-2DFDCF58070D}"/>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CHOOSE WHAT YOUR MAP NEEDS</a:t>
            </a:r>
          </a:p>
        </p:txBody>
      </p:sp>
      <p:sp>
        <p:nvSpPr>
          <p:cNvPr id="3" name="Rectangle 2">
            <a:extLst>
              <a:ext uri="{FF2B5EF4-FFF2-40B4-BE49-F238E27FC236}">
                <a16:creationId xmlns:a16="http://schemas.microsoft.com/office/drawing/2014/main" id="{DF857A1E-1BB7-4635-96A3-2D464B5AAC9F}"/>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DF0F7FA0-CD5C-4B1B-A1C1-BF8C57BD5482}"/>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07</a:t>
            </a:r>
          </a:p>
        </p:txBody>
      </p:sp>
      <p:pic>
        <p:nvPicPr>
          <p:cNvPr id="14" name="Picture 13"/>
          <p:cNvPicPr>
            <a:picLocks noChangeAspect="1"/>
          </p:cNvPicPr>
          <p:nvPr/>
        </p:nvPicPr>
        <p:blipFill>
          <a:blip r:embed="rId3"/>
          <a:srcRect l="567" r="567"/>
          <a:stretch>
            <a:fillRect/>
          </a:stretch>
        </p:blipFill>
        <p:spPr>
          <a:xfrm>
            <a:off x="6305550" y="1743075"/>
            <a:ext cx="5429250" cy="4448175"/>
          </a:xfrm>
          <a:prstGeom prst="rect">
            <a:avLst/>
          </a:prstGeom>
        </p:spPr>
      </p:pic>
      <p:sp>
        <p:nvSpPr>
          <p:cNvPr id="6" name="Rectangle 5">
            <a:extLst>
              <a:ext uri="{FF2B5EF4-FFF2-40B4-BE49-F238E27FC236}">
                <a16:creationId xmlns:a16="http://schemas.microsoft.com/office/drawing/2014/main" id="{D7D641B2-5FC2-4911-B24B-A2D06F008203}"/>
              </a:ext>
            </a:extLst>
          </p:cNvPr>
          <p:cNvSpPr>
            <a:spLocks noGrp="1"/>
          </p:cNvSpPr>
          <p:nvPr/>
        </p:nvSpPr>
        <p:spPr>
          <a:xfrm>
            <a:off x="457200" y="1838325"/>
            <a:ext cx="5429250" cy="476250"/>
          </a:xfrm>
          <a:prstGeom prst="rect">
            <a:avLst/>
          </a:prstGeom>
          <a:noFill/>
          <a:ln w="0">
            <a:noFill/>
          </a:ln>
        </p:spPr>
        <p:txBody>
          <a:bodyPr>
            <a:noAutofit/>
          </a:bodyPr>
          <a:lstStyle/>
          <a:p>
            <a:pPr>
              <a:defRPr sz="2550" b="1">
                <a:solidFill>
                  <a:srgbClr val="F4501E"/>
                </a:solidFill>
                <a:latin typeface="Apfel Grotezk"/>
                <a:ea typeface="Apfel Grotezk"/>
                <a:cs typeface="Apfel Grotezk"/>
              </a:defRPr>
            </a:pPr>
            <a:r>
              <a:rPr sz="2550" b="1">
                <a:solidFill>
                  <a:srgbClr val="F4501E"/>
                </a:solidFill>
                <a:latin typeface="Apfel Grotezk"/>
                <a:ea typeface="Apfel Grotezk"/>
                <a:cs typeface="Apfel Grotezk"/>
              </a:rPr>
              <a:t>The essentials</a:t>
            </a:r>
          </a:p>
        </p:txBody>
      </p:sp>
      <p:sp>
        <p:nvSpPr>
          <p:cNvPr id="7" name="Rectangle 6">
            <a:extLst>
              <a:ext uri="{FF2B5EF4-FFF2-40B4-BE49-F238E27FC236}">
                <a16:creationId xmlns:a16="http://schemas.microsoft.com/office/drawing/2014/main" id="{E3C6D910-12AB-4D99-AB1A-C1ABE34ACF7B}"/>
              </a:ext>
            </a:extLst>
          </p:cNvPr>
          <p:cNvSpPr>
            <a:spLocks noGrp="1"/>
          </p:cNvSpPr>
          <p:nvPr/>
        </p:nvSpPr>
        <p:spPr>
          <a:xfrm>
            <a:off x="457200" y="2447925"/>
            <a:ext cx="5324475" cy="1524000"/>
          </a:xfrm>
          <a:prstGeom prst="rect">
            <a:avLst/>
          </a:prstGeom>
          <a:noFill/>
          <a:ln w="0">
            <a:noFill/>
          </a:ln>
        </p:spPr>
        <p:txBody>
          <a:bodyPr>
            <a:noAutofit/>
          </a:bodyPr>
          <a:lstStyle/>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Roads and city blocks</a:t>
            </a:r>
          </a:p>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Water and green space</a:t>
            </a:r>
          </a:p>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Street names</a:t>
            </a:r>
          </a:p>
        </p:txBody>
      </p:sp>
      <p:sp>
        <p:nvSpPr>
          <p:cNvPr id="8" name="Rectangle 7">
            <a:extLst>
              <a:ext uri="{FF2B5EF4-FFF2-40B4-BE49-F238E27FC236}">
                <a16:creationId xmlns:a16="http://schemas.microsoft.com/office/drawing/2014/main" id="{DDAAF387-09E1-4B40-B13A-3BB013024B8C}"/>
              </a:ext>
            </a:extLst>
          </p:cNvPr>
          <p:cNvSpPr>
            <a:spLocks noGrp="1"/>
          </p:cNvSpPr>
          <p:nvPr/>
        </p:nvSpPr>
        <p:spPr>
          <a:xfrm>
            <a:off x="457200" y="4238625"/>
            <a:ext cx="5514975" cy="476250"/>
          </a:xfrm>
          <a:prstGeom prst="rect">
            <a:avLst/>
          </a:prstGeom>
          <a:noFill/>
          <a:ln w="0">
            <a:noFill/>
          </a:ln>
        </p:spPr>
        <p:txBody>
          <a:bodyPr>
            <a:noAutofit/>
          </a:bodyPr>
          <a:lstStyle/>
          <a:p>
            <a:pPr>
              <a:defRPr sz="2400" b="1">
                <a:solidFill>
                  <a:srgbClr val="F4501E"/>
                </a:solidFill>
                <a:latin typeface="Apfel Grotezk"/>
                <a:ea typeface="Apfel Grotezk"/>
                <a:cs typeface="Apfel Grotezk"/>
              </a:defRPr>
            </a:pPr>
            <a:r>
              <a:rPr sz="2400" b="1" dirty="0">
                <a:solidFill>
                  <a:srgbClr val="F4501E"/>
                </a:solidFill>
                <a:latin typeface="Apfel Grotezk"/>
                <a:ea typeface="Apfel Grotezk"/>
                <a:cs typeface="Apfel Grotezk"/>
              </a:rPr>
              <a:t>Add detail </a:t>
            </a:r>
            <a:r>
              <a:rPr lang="nl-NL" sz="2400" b="1" dirty="0" err="1">
                <a:solidFill>
                  <a:srgbClr val="F4501E"/>
                </a:solidFill>
                <a:latin typeface="Apfel Grotezk"/>
                <a:ea typeface="Apfel Grotezk"/>
                <a:cs typeface="Apfel Grotezk"/>
              </a:rPr>
              <a:t>only</a:t>
            </a:r>
            <a:r>
              <a:rPr lang="nl-NL" sz="2400" b="1" dirty="0">
                <a:solidFill>
                  <a:srgbClr val="F4501E"/>
                </a:solidFill>
                <a:latin typeface="Apfel Grotezk"/>
                <a:ea typeface="Apfel Grotezk"/>
                <a:cs typeface="Apfel Grotezk"/>
              </a:rPr>
              <a:t> </a:t>
            </a:r>
            <a:r>
              <a:rPr lang="nl-NL" sz="2400" b="1" dirty="0" err="1">
                <a:solidFill>
                  <a:srgbClr val="F4501E"/>
                </a:solidFill>
                <a:latin typeface="Apfel Grotezk"/>
                <a:ea typeface="Apfel Grotezk"/>
                <a:cs typeface="Apfel Grotezk"/>
              </a:rPr>
              <a:t>when</a:t>
            </a:r>
            <a:r>
              <a:rPr lang="nl-NL" sz="2400" b="1" dirty="0">
                <a:solidFill>
                  <a:srgbClr val="F4501E"/>
                </a:solidFill>
                <a:latin typeface="Apfel Grotezk"/>
                <a:ea typeface="Apfel Grotezk"/>
                <a:cs typeface="Apfel Grotezk"/>
              </a:rPr>
              <a:t> </a:t>
            </a:r>
            <a:r>
              <a:rPr lang="nl-NL" sz="2400" b="1" dirty="0" err="1">
                <a:solidFill>
                  <a:srgbClr val="F4501E"/>
                </a:solidFill>
                <a:latin typeface="Apfel Grotezk"/>
                <a:ea typeface="Apfel Grotezk"/>
                <a:cs typeface="Apfel Grotezk"/>
              </a:rPr>
              <a:t>you’ll</a:t>
            </a:r>
            <a:r>
              <a:rPr lang="nl-NL" sz="2400" b="1" dirty="0">
                <a:solidFill>
                  <a:srgbClr val="F4501E"/>
                </a:solidFill>
                <a:latin typeface="Apfel Grotezk"/>
                <a:ea typeface="Apfel Grotezk"/>
                <a:cs typeface="Apfel Grotezk"/>
              </a:rPr>
              <a:t> </a:t>
            </a:r>
            <a:r>
              <a:rPr lang="nl-NL" sz="2400" b="1" dirty="0" err="1">
                <a:solidFill>
                  <a:srgbClr val="F4501E"/>
                </a:solidFill>
                <a:latin typeface="Apfel Grotezk"/>
                <a:ea typeface="Apfel Grotezk"/>
                <a:cs typeface="Apfel Grotezk"/>
              </a:rPr>
              <a:t>need</a:t>
            </a:r>
            <a:r>
              <a:rPr lang="nl-NL" sz="2400" b="1" dirty="0">
                <a:solidFill>
                  <a:srgbClr val="F4501E"/>
                </a:solidFill>
                <a:latin typeface="Apfel Grotezk"/>
                <a:ea typeface="Apfel Grotezk"/>
                <a:cs typeface="Apfel Grotezk"/>
              </a:rPr>
              <a:t> </a:t>
            </a:r>
            <a:r>
              <a:rPr lang="nl-NL" sz="2400" b="1" dirty="0" err="1">
                <a:solidFill>
                  <a:srgbClr val="F4501E"/>
                </a:solidFill>
                <a:latin typeface="Apfel Grotezk"/>
                <a:ea typeface="Apfel Grotezk"/>
                <a:cs typeface="Apfel Grotezk"/>
              </a:rPr>
              <a:t>it</a:t>
            </a:r>
            <a:endParaRPr sz="2400" b="1" dirty="0">
              <a:solidFill>
                <a:srgbClr val="F4501E"/>
              </a:solidFill>
              <a:latin typeface="Apfel Grotezk"/>
              <a:ea typeface="Apfel Grotezk"/>
              <a:cs typeface="Apfel Grotezk"/>
            </a:endParaRPr>
          </a:p>
        </p:txBody>
      </p:sp>
      <p:sp>
        <p:nvSpPr>
          <p:cNvPr id="9" name="Rectangle 8">
            <a:extLst>
              <a:ext uri="{FF2B5EF4-FFF2-40B4-BE49-F238E27FC236}">
                <a16:creationId xmlns:a16="http://schemas.microsoft.com/office/drawing/2014/main" id="{A83E0955-9325-4E54-9EC3-FD308B89CC2E}"/>
              </a:ext>
            </a:extLst>
          </p:cNvPr>
          <p:cNvSpPr>
            <a:spLocks noGrp="1"/>
          </p:cNvSpPr>
          <p:nvPr/>
        </p:nvSpPr>
        <p:spPr>
          <a:xfrm>
            <a:off x="457200" y="4800600"/>
            <a:ext cx="5429250" cy="952500"/>
          </a:xfrm>
          <a:prstGeom prst="rect">
            <a:avLst/>
          </a:prstGeom>
          <a:noFill/>
          <a:ln w="0">
            <a:noFill/>
          </a:ln>
        </p:spPr>
        <p:txBody>
          <a:bodyPr>
            <a:noAutofit/>
          </a:bodyPr>
          <a:lstStyle/>
          <a:p>
            <a:pPr>
              <a:defRPr sz="2025" b="0">
                <a:solidFill>
                  <a:srgbClr val="18180F"/>
                </a:solidFill>
                <a:latin typeface="Apfel Grotezk"/>
                <a:ea typeface="Apfel Grotezk"/>
                <a:cs typeface="Apfel Grotezk"/>
              </a:defRPr>
            </a:pPr>
            <a:r>
              <a:rPr sz="2025" b="0" dirty="0">
                <a:solidFill>
                  <a:srgbClr val="18180F"/>
                </a:solidFill>
                <a:latin typeface="Apfel Grotezk"/>
                <a:ea typeface="Apfel Grotezk"/>
                <a:cs typeface="Apfel Grotezk"/>
              </a:rPr>
              <a:t>For example: transit or pedestrian routes.</a:t>
            </a:r>
          </a:p>
          <a:p>
            <a:pPr>
              <a:defRPr sz="2025" b="0">
                <a:solidFill>
                  <a:srgbClr val="18180F"/>
                </a:solidFill>
                <a:latin typeface="Apfel Grotezk"/>
                <a:ea typeface="Apfel Grotezk"/>
                <a:cs typeface="Apfel Grotezk"/>
              </a:defRPr>
            </a:pPr>
            <a:r>
              <a:rPr sz="2025" b="0" dirty="0">
                <a:solidFill>
                  <a:srgbClr val="18180F"/>
                </a:solidFill>
                <a:latin typeface="Apfel Grotezk"/>
                <a:ea typeface="Apfel Grotezk"/>
                <a:cs typeface="Apfel Grotezk"/>
              </a:rPr>
              <a:t>Keep only what </a:t>
            </a:r>
            <a:r>
              <a:rPr lang="nl-NL" sz="2025" b="0" dirty="0" err="1">
                <a:solidFill>
                  <a:srgbClr val="18180F"/>
                </a:solidFill>
                <a:latin typeface="Apfel Grotezk"/>
                <a:ea typeface="Apfel Grotezk"/>
                <a:cs typeface="Apfel Grotezk"/>
              </a:rPr>
              <a:t>you</a:t>
            </a:r>
            <a:r>
              <a:rPr lang="nl-NL" sz="2025" b="0" dirty="0">
                <a:solidFill>
                  <a:srgbClr val="18180F"/>
                </a:solidFill>
                <a:latin typeface="Apfel Grotezk"/>
                <a:ea typeface="Apfel Grotezk"/>
                <a:cs typeface="Apfel Grotezk"/>
              </a:rPr>
              <a:t> </a:t>
            </a:r>
            <a:r>
              <a:rPr lang="nl-NL" sz="2025" b="0" dirty="0" err="1">
                <a:solidFill>
                  <a:srgbClr val="18180F"/>
                </a:solidFill>
                <a:latin typeface="Apfel Grotezk"/>
                <a:ea typeface="Apfel Grotezk"/>
                <a:cs typeface="Apfel Grotezk"/>
              </a:rPr>
              <a:t>will</a:t>
            </a:r>
            <a:r>
              <a:rPr lang="nl-NL" sz="2025" b="0" dirty="0">
                <a:solidFill>
                  <a:srgbClr val="18180F"/>
                </a:solidFill>
                <a:latin typeface="Apfel Grotezk"/>
                <a:ea typeface="Apfel Grotezk"/>
                <a:cs typeface="Apfel Grotezk"/>
              </a:rPr>
              <a:t> </a:t>
            </a:r>
            <a:r>
              <a:rPr lang="nl-NL" sz="2025" b="0" dirty="0" err="1">
                <a:solidFill>
                  <a:srgbClr val="18180F"/>
                </a:solidFill>
                <a:latin typeface="Apfel Grotezk"/>
                <a:ea typeface="Apfel Grotezk"/>
                <a:cs typeface="Apfel Grotezk"/>
              </a:rPr>
              <a:t>actually</a:t>
            </a:r>
            <a:r>
              <a:rPr lang="nl-NL" sz="2025" b="0" dirty="0">
                <a:solidFill>
                  <a:srgbClr val="18180F"/>
                </a:solidFill>
                <a:latin typeface="Apfel Grotezk"/>
                <a:ea typeface="Apfel Grotezk"/>
                <a:cs typeface="Apfel Grotezk"/>
              </a:rPr>
              <a:t> </a:t>
            </a:r>
            <a:r>
              <a:rPr lang="nl-NL" sz="2025" b="0" dirty="0" err="1">
                <a:solidFill>
                  <a:srgbClr val="18180F"/>
                </a:solidFill>
                <a:latin typeface="Apfel Grotezk"/>
                <a:ea typeface="Apfel Grotezk"/>
                <a:cs typeface="Apfel Grotezk"/>
              </a:rPr>
              <a:t>use</a:t>
            </a:r>
            <a:r>
              <a:rPr sz="2025" b="0" dirty="0">
                <a:solidFill>
                  <a:srgbClr val="18180F"/>
                </a:solidFill>
                <a:latin typeface="Apfel Grotezk"/>
                <a:ea typeface="Apfel Grotezk"/>
                <a:cs typeface="Apfel Grotezk"/>
              </a:rPr>
              <a:t>.</a:t>
            </a:r>
          </a:p>
        </p:txBody>
      </p:sp>
    </p:spTree>
    <p:extLst>
      <p:ext uri="{BB962C8B-B14F-4D97-AF65-F5344CB8AC3E}">
        <p14:creationId xmlns:p14="http://schemas.microsoft.com/office/powerpoint/2010/main" val="1883505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9E4"/>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EBBA767-E2AD-493A-8AB0-6C0766F7AC63}"/>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DOWNLOAD</a:t>
            </a:r>
          </a:p>
        </p:txBody>
      </p:sp>
      <p:sp>
        <p:nvSpPr>
          <p:cNvPr id="2" name="Rectangle 1">
            <a:extLst>
              <a:ext uri="{FF2B5EF4-FFF2-40B4-BE49-F238E27FC236}">
                <a16:creationId xmlns:a16="http://schemas.microsoft.com/office/drawing/2014/main" id="{550D3AF0-7942-408B-825F-EF59484FBA01}"/>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EXPORT FOR YOUR EDITOR</a:t>
            </a:r>
          </a:p>
        </p:txBody>
      </p:sp>
      <p:sp>
        <p:nvSpPr>
          <p:cNvPr id="3" name="Rectangle 2">
            <a:extLst>
              <a:ext uri="{FF2B5EF4-FFF2-40B4-BE49-F238E27FC236}">
                <a16:creationId xmlns:a16="http://schemas.microsoft.com/office/drawing/2014/main" id="{37E9B0AD-AFB4-42EC-BE20-FC650A85F99D}"/>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1320D927-0A47-434A-AA30-B59A8EAD3209}"/>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08</a:t>
            </a:r>
          </a:p>
        </p:txBody>
      </p:sp>
      <p:sp>
        <p:nvSpPr>
          <p:cNvPr id="5" name="Rectangle 4">
            <a:extLst>
              <a:ext uri="{FF2B5EF4-FFF2-40B4-BE49-F238E27FC236}">
                <a16:creationId xmlns:a16="http://schemas.microsoft.com/office/drawing/2014/main" id="{26EB4536-9792-4F57-B045-E34A2984F3E8}"/>
              </a:ext>
            </a:extLst>
          </p:cNvPr>
          <p:cNvSpPr>
            <a:spLocks noGrp="1"/>
          </p:cNvSpPr>
          <p:nvPr/>
        </p:nvSpPr>
        <p:spPr>
          <a:xfrm>
            <a:off x="457200" y="1962150"/>
            <a:ext cx="5334000" cy="714375"/>
          </a:xfrm>
          <a:prstGeom prst="rect">
            <a:avLst/>
          </a:prstGeom>
          <a:noFill/>
          <a:ln w="0">
            <a:noFill/>
          </a:ln>
        </p:spPr>
        <p:txBody>
          <a:bodyPr>
            <a:noAutofit/>
          </a:bodyPr>
          <a:lstStyle/>
          <a:p>
            <a:pPr>
              <a:defRPr sz="3450" b="0">
                <a:solidFill>
                  <a:srgbClr val="F4501E"/>
                </a:solidFill>
                <a:latin typeface="Mayonnaise Black"/>
                <a:ea typeface="Mayonnaise Black"/>
                <a:cs typeface="Mayonnaise Black"/>
              </a:defRPr>
            </a:pPr>
            <a:r>
              <a:rPr sz="3450" b="0">
                <a:solidFill>
                  <a:srgbClr val="F4501E"/>
                </a:solidFill>
                <a:latin typeface="Mayonnaise Black"/>
                <a:ea typeface="Mayonnaise Black"/>
                <a:cs typeface="Mayonnaise Black"/>
              </a:rPr>
              <a:t>ILLUSTRATOR</a:t>
            </a:r>
          </a:p>
        </p:txBody>
      </p:sp>
      <p:sp>
        <p:nvSpPr>
          <p:cNvPr id="6" name="Rectangle 5">
            <a:extLst>
              <a:ext uri="{FF2B5EF4-FFF2-40B4-BE49-F238E27FC236}">
                <a16:creationId xmlns:a16="http://schemas.microsoft.com/office/drawing/2014/main" id="{D9905F30-56CB-4D6B-91AA-F22FADBA5CD9}"/>
              </a:ext>
            </a:extLst>
          </p:cNvPr>
          <p:cNvSpPr>
            <a:spLocks noGrp="1"/>
          </p:cNvSpPr>
          <p:nvPr/>
        </p:nvSpPr>
        <p:spPr>
          <a:xfrm>
            <a:off x="457200" y="2905125"/>
            <a:ext cx="5276850" cy="904875"/>
          </a:xfrm>
          <a:prstGeom prst="rect">
            <a:avLst/>
          </a:prstGeom>
          <a:noFill/>
          <a:ln w="0">
            <a:noFill/>
          </a:ln>
        </p:spPr>
        <p:txBody>
          <a:bodyPr>
            <a:noAutofit/>
          </a:bodyPr>
          <a:lstStyle/>
          <a:p>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“SVG (Illustrator)”</a:t>
            </a:r>
          </a:p>
        </p:txBody>
      </p:sp>
      <p:sp>
        <p:nvSpPr>
          <p:cNvPr id="7" name="Rectangle 6">
            <a:extLst>
              <a:ext uri="{FF2B5EF4-FFF2-40B4-BE49-F238E27FC236}">
                <a16:creationId xmlns:a16="http://schemas.microsoft.com/office/drawing/2014/main" id="{5978E457-02ED-47F9-89FE-385EB1FC5255}"/>
              </a:ext>
            </a:extLst>
          </p:cNvPr>
          <p:cNvSpPr>
            <a:spLocks noGrp="1"/>
          </p:cNvSpPr>
          <p:nvPr/>
        </p:nvSpPr>
        <p:spPr>
          <a:xfrm>
            <a:off x="457200" y="4067175"/>
            <a:ext cx="5181600" cy="1047750"/>
          </a:xfrm>
          <a:prstGeom prst="rect">
            <a:avLst/>
          </a:prstGeom>
          <a:noFill/>
          <a:ln w="0">
            <a:noFill/>
          </a:ln>
        </p:spPr>
        <p:txBody>
          <a:bodyPr>
            <a:noAutofit/>
          </a:bodyPr>
          <a:lstStyle/>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Export SVG → Download</a:t>
            </a:r>
          </a:p>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Then use File → Open.</a:t>
            </a:r>
          </a:p>
        </p:txBody>
      </p:sp>
      <p:sp>
        <p:nvSpPr>
          <p:cNvPr id="8" name="Rectangle 7">
            <a:extLst>
              <a:ext uri="{FF2B5EF4-FFF2-40B4-BE49-F238E27FC236}">
                <a16:creationId xmlns:a16="http://schemas.microsoft.com/office/drawing/2014/main" id="{AF771979-F071-4819-B638-5DF086C44557}"/>
              </a:ext>
            </a:extLst>
          </p:cNvPr>
          <p:cNvSpPr>
            <a:spLocks noGrp="1"/>
          </p:cNvSpPr>
          <p:nvPr/>
        </p:nvSpPr>
        <p:spPr>
          <a:xfrm>
            <a:off x="6457950" y="1962150"/>
            <a:ext cx="5334000" cy="714375"/>
          </a:xfrm>
          <a:prstGeom prst="rect">
            <a:avLst/>
          </a:prstGeom>
          <a:noFill/>
          <a:ln w="0">
            <a:noFill/>
          </a:ln>
        </p:spPr>
        <p:txBody>
          <a:bodyPr>
            <a:noAutofit/>
          </a:bodyPr>
          <a:lstStyle/>
          <a:p>
            <a:pPr>
              <a:defRPr sz="3450" b="0">
                <a:solidFill>
                  <a:srgbClr val="F4501E"/>
                </a:solidFill>
                <a:latin typeface="Mayonnaise Black"/>
                <a:ea typeface="Mayonnaise Black"/>
                <a:cs typeface="Mayonnaise Black"/>
              </a:defRPr>
            </a:pPr>
            <a:r>
              <a:rPr sz="3450" b="0">
                <a:solidFill>
                  <a:srgbClr val="F4501E"/>
                </a:solidFill>
                <a:latin typeface="Mayonnaise Black"/>
                <a:ea typeface="Mayonnaise Black"/>
                <a:cs typeface="Mayonnaise Black"/>
              </a:rPr>
              <a:t>INKSCAPE</a:t>
            </a:r>
          </a:p>
        </p:txBody>
      </p:sp>
      <p:sp>
        <p:nvSpPr>
          <p:cNvPr id="9" name="Rectangle 8">
            <a:extLst>
              <a:ext uri="{FF2B5EF4-FFF2-40B4-BE49-F238E27FC236}">
                <a16:creationId xmlns:a16="http://schemas.microsoft.com/office/drawing/2014/main" id="{C83935E4-888B-43FC-B8FA-A3FBE25AE9AF}"/>
              </a:ext>
            </a:extLst>
          </p:cNvPr>
          <p:cNvSpPr>
            <a:spLocks noGrp="1"/>
          </p:cNvSpPr>
          <p:nvPr/>
        </p:nvSpPr>
        <p:spPr>
          <a:xfrm>
            <a:off x="6457950" y="2905125"/>
            <a:ext cx="5276850" cy="904875"/>
          </a:xfrm>
          <a:prstGeom prst="rect">
            <a:avLst/>
          </a:prstGeom>
          <a:noFill/>
          <a:ln w="0">
            <a:noFill/>
          </a:ln>
        </p:spPr>
        <p:txBody>
          <a:bodyPr>
            <a:noAutofit/>
          </a:bodyPr>
          <a:lstStyle/>
          <a:p>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“SVG (Inkscape / others)”</a:t>
            </a:r>
          </a:p>
        </p:txBody>
      </p:sp>
      <p:sp>
        <p:nvSpPr>
          <p:cNvPr id="10" name="Rectangle 9">
            <a:extLst>
              <a:ext uri="{FF2B5EF4-FFF2-40B4-BE49-F238E27FC236}">
                <a16:creationId xmlns:a16="http://schemas.microsoft.com/office/drawing/2014/main" id="{75AC2E9C-F254-47B2-8116-83315B933D0D}"/>
              </a:ext>
            </a:extLst>
          </p:cNvPr>
          <p:cNvSpPr>
            <a:spLocks noGrp="1"/>
          </p:cNvSpPr>
          <p:nvPr/>
        </p:nvSpPr>
        <p:spPr>
          <a:xfrm>
            <a:off x="6457950" y="4067175"/>
            <a:ext cx="5181600" cy="1047750"/>
          </a:xfrm>
          <a:prstGeom prst="rect">
            <a:avLst/>
          </a:prstGeom>
          <a:noFill/>
          <a:ln w="0">
            <a:noFill/>
          </a:ln>
        </p:spPr>
        <p:txBody>
          <a:bodyPr>
            <a:noAutofit/>
          </a:bodyPr>
          <a:lstStyle/>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Export SVG → Download</a:t>
            </a:r>
          </a:p>
          <a:p>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Then use File → Open.</a:t>
            </a:r>
          </a:p>
        </p:txBody>
      </p:sp>
      <p:sp>
        <p:nvSpPr>
          <p:cNvPr id="11" name="Rectangle 10">
            <a:extLst>
              <a:ext uri="{FF2B5EF4-FFF2-40B4-BE49-F238E27FC236}">
                <a16:creationId xmlns:a16="http://schemas.microsoft.com/office/drawing/2014/main" id="{D2309EE4-CE1D-4232-A801-3AE453475E3A}"/>
              </a:ext>
            </a:extLst>
          </p:cNvPr>
          <p:cNvSpPr>
            <a:spLocks noGrp="1"/>
          </p:cNvSpPr>
          <p:nvPr/>
        </p:nvSpPr>
        <p:spPr>
          <a:xfrm>
            <a:off x="6086475" y="1962150"/>
            <a:ext cx="19050" cy="3295650"/>
          </a:xfrm>
          <a:prstGeom prst="rect">
            <a:avLst/>
          </a:prstGeom>
          <a:solidFill>
            <a:srgbClr val="D9D0AE"/>
          </a:solidFill>
          <a:ln w="0">
            <a:noFill/>
          </a:ln>
        </p:spPr>
        <p:txBody>
          <a:bodyPr/>
          <a:lstStyle/>
          <a:p>
            <a:endParaRPr lang="en-US"/>
          </a:p>
        </p:txBody>
      </p:sp>
      <p:sp>
        <p:nvSpPr>
          <p:cNvPr id="12" name="Rectangle 11">
            <a:extLst>
              <a:ext uri="{FF2B5EF4-FFF2-40B4-BE49-F238E27FC236}">
                <a16:creationId xmlns:a16="http://schemas.microsoft.com/office/drawing/2014/main" id="{0C0C8FA9-AAB0-4DC4-B3AF-0F1FFA54D04E}"/>
              </a:ext>
            </a:extLst>
          </p:cNvPr>
          <p:cNvSpPr>
            <a:spLocks noGrp="1"/>
          </p:cNvSpPr>
          <p:nvPr/>
        </p:nvSpPr>
        <p:spPr>
          <a:xfrm>
            <a:off x="457200" y="5695950"/>
            <a:ext cx="11258550" cy="419100"/>
          </a:xfrm>
          <a:prstGeom prst="rect">
            <a:avLst/>
          </a:prstGeom>
          <a:noFill/>
          <a:ln w="0">
            <a:noFill/>
          </a:ln>
        </p:spPr>
        <p:txBody>
          <a:bodyPr>
            <a:noAutofit/>
          </a:bodyPr>
          <a:lstStyle/>
          <a:p>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Keep the original export. Save your edits as a separate file.</a:t>
            </a:r>
          </a:p>
        </p:txBody>
      </p:sp>
    </p:spTree>
    <p:extLst>
      <p:ext uri="{BB962C8B-B14F-4D97-AF65-F5344CB8AC3E}">
        <p14:creationId xmlns:p14="http://schemas.microsoft.com/office/powerpoint/2010/main" val="1083444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ECAB6"/>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D8D87F5-776E-4F26-AE77-9441CA69A2E4}"/>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dirty="0">
                <a:solidFill>
                  <a:srgbClr val="F4501E"/>
                </a:solidFill>
                <a:latin typeface="Apfel Grotezk"/>
                <a:ea typeface="Apfel Grotezk"/>
                <a:cs typeface="Apfel Grotezk"/>
              </a:rPr>
              <a:t>INKSCAPE</a:t>
            </a:r>
          </a:p>
        </p:txBody>
      </p:sp>
      <p:sp>
        <p:nvSpPr>
          <p:cNvPr id="2" name="Rectangle 1">
            <a:extLst>
              <a:ext uri="{FF2B5EF4-FFF2-40B4-BE49-F238E27FC236}">
                <a16:creationId xmlns:a16="http://schemas.microsoft.com/office/drawing/2014/main" id="{7AD3645C-5FD7-46B5-9164-A96FCF0CBA6D}"/>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dirty="0">
                <a:solidFill>
                  <a:srgbClr val="18180F"/>
                </a:solidFill>
                <a:latin typeface="Mayonnaise Black"/>
                <a:ea typeface="Mayonnaise Black"/>
                <a:cs typeface="Mayonnaise Black"/>
              </a:rPr>
              <a:t>LIVE DEMO: </a:t>
            </a:r>
            <a:r>
              <a:rPr lang="nl-NL" sz="4125" b="0" dirty="0">
                <a:solidFill>
                  <a:srgbClr val="18180F"/>
                </a:solidFill>
                <a:latin typeface="Mayonnaise Black"/>
                <a:ea typeface="Mayonnaise Black"/>
                <a:cs typeface="Mayonnaise Black"/>
              </a:rPr>
              <a:t>LAYERS &amp; COLOR CHANGES</a:t>
            </a:r>
            <a:endParaRPr sz="4125" b="0" dirty="0">
              <a:solidFill>
                <a:srgbClr val="18180F"/>
              </a:solidFill>
              <a:latin typeface="Mayonnaise Black"/>
              <a:ea typeface="Mayonnaise Black"/>
              <a:cs typeface="Mayonnaise Black"/>
            </a:endParaRPr>
          </a:p>
        </p:txBody>
      </p:sp>
      <p:sp>
        <p:nvSpPr>
          <p:cNvPr id="3" name="Rectangle 2">
            <a:extLst>
              <a:ext uri="{FF2B5EF4-FFF2-40B4-BE49-F238E27FC236}">
                <a16:creationId xmlns:a16="http://schemas.microsoft.com/office/drawing/2014/main" id="{EFDC86DB-C02E-4C3A-95D6-087DAC14CB2E}"/>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D10329D8-2BAE-4FB4-9B6B-24C86B79AE66}"/>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10</a:t>
            </a:r>
          </a:p>
        </p:txBody>
      </p:sp>
    </p:spTree>
    <p:extLst>
      <p:ext uri="{BB962C8B-B14F-4D97-AF65-F5344CB8AC3E}">
        <p14:creationId xmlns:p14="http://schemas.microsoft.com/office/powerpoint/2010/main" val="37245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501E"/>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3B1129-A1B4-49C6-9387-FF25FD15A669}"/>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EF9E4"/>
                </a:solidFill>
                <a:latin typeface="Apfel Grotezk"/>
                <a:ea typeface="Apfel Grotezk"/>
                <a:cs typeface="Apfel Grotezk"/>
              </a:defRPr>
            </a:pPr>
            <a:r>
              <a:rPr sz="1275" b="1" dirty="0">
                <a:solidFill>
                  <a:srgbClr val="FEF9E4"/>
                </a:solidFill>
                <a:latin typeface="Apfel Grotezk"/>
                <a:ea typeface="Apfel Grotezk"/>
                <a:cs typeface="Apfel Grotezk"/>
              </a:rPr>
              <a:t>HANDS-ON</a:t>
            </a:r>
          </a:p>
        </p:txBody>
      </p:sp>
      <p:sp>
        <p:nvSpPr>
          <p:cNvPr id="2" name="Rectangle 1">
            <a:extLst>
              <a:ext uri="{FF2B5EF4-FFF2-40B4-BE49-F238E27FC236}">
                <a16:creationId xmlns:a16="http://schemas.microsoft.com/office/drawing/2014/main" id="{4ACBC1E1-8B4B-41C3-B94E-C0F47EDE86C7}"/>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FEF9E4"/>
                </a:solidFill>
                <a:latin typeface="Mayonnaise Black"/>
                <a:ea typeface="Mayonnaise Black"/>
                <a:cs typeface="Mayonnaise Black"/>
              </a:defRPr>
            </a:pPr>
            <a:r>
              <a:rPr sz="4125" b="0" dirty="0">
                <a:solidFill>
                  <a:srgbClr val="FEF9E4"/>
                </a:solidFill>
                <a:latin typeface="Mayonnaise Black"/>
                <a:ea typeface="Mayonnaise Black"/>
                <a:cs typeface="Mayonnaise Black"/>
              </a:rPr>
              <a:t>YOUR TURN</a:t>
            </a:r>
          </a:p>
        </p:txBody>
      </p:sp>
      <p:sp>
        <p:nvSpPr>
          <p:cNvPr id="3" name="Rectangle 2">
            <a:extLst>
              <a:ext uri="{FF2B5EF4-FFF2-40B4-BE49-F238E27FC236}">
                <a16:creationId xmlns:a16="http://schemas.microsoft.com/office/drawing/2014/main" id="{C518F514-4B5C-4FD2-B1F1-142B41CFE9A1}"/>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FEF9E4"/>
                </a:solidFill>
                <a:latin typeface="Apfel Grotezk"/>
                <a:ea typeface="Apfel Grotezk"/>
                <a:cs typeface="Apfel Grotezk"/>
              </a:defRPr>
            </a:pPr>
            <a:r>
              <a:rPr sz="1125" b="0">
                <a:solidFill>
                  <a:srgbClr val="FEF9E4"/>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71D06FBD-138D-418A-BF03-C7997D771BE6}"/>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FEF9E4"/>
                </a:solidFill>
                <a:latin typeface="Apfel Grotezk"/>
                <a:ea typeface="Apfel Grotezk"/>
                <a:cs typeface="Apfel Grotezk"/>
              </a:defRPr>
            </a:pPr>
            <a:r>
              <a:rPr sz="1125" b="0">
                <a:solidFill>
                  <a:srgbClr val="FEF9E4"/>
                </a:solidFill>
                <a:latin typeface="Apfel Grotezk"/>
                <a:ea typeface="Apfel Grotezk"/>
                <a:cs typeface="Apfel Grotezk"/>
              </a:rPr>
              <a:t>11</a:t>
            </a:r>
          </a:p>
        </p:txBody>
      </p:sp>
      <p:sp>
        <p:nvSpPr>
          <p:cNvPr id="5" name="Rectangle 4">
            <a:extLst>
              <a:ext uri="{FF2B5EF4-FFF2-40B4-BE49-F238E27FC236}">
                <a16:creationId xmlns:a16="http://schemas.microsoft.com/office/drawing/2014/main" id="{B1D879E3-1215-4D29-87C5-4A3A7DF93C96}"/>
              </a:ext>
            </a:extLst>
          </p:cNvPr>
          <p:cNvSpPr>
            <a:spLocks noGrp="1"/>
          </p:cNvSpPr>
          <p:nvPr/>
        </p:nvSpPr>
        <p:spPr>
          <a:xfrm>
            <a:off x="7912376" y="876300"/>
            <a:ext cx="3638550" cy="457200"/>
          </a:xfrm>
          <a:prstGeom prst="rect">
            <a:avLst/>
          </a:prstGeom>
          <a:noFill/>
          <a:ln w="0">
            <a:noFill/>
          </a:ln>
        </p:spPr>
        <p:txBody>
          <a:bodyPr>
            <a:noAutofit/>
          </a:bodyPr>
          <a:lstStyle/>
          <a:p>
            <a:pPr>
              <a:defRPr sz="2175" b="1">
                <a:solidFill>
                  <a:srgbClr val="FEF9E4"/>
                </a:solidFill>
                <a:latin typeface="Apfel Grotezk"/>
                <a:ea typeface="Apfel Grotezk"/>
                <a:cs typeface="Apfel Grotezk"/>
              </a:defRPr>
            </a:pPr>
            <a:r>
              <a:rPr sz="2175" b="1" u="sng" dirty="0">
                <a:solidFill>
                  <a:schemeClr val="bg1"/>
                </a:solidFill>
                <a:latin typeface="Apfel Grotezk"/>
                <a:ea typeface="Apfel Grotezk"/>
                <a:cs typeface="Apfel Grotezk"/>
                <a:hlinkClick r:id="rId3">
                  <a:extLst>
                    <a:ext uri="{A12FA001-AC4F-418D-AE19-62706E023703}">
                      <ahyp:hlinkClr xmlns:ahyp="http://schemas.microsoft.com/office/drawing/2018/hyperlinkcolor" val="tx"/>
                    </a:ext>
                  </a:extLst>
                </a:hlinkClick>
              </a:rPr>
              <a:t>coen.at/mapexport</a:t>
            </a:r>
          </a:p>
        </p:txBody>
      </p:sp>
      <p:sp>
        <p:nvSpPr>
          <p:cNvPr id="6" name="Rectangle 5">
            <a:extLst>
              <a:ext uri="{FF2B5EF4-FFF2-40B4-BE49-F238E27FC236}">
                <a16:creationId xmlns:a16="http://schemas.microsoft.com/office/drawing/2014/main" id="{F06C7D5E-7A17-4B89-9C5B-780A239463C2}"/>
              </a:ext>
            </a:extLst>
          </p:cNvPr>
          <p:cNvSpPr>
            <a:spLocks noGrp="1"/>
          </p:cNvSpPr>
          <p:nvPr/>
        </p:nvSpPr>
        <p:spPr>
          <a:xfrm>
            <a:off x="457200" y="1514475"/>
            <a:ext cx="7029450" cy="438150"/>
          </a:xfrm>
          <a:prstGeom prst="rect">
            <a:avLst/>
          </a:prstGeom>
          <a:noFill/>
          <a:ln w="0">
            <a:noFill/>
          </a:ln>
        </p:spPr>
        <p:txBody>
          <a:bodyPr>
            <a:noAutofit/>
          </a:bodyPr>
          <a:lstStyle/>
          <a:p>
            <a:pPr>
              <a:defRPr sz="2025" b="1">
                <a:solidFill>
                  <a:srgbClr val="FEF9E4"/>
                </a:solidFill>
                <a:latin typeface="Apfel Grotezk"/>
                <a:ea typeface="Apfel Grotezk"/>
                <a:cs typeface="Apfel Grotezk"/>
              </a:defRPr>
            </a:pPr>
            <a:endParaRPr sz="2025" b="1" dirty="0">
              <a:solidFill>
                <a:srgbClr val="FEF9E4"/>
              </a:solidFill>
              <a:latin typeface="Apfel Grotezk"/>
              <a:ea typeface="Apfel Grotezk"/>
              <a:cs typeface="Apfel Grotezk"/>
            </a:endParaRPr>
          </a:p>
        </p:txBody>
      </p:sp>
      <p:sp>
        <p:nvSpPr>
          <p:cNvPr id="7" name="Rectangle 6">
            <a:extLst>
              <a:ext uri="{FF2B5EF4-FFF2-40B4-BE49-F238E27FC236}">
                <a16:creationId xmlns:a16="http://schemas.microsoft.com/office/drawing/2014/main" id="{69C583B5-3C16-41E1-92CD-6E1C056CEC7C}"/>
              </a:ext>
            </a:extLst>
          </p:cNvPr>
          <p:cNvSpPr>
            <a:spLocks noGrp="1"/>
          </p:cNvSpPr>
          <p:nvPr/>
        </p:nvSpPr>
        <p:spPr>
          <a:xfrm>
            <a:off x="7962900" y="1514475"/>
            <a:ext cx="3771900" cy="438150"/>
          </a:xfrm>
          <a:prstGeom prst="rect">
            <a:avLst/>
          </a:prstGeom>
          <a:noFill/>
          <a:ln w="0">
            <a:noFill/>
          </a:ln>
        </p:spPr>
        <p:txBody>
          <a:bodyPr>
            <a:noAutofit/>
          </a:bodyPr>
          <a:lstStyle/>
          <a:p>
            <a:pPr>
              <a:defRPr sz="2025" b="1">
                <a:solidFill>
                  <a:srgbClr val="FEF9E4"/>
                </a:solidFill>
                <a:latin typeface="Apfel Grotezk"/>
                <a:ea typeface="Apfel Grotezk"/>
                <a:cs typeface="Apfel Grotezk"/>
              </a:defRPr>
            </a:pPr>
            <a:r>
              <a:rPr sz="2025" b="1">
                <a:solidFill>
                  <a:srgbClr val="FEF9E4"/>
                </a:solidFill>
                <a:latin typeface="Apfel Grotezk"/>
                <a:ea typeface="Apfel Grotezk"/>
                <a:cs typeface="Apfel Grotezk"/>
              </a:rPr>
              <a:t>IF YOU GET STUCK</a:t>
            </a:r>
          </a:p>
        </p:txBody>
      </p:sp>
      <p:sp>
        <p:nvSpPr>
          <p:cNvPr id="8" name="Rectangle 7">
            <a:extLst>
              <a:ext uri="{FF2B5EF4-FFF2-40B4-BE49-F238E27FC236}">
                <a16:creationId xmlns:a16="http://schemas.microsoft.com/office/drawing/2014/main" id="{9D3B05FB-69ED-41EA-A7FA-F37D4B7981BB}"/>
              </a:ext>
            </a:extLst>
          </p:cNvPr>
          <p:cNvSpPr>
            <a:spLocks noGrp="1"/>
          </p:cNvSpPr>
          <p:nvPr/>
        </p:nvSpPr>
        <p:spPr>
          <a:xfrm>
            <a:off x="7629525" y="1609725"/>
            <a:ext cx="19050" cy="3895725"/>
          </a:xfrm>
          <a:prstGeom prst="rect">
            <a:avLst/>
          </a:prstGeom>
          <a:solidFill>
            <a:srgbClr val="FEF9E4"/>
          </a:solidFill>
          <a:ln w="0">
            <a:noFill/>
          </a:ln>
        </p:spPr>
        <p:txBody>
          <a:bodyPr/>
          <a:lstStyle/>
          <a:p>
            <a:endParaRPr lang="en-US"/>
          </a:p>
        </p:txBody>
      </p:sp>
      <p:sp>
        <p:nvSpPr>
          <p:cNvPr id="9" name="Rectangle 8">
            <a:extLst>
              <a:ext uri="{FF2B5EF4-FFF2-40B4-BE49-F238E27FC236}">
                <a16:creationId xmlns:a16="http://schemas.microsoft.com/office/drawing/2014/main" id="{0B604DB0-4280-4210-946A-DDA64BDFB77F}"/>
              </a:ext>
            </a:extLst>
          </p:cNvPr>
          <p:cNvSpPr>
            <a:spLocks noGrp="1"/>
          </p:cNvSpPr>
          <p:nvPr/>
        </p:nvSpPr>
        <p:spPr>
          <a:xfrm>
            <a:off x="457200" y="2028825"/>
            <a:ext cx="619125" cy="476250"/>
          </a:xfrm>
          <a:prstGeom prst="rect">
            <a:avLst/>
          </a:prstGeom>
          <a:noFill/>
          <a:ln w="0">
            <a:noFill/>
          </a:ln>
        </p:spPr>
        <p:txBody>
          <a:bodyPr>
            <a:noAutofit/>
          </a:bodyPr>
          <a:lstStyle/>
          <a:p>
            <a:pPr>
              <a:defRPr sz="2550" b="0">
                <a:solidFill>
                  <a:srgbClr val="FEF9E4"/>
                </a:solidFill>
                <a:latin typeface="Mayonnaise Black"/>
                <a:ea typeface="Mayonnaise Black"/>
                <a:cs typeface="Mayonnaise Black"/>
              </a:defRPr>
            </a:pPr>
            <a:r>
              <a:rPr sz="2550" b="0">
                <a:solidFill>
                  <a:srgbClr val="FEF9E4"/>
                </a:solidFill>
                <a:latin typeface="Mayonnaise Black"/>
                <a:ea typeface="Mayonnaise Black"/>
                <a:cs typeface="Mayonnaise Black"/>
              </a:rPr>
              <a:t>01</a:t>
            </a:r>
          </a:p>
        </p:txBody>
      </p:sp>
      <p:sp>
        <p:nvSpPr>
          <p:cNvPr id="10" name="Rectangle 9">
            <a:extLst>
              <a:ext uri="{FF2B5EF4-FFF2-40B4-BE49-F238E27FC236}">
                <a16:creationId xmlns:a16="http://schemas.microsoft.com/office/drawing/2014/main" id="{5E96EFBA-302C-465E-90EE-AB9F9AF32724}"/>
              </a:ext>
            </a:extLst>
          </p:cNvPr>
          <p:cNvSpPr>
            <a:spLocks noGrp="1"/>
          </p:cNvSpPr>
          <p:nvPr/>
        </p:nvSpPr>
        <p:spPr>
          <a:xfrm>
            <a:off x="1133475" y="2028825"/>
            <a:ext cx="6343650" cy="409575"/>
          </a:xfrm>
          <a:prstGeom prst="rect">
            <a:avLst/>
          </a:prstGeom>
          <a:noFill/>
          <a:ln w="0">
            <a:noFill/>
          </a:ln>
        </p:spPr>
        <p:txBody>
          <a:bodyPr>
            <a:noAutofit/>
          </a:bodyPr>
          <a:lstStyle/>
          <a:p>
            <a:pPr>
              <a:defRPr sz="2100" b="1">
                <a:solidFill>
                  <a:srgbClr val="FEF9E4"/>
                </a:solidFill>
                <a:latin typeface="Apfel Grotezk"/>
                <a:ea typeface="Apfel Grotezk"/>
                <a:cs typeface="Apfel Grotezk"/>
              </a:defRPr>
            </a:pPr>
            <a:r>
              <a:rPr sz="2100" b="1">
                <a:solidFill>
                  <a:srgbClr val="FEF9E4"/>
                </a:solidFill>
                <a:latin typeface="Apfel Grotezk"/>
                <a:ea typeface="Apfel Grotezk"/>
                <a:cs typeface="Apfel Grotezk"/>
              </a:rPr>
              <a:t>Export a small area</a:t>
            </a:r>
          </a:p>
        </p:txBody>
      </p:sp>
      <p:sp>
        <p:nvSpPr>
          <p:cNvPr id="11" name="Rectangle 10">
            <a:extLst>
              <a:ext uri="{FF2B5EF4-FFF2-40B4-BE49-F238E27FC236}">
                <a16:creationId xmlns:a16="http://schemas.microsoft.com/office/drawing/2014/main" id="{FC8848BC-6CCC-491A-9763-20FAFF972B48}"/>
              </a:ext>
            </a:extLst>
          </p:cNvPr>
          <p:cNvSpPr>
            <a:spLocks noGrp="1"/>
          </p:cNvSpPr>
          <p:nvPr/>
        </p:nvSpPr>
        <p:spPr>
          <a:xfrm>
            <a:off x="1133475" y="2428875"/>
            <a:ext cx="6276975" cy="628650"/>
          </a:xfrm>
          <a:prstGeom prst="rect">
            <a:avLst/>
          </a:prstGeom>
          <a:noFill/>
          <a:ln w="0">
            <a:noFill/>
          </a:ln>
        </p:spPr>
        <p:txBody>
          <a:bodyPr>
            <a:noAutofit/>
          </a:bodyPr>
          <a:lstStyle/>
          <a:p>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Open the SVG in Illustrator or Inkscape.</a:t>
            </a:r>
          </a:p>
        </p:txBody>
      </p:sp>
      <p:sp>
        <p:nvSpPr>
          <p:cNvPr id="12" name="Rectangle 11">
            <a:extLst>
              <a:ext uri="{FF2B5EF4-FFF2-40B4-BE49-F238E27FC236}">
                <a16:creationId xmlns:a16="http://schemas.microsoft.com/office/drawing/2014/main" id="{4649209D-609F-490B-AA8C-C8CF56D394F5}"/>
              </a:ext>
            </a:extLst>
          </p:cNvPr>
          <p:cNvSpPr>
            <a:spLocks noGrp="1"/>
          </p:cNvSpPr>
          <p:nvPr/>
        </p:nvSpPr>
        <p:spPr>
          <a:xfrm>
            <a:off x="457200" y="2933700"/>
            <a:ext cx="619125" cy="476250"/>
          </a:xfrm>
          <a:prstGeom prst="rect">
            <a:avLst/>
          </a:prstGeom>
          <a:noFill/>
          <a:ln w="0">
            <a:noFill/>
          </a:ln>
        </p:spPr>
        <p:txBody>
          <a:bodyPr>
            <a:noAutofit/>
          </a:bodyPr>
          <a:lstStyle/>
          <a:p>
            <a:pPr>
              <a:defRPr sz="2550" b="0">
                <a:solidFill>
                  <a:srgbClr val="FEF9E4"/>
                </a:solidFill>
                <a:latin typeface="Mayonnaise Black"/>
                <a:ea typeface="Mayonnaise Black"/>
                <a:cs typeface="Mayonnaise Black"/>
              </a:defRPr>
            </a:pPr>
            <a:r>
              <a:rPr sz="2550" b="0">
                <a:solidFill>
                  <a:srgbClr val="FEF9E4"/>
                </a:solidFill>
                <a:latin typeface="Mayonnaise Black"/>
                <a:ea typeface="Mayonnaise Black"/>
                <a:cs typeface="Mayonnaise Black"/>
              </a:rPr>
              <a:t>02</a:t>
            </a:r>
          </a:p>
        </p:txBody>
      </p:sp>
      <p:sp>
        <p:nvSpPr>
          <p:cNvPr id="13" name="Rectangle 12">
            <a:extLst>
              <a:ext uri="{FF2B5EF4-FFF2-40B4-BE49-F238E27FC236}">
                <a16:creationId xmlns:a16="http://schemas.microsoft.com/office/drawing/2014/main" id="{0300B703-FEC7-43E2-B08D-8061E49B60EB}"/>
              </a:ext>
            </a:extLst>
          </p:cNvPr>
          <p:cNvSpPr>
            <a:spLocks noGrp="1"/>
          </p:cNvSpPr>
          <p:nvPr/>
        </p:nvSpPr>
        <p:spPr>
          <a:xfrm>
            <a:off x="1133475" y="2933700"/>
            <a:ext cx="6343650" cy="409575"/>
          </a:xfrm>
          <a:prstGeom prst="rect">
            <a:avLst/>
          </a:prstGeom>
          <a:noFill/>
          <a:ln w="0">
            <a:noFill/>
          </a:ln>
        </p:spPr>
        <p:txBody>
          <a:bodyPr>
            <a:noAutofit/>
          </a:bodyPr>
          <a:lstStyle/>
          <a:p>
            <a:pPr>
              <a:defRPr sz="2100" b="1">
                <a:solidFill>
                  <a:srgbClr val="FEF9E4"/>
                </a:solidFill>
                <a:latin typeface="Apfel Grotezk"/>
                <a:ea typeface="Apfel Grotezk"/>
                <a:cs typeface="Apfel Grotezk"/>
              </a:defRPr>
            </a:pPr>
            <a:r>
              <a:rPr sz="2100" b="1" dirty="0" err="1">
                <a:solidFill>
                  <a:srgbClr val="FEF9E4"/>
                </a:solidFill>
                <a:latin typeface="Apfel Grotezk"/>
                <a:ea typeface="Apfel Grotezk"/>
                <a:cs typeface="Apfel Grotezk"/>
              </a:rPr>
              <a:t>Recolour</a:t>
            </a:r>
            <a:r>
              <a:rPr sz="2100" b="1" dirty="0">
                <a:solidFill>
                  <a:srgbClr val="FEF9E4"/>
                </a:solidFill>
                <a:latin typeface="Apfel Grotezk"/>
                <a:ea typeface="Apfel Grotezk"/>
                <a:cs typeface="Apfel Grotezk"/>
              </a:rPr>
              <a:t> all city blocks</a:t>
            </a:r>
          </a:p>
        </p:txBody>
      </p:sp>
      <p:sp>
        <p:nvSpPr>
          <p:cNvPr id="14" name="Rectangle 13">
            <a:extLst>
              <a:ext uri="{FF2B5EF4-FFF2-40B4-BE49-F238E27FC236}">
                <a16:creationId xmlns:a16="http://schemas.microsoft.com/office/drawing/2014/main" id="{6364A113-E7D0-4EE7-82EB-FA0D9BED97F0}"/>
              </a:ext>
            </a:extLst>
          </p:cNvPr>
          <p:cNvSpPr>
            <a:spLocks noGrp="1"/>
          </p:cNvSpPr>
          <p:nvPr/>
        </p:nvSpPr>
        <p:spPr>
          <a:xfrm>
            <a:off x="1133475" y="3333750"/>
            <a:ext cx="6276975" cy="628650"/>
          </a:xfrm>
          <a:prstGeom prst="rect">
            <a:avLst/>
          </a:prstGeom>
          <a:noFill/>
          <a:ln w="0">
            <a:noFill/>
          </a:ln>
        </p:spPr>
        <p:txBody>
          <a:bodyPr>
            <a:noAutofit/>
          </a:bodyPr>
          <a:lstStyle/>
          <a:p>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Select the block paths together. Keep roads</a:t>
            </a:r>
          </a:p>
          <a:p>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and water unchanged.</a:t>
            </a:r>
          </a:p>
        </p:txBody>
      </p:sp>
      <p:sp>
        <p:nvSpPr>
          <p:cNvPr id="15" name="Rectangle 14">
            <a:extLst>
              <a:ext uri="{FF2B5EF4-FFF2-40B4-BE49-F238E27FC236}">
                <a16:creationId xmlns:a16="http://schemas.microsoft.com/office/drawing/2014/main" id="{98792274-7ACD-4102-B73F-40FD2D7EAE11}"/>
              </a:ext>
            </a:extLst>
          </p:cNvPr>
          <p:cNvSpPr>
            <a:spLocks noGrp="1"/>
          </p:cNvSpPr>
          <p:nvPr/>
        </p:nvSpPr>
        <p:spPr>
          <a:xfrm>
            <a:off x="457200" y="3876675"/>
            <a:ext cx="619125" cy="476250"/>
          </a:xfrm>
          <a:prstGeom prst="rect">
            <a:avLst/>
          </a:prstGeom>
          <a:noFill/>
          <a:ln w="0">
            <a:noFill/>
          </a:ln>
        </p:spPr>
        <p:txBody>
          <a:bodyPr>
            <a:noAutofit/>
          </a:bodyPr>
          <a:lstStyle/>
          <a:p>
            <a:pPr>
              <a:defRPr sz="2550" b="0">
                <a:solidFill>
                  <a:srgbClr val="FEF9E4"/>
                </a:solidFill>
                <a:latin typeface="Mayonnaise Black"/>
                <a:ea typeface="Mayonnaise Black"/>
                <a:cs typeface="Mayonnaise Black"/>
              </a:defRPr>
            </a:pPr>
            <a:r>
              <a:rPr sz="2550" b="0">
                <a:solidFill>
                  <a:srgbClr val="FEF9E4"/>
                </a:solidFill>
                <a:latin typeface="Mayonnaise Black"/>
                <a:ea typeface="Mayonnaise Black"/>
                <a:cs typeface="Mayonnaise Black"/>
              </a:rPr>
              <a:t>03</a:t>
            </a:r>
          </a:p>
        </p:txBody>
      </p:sp>
      <p:sp>
        <p:nvSpPr>
          <p:cNvPr id="16" name="Rectangle 15">
            <a:extLst>
              <a:ext uri="{FF2B5EF4-FFF2-40B4-BE49-F238E27FC236}">
                <a16:creationId xmlns:a16="http://schemas.microsoft.com/office/drawing/2014/main" id="{A3952EA3-61F3-444D-8163-71D19E530BB1}"/>
              </a:ext>
            </a:extLst>
          </p:cNvPr>
          <p:cNvSpPr>
            <a:spLocks noGrp="1"/>
          </p:cNvSpPr>
          <p:nvPr/>
        </p:nvSpPr>
        <p:spPr>
          <a:xfrm>
            <a:off x="1133475" y="3876675"/>
            <a:ext cx="6343650" cy="409575"/>
          </a:xfrm>
          <a:prstGeom prst="rect">
            <a:avLst/>
          </a:prstGeom>
          <a:noFill/>
          <a:ln w="0">
            <a:noFill/>
          </a:ln>
        </p:spPr>
        <p:txBody>
          <a:bodyPr>
            <a:noAutofit/>
          </a:bodyPr>
          <a:lstStyle/>
          <a:p>
            <a:pPr>
              <a:defRPr sz="2100" b="1">
                <a:solidFill>
                  <a:srgbClr val="FEF9E4"/>
                </a:solidFill>
                <a:latin typeface="Apfel Grotezk"/>
                <a:ea typeface="Apfel Grotezk"/>
                <a:cs typeface="Apfel Grotezk"/>
              </a:defRPr>
            </a:pPr>
            <a:r>
              <a:rPr sz="2100" b="1">
                <a:solidFill>
                  <a:srgbClr val="FEF9E4"/>
                </a:solidFill>
                <a:latin typeface="Apfel Grotezk"/>
                <a:ea typeface="Apfel Grotezk"/>
                <a:cs typeface="Apfel Grotezk"/>
              </a:rPr>
              <a:t>Explore the structure</a:t>
            </a:r>
          </a:p>
        </p:txBody>
      </p:sp>
      <p:sp>
        <p:nvSpPr>
          <p:cNvPr id="17" name="Rectangle 16">
            <a:extLst>
              <a:ext uri="{FF2B5EF4-FFF2-40B4-BE49-F238E27FC236}">
                <a16:creationId xmlns:a16="http://schemas.microsoft.com/office/drawing/2014/main" id="{D32C33A2-9249-45BE-9C6F-9508BD34338D}"/>
              </a:ext>
            </a:extLst>
          </p:cNvPr>
          <p:cNvSpPr>
            <a:spLocks noGrp="1"/>
          </p:cNvSpPr>
          <p:nvPr/>
        </p:nvSpPr>
        <p:spPr>
          <a:xfrm>
            <a:off x="1133475" y="4276725"/>
            <a:ext cx="6276975" cy="628650"/>
          </a:xfrm>
          <a:prstGeom prst="rect">
            <a:avLst/>
          </a:prstGeom>
          <a:noFill/>
          <a:ln w="0">
            <a:noFill/>
          </a:ln>
        </p:spPr>
        <p:txBody>
          <a:bodyPr>
            <a:noAutofit/>
          </a:bodyPr>
          <a:lstStyle/>
          <a:p>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Hide a layer, restore it, then find a street label.</a:t>
            </a:r>
          </a:p>
        </p:txBody>
      </p:sp>
      <p:sp>
        <p:nvSpPr>
          <p:cNvPr id="18" name="Rectangle 17">
            <a:extLst>
              <a:ext uri="{FF2B5EF4-FFF2-40B4-BE49-F238E27FC236}">
                <a16:creationId xmlns:a16="http://schemas.microsoft.com/office/drawing/2014/main" id="{5955203C-20CD-4A19-ACD7-AF081B69595D}"/>
              </a:ext>
            </a:extLst>
          </p:cNvPr>
          <p:cNvSpPr>
            <a:spLocks noGrp="1"/>
          </p:cNvSpPr>
          <p:nvPr/>
        </p:nvSpPr>
        <p:spPr>
          <a:xfrm>
            <a:off x="457200" y="4781550"/>
            <a:ext cx="619125" cy="476250"/>
          </a:xfrm>
          <a:prstGeom prst="rect">
            <a:avLst/>
          </a:prstGeom>
          <a:noFill/>
          <a:ln w="0">
            <a:noFill/>
          </a:ln>
        </p:spPr>
        <p:txBody>
          <a:bodyPr>
            <a:noAutofit/>
          </a:bodyPr>
          <a:lstStyle/>
          <a:p>
            <a:pPr>
              <a:defRPr sz="2550" b="0">
                <a:solidFill>
                  <a:srgbClr val="FEF9E4"/>
                </a:solidFill>
                <a:latin typeface="Mayonnaise Black"/>
                <a:ea typeface="Mayonnaise Black"/>
                <a:cs typeface="Mayonnaise Black"/>
              </a:defRPr>
            </a:pPr>
            <a:r>
              <a:rPr sz="2550" b="0">
                <a:solidFill>
                  <a:srgbClr val="FEF9E4"/>
                </a:solidFill>
                <a:latin typeface="Mayonnaise Black"/>
                <a:ea typeface="Mayonnaise Black"/>
                <a:cs typeface="Mayonnaise Black"/>
              </a:rPr>
              <a:t>04</a:t>
            </a:r>
          </a:p>
        </p:txBody>
      </p:sp>
      <p:sp>
        <p:nvSpPr>
          <p:cNvPr id="19" name="Rectangle 18">
            <a:extLst>
              <a:ext uri="{FF2B5EF4-FFF2-40B4-BE49-F238E27FC236}">
                <a16:creationId xmlns:a16="http://schemas.microsoft.com/office/drawing/2014/main" id="{403F2497-7E87-49C5-8E17-1357CF7F2789}"/>
              </a:ext>
            </a:extLst>
          </p:cNvPr>
          <p:cNvSpPr>
            <a:spLocks noGrp="1"/>
          </p:cNvSpPr>
          <p:nvPr/>
        </p:nvSpPr>
        <p:spPr>
          <a:xfrm>
            <a:off x="1133475" y="4781550"/>
            <a:ext cx="6343650" cy="409575"/>
          </a:xfrm>
          <a:prstGeom prst="rect">
            <a:avLst/>
          </a:prstGeom>
          <a:noFill/>
          <a:ln w="0">
            <a:noFill/>
          </a:ln>
        </p:spPr>
        <p:txBody>
          <a:bodyPr>
            <a:noAutofit/>
          </a:bodyPr>
          <a:lstStyle/>
          <a:p>
            <a:pPr>
              <a:defRPr sz="2100" b="1">
                <a:solidFill>
                  <a:srgbClr val="FEF9E4"/>
                </a:solidFill>
                <a:latin typeface="Apfel Grotezk"/>
                <a:ea typeface="Apfel Grotezk"/>
                <a:cs typeface="Apfel Grotezk"/>
              </a:defRPr>
            </a:pPr>
            <a:r>
              <a:rPr sz="2100" b="1">
                <a:solidFill>
                  <a:srgbClr val="FEF9E4"/>
                </a:solidFill>
                <a:latin typeface="Apfel Grotezk"/>
                <a:ea typeface="Apfel Grotezk"/>
                <a:cs typeface="Apfel Grotezk"/>
              </a:rPr>
              <a:t>Save a working copy</a:t>
            </a:r>
          </a:p>
        </p:txBody>
      </p:sp>
      <p:sp>
        <p:nvSpPr>
          <p:cNvPr id="20" name="Rectangle 19">
            <a:extLst>
              <a:ext uri="{FF2B5EF4-FFF2-40B4-BE49-F238E27FC236}">
                <a16:creationId xmlns:a16="http://schemas.microsoft.com/office/drawing/2014/main" id="{F12E72D4-B250-4BCE-A682-75569286C400}"/>
              </a:ext>
            </a:extLst>
          </p:cNvPr>
          <p:cNvSpPr>
            <a:spLocks noGrp="1"/>
          </p:cNvSpPr>
          <p:nvPr/>
        </p:nvSpPr>
        <p:spPr>
          <a:xfrm>
            <a:off x="1133475" y="5181600"/>
            <a:ext cx="6276975" cy="628650"/>
          </a:xfrm>
          <a:prstGeom prst="rect">
            <a:avLst/>
          </a:prstGeom>
          <a:noFill/>
          <a:ln w="0">
            <a:noFill/>
          </a:ln>
        </p:spPr>
        <p:txBody>
          <a:bodyPr>
            <a:noAutofit/>
          </a:bodyPr>
          <a:lstStyle/>
          <a:p>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Keep one observation to share with the group.</a:t>
            </a:r>
          </a:p>
        </p:txBody>
      </p:sp>
      <p:sp>
        <p:nvSpPr>
          <p:cNvPr id="21" name="Rectangle 20">
            <a:extLst>
              <a:ext uri="{FF2B5EF4-FFF2-40B4-BE49-F238E27FC236}">
                <a16:creationId xmlns:a16="http://schemas.microsoft.com/office/drawing/2014/main" id="{7BA8C781-9267-4C58-A5B6-E616A48DFA0D}"/>
              </a:ext>
            </a:extLst>
          </p:cNvPr>
          <p:cNvSpPr>
            <a:spLocks noGrp="1"/>
          </p:cNvSpPr>
          <p:nvPr/>
        </p:nvSpPr>
        <p:spPr>
          <a:xfrm>
            <a:off x="7962900" y="2028825"/>
            <a:ext cx="3771900" cy="381000"/>
          </a:xfrm>
          <a:prstGeom prst="rect">
            <a:avLst/>
          </a:prstGeom>
          <a:noFill/>
          <a:ln w="0">
            <a:noFill/>
          </a:ln>
        </p:spPr>
        <p:txBody>
          <a:bodyPr>
            <a:noAutofit/>
          </a:bodyPr>
          <a:lstStyle/>
          <a:p>
            <a:pPr>
              <a:defRPr sz="1950" b="1">
                <a:solidFill>
                  <a:srgbClr val="FEF9E4"/>
                </a:solidFill>
                <a:latin typeface="Apfel Grotezk"/>
                <a:ea typeface="Apfel Grotezk"/>
                <a:cs typeface="Apfel Grotezk"/>
              </a:defRPr>
            </a:pPr>
            <a:r>
              <a:rPr sz="1950" b="1">
                <a:solidFill>
                  <a:srgbClr val="FEF9E4"/>
                </a:solidFill>
                <a:latin typeface="Apfel Grotezk"/>
                <a:ea typeface="Apfel Grotezk"/>
                <a:cs typeface="Apfel Grotezk"/>
              </a:rPr>
              <a:t>Export taking a while?</a:t>
            </a:r>
          </a:p>
        </p:txBody>
      </p:sp>
      <p:sp>
        <p:nvSpPr>
          <p:cNvPr id="22" name="Rectangle 21">
            <a:extLst>
              <a:ext uri="{FF2B5EF4-FFF2-40B4-BE49-F238E27FC236}">
                <a16:creationId xmlns:a16="http://schemas.microsoft.com/office/drawing/2014/main" id="{0FE347F3-C16F-4A11-A9DE-3061F5DBF14E}"/>
              </a:ext>
            </a:extLst>
          </p:cNvPr>
          <p:cNvSpPr>
            <a:spLocks noGrp="1"/>
          </p:cNvSpPr>
          <p:nvPr/>
        </p:nvSpPr>
        <p:spPr>
          <a:xfrm>
            <a:off x="7962900" y="2419350"/>
            <a:ext cx="3771900" cy="685800"/>
          </a:xfrm>
          <a:prstGeom prst="rect">
            <a:avLst/>
          </a:prstGeom>
          <a:noFill/>
          <a:ln w="0">
            <a:noFill/>
          </a:ln>
        </p:spPr>
        <p:txBody>
          <a:bodyPr>
            <a:noAutofit/>
          </a:bodyPr>
          <a:lstStyle/>
          <a:p>
            <a:pPr>
              <a:defRPr sz="1725" b="0">
                <a:solidFill>
                  <a:srgbClr val="FEF9E4"/>
                </a:solidFill>
                <a:latin typeface="Apfel Grotezk"/>
                <a:ea typeface="Apfel Grotezk"/>
                <a:cs typeface="Apfel Grotezk"/>
              </a:defRPr>
            </a:pPr>
            <a:r>
              <a:rPr sz="1725" b="0" dirty="0">
                <a:solidFill>
                  <a:srgbClr val="FEF9E4"/>
                </a:solidFill>
                <a:latin typeface="Apfel Grotezk"/>
                <a:ea typeface="Apfel Grotezk"/>
                <a:cs typeface="Apfel Grotezk"/>
              </a:rPr>
              <a:t>Watch progress. Try a smaller area</a:t>
            </a:r>
          </a:p>
          <a:p>
            <a:pPr>
              <a:defRPr sz="1725" b="0">
                <a:solidFill>
                  <a:srgbClr val="FEF9E4"/>
                </a:solidFill>
                <a:latin typeface="Apfel Grotezk"/>
                <a:ea typeface="Apfel Grotezk"/>
                <a:cs typeface="Apfel Grotezk"/>
              </a:defRPr>
            </a:pPr>
            <a:r>
              <a:rPr sz="1725" b="0" dirty="0">
                <a:solidFill>
                  <a:srgbClr val="FEF9E4"/>
                </a:solidFill>
                <a:latin typeface="Apfel Grotezk"/>
                <a:ea typeface="Apfel Grotezk"/>
                <a:cs typeface="Apfel Grotezk"/>
              </a:rPr>
              <a:t>for your next export.</a:t>
            </a:r>
          </a:p>
        </p:txBody>
      </p:sp>
      <p:sp>
        <p:nvSpPr>
          <p:cNvPr id="23" name="Rectangle 22">
            <a:extLst>
              <a:ext uri="{FF2B5EF4-FFF2-40B4-BE49-F238E27FC236}">
                <a16:creationId xmlns:a16="http://schemas.microsoft.com/office/drawing/2014/main" id="{0DEFABD4-67B8-4E9D-99CF-0634273135B6}"/>
              </a:ext>
            </a:extLst>
          </p:cNvPr>
          <p:cNvSpPr>
            <a:spLocks noGrp="1"/>
          </p:cNvSpPr>
          <p:nvPr/>
        </p:nvSpPr>
        <p:spPr>
          <a:xfrm>
            <a:off x="7962900" y="3088586"/>
            <a:ext cx="3771900" cy="381000"/>
          </a:xfrm>
          <a:prstGeom prst="rect">
            <a:avLst/>
          </a:prstGeom>
          <a:noFill/>
          <a:ln w="0">
            <a:noFill/>
          </a:ln>
        </p:spPr>
        <p:txBody>
          <a:bodyPr>
            <a:noAutofit/>
          </a:bodyPr>
          <a:lstStyle/>
          <a:p>
            <a:pPr>
              <a:defRPr sz="1950" b="1">
                <a:solidFill>
                  <a:srgbClr val="FEF9E4"/>
                </a:solidFill>
                <a:latin typeface="Apfel Grotezk"/>
                <a:ea typeface="Apfel Grotezk"/>
                <a:cs typeface="Apfel Grotezk"/>
              </a:defRPr>
            </a:pPr>
            <a:r>
              <a:rPr lang="nl-NL" sz="1950" b="1" dirty="0">
                <a:solidFill>
                  <a:srgbClr val="FEF9E4"/>
                </a:solidFill>
                <a:latin typeface="Apfel Grotezk"/>
                <a:ea typeface="Apfel Grotezk"/>
                <a:cs typeface="Apfel Grotezk"/>
              </a:rPr>
              <a:t>Export </a:t>
            </a:r>
            <a:r>
              <a:rPr lang="nl-NL" sz="1950" b="1" dirty="0" err="1">
                <a:solidFill>
                  <a:srgbClr val="FEF9E4"/>
                </a:solidFill>
                <a:latin typeface="Apfel Grotezk"/>
                <a:ea typeface="Apfel Grotezk"/>
                <a:cs typeface="Apfel Grotezk"/>
              </a:rPr>
              <a:t>too</a:t>
            </a:r>
            <a:r>
              <a:rPr lang="nl-NL" sz="1950" b="1" dirty="0">
                <a:solidFill>
                  <a:srgbClr val="FEF9E4"/>
                </a:solidFill>
                <a:latin typeface="Apfel Grotezk"/>
                <a:ea typeface="Apfel Grotezk"/>
                <a:cs typeface="Apfel Grotezk"/>
              </a:rPr>
              <a:t> slow? </a:t>
            </a:r>
            <a:r>
              <a:rPr sz="1950" b="1" dirty="0" err="1">
                <a:solidFill>
                  <a:srgbClr val="FEF9E4"/>
                </a:solidFill>
                <a:latin typeface="Apfel Grotezk"/>
                <a:ea typeface="Apfel Grotezk"/>
                <a:cs typeface="Apfel Grotezk"/>
              </a:rPr>
              <a:t>Practise</a:t>
            </a:r>
            <a:r>
              <a:rPr sz="1950" b="1" dirty="0">
                <a:solidFill>
                  <a:srgbClr val="FEF9E4"/>
                </a:solidFill>
                <a:latin typeface="Apfel Grotezk"/>
                <a:ea typeface="Apfel Grotezk"/>
                <a:cs typeface="Apfel Grotezk"/>
              </a:rPr>
              <a:t> with the Gent SVG:</a:t>
            </a:r>
          </a:p>
        </p:txBody>
      </p:sp>
      <p:sp>
        <p:nvSpPr>
          <p:cNvPr id="24" name="Rectangle 23">
            <a:extLst>
              <a:ext uri="{FF2B5EF4-FFF2-40B4-BE49-F238E27FC236}">
                <a16:creationId xmlns:a16="http://schemas.microsoft.com/office/drawing/2014/main" id="{484B4AAB-8B53-4AF1-B88B-BD213B1B0F9D}"/>
              </a:ext>
            </a:extLst>
          </p:cNvPr>
          <p:cNvSpPr>
            <a:spLocks noGrp="1"/>
          </p:cNvSpPr>
          <p:nvPr/>
        </p:nvSpPr>
        <p:spPr>
          <a:xfrm>
            <a:off x="7962900" y="3721374"/>
            <a:ext cx="3771900" cy="381000"/>
          </a:xfrm>
          <a:prstGeom prst="rect">
            <a:avLst/>
          </a:prstGeom>
          <a:noFill/>
          <a:ln w="0">
            <a:noFill/>
          </a:ln>
        </p:spPr>
        <p:txBody>
          <a:bodyPr>
            <a:noAutofit/>
          </a:bodyPr>
          <a:lstStyle/>
          <a:p>
            <a:pPr>
              <a:defRPr sz="2025" b="1">
                <a:solidFill>
                  <a:srgbClr val="FEF9E4"/>
                </a:solidFill>
                <a:latin typeface="Apfel Grotezk"/>
                <a:ea typeface="Apfel Grotezk"/>
                <a:cs typeface="Apfel Grotezk"/>
              </a:defRPr>
            </a:pPr>
            <a:r>
              <a:rPr sz="2025" u="sng" dirty="0">
                <a:solidFill>
                  <a:schemeClr val="bg1"/>
                </a:solidFill>
                <a:latin typeface="Apfel Grotezk"/>
                <a:ea typeface="Apfel Grotezk"/>
                <a:cs typeface="Apfel Grotezk"/>
                <a:hlinkClick r:id="rId4">
                  <a:extLst>
                    <a:ext uri="{A12FA001-AC4F-418D-AE19-62706E023703}">
                      <ahyp:hlinkClr xmlns:ahyp="http://schemas.microsoft.com/office/drawing/2018/hyperlinkcolor" val="tx"/>
                    </a:ext>
                  </a:extLst>
                </a:hlinkClick>
              </a:rPr>
              <a:t>coen.at/ghent.svg</a:t>
            </a:r>
          </a:p>
        </p:txBody>
      </p:sp>
      <p:sp>
        <p:nvSpPr>
          <p:cNvPr id="25" name="Rectangle 24">
            <a:extLst>
              <a:ext uri="{FF2B5EF4-FFF2-40B4-BE49-F238E27FC236}">
                <a16:creationId xmlns:a16="http://schemas.microsoft.com/office/drawing/2014/main" id="{FB2F8BDB-D49C-4BE8-8A33-498F18F24320}"/>
              </a:ext>
            </a:extLst>
          </p:cNvPr>
          <p:cNvSpPr>
            <a:spLocks noGrp="1"/>
          </p:cNvSpPr>
          <p:nvPr/>
        </p:nvSpPr>
        <p:spPr>
          <a:xfrm>
            <a:off x="7962900" y="4124325"/>
            <a:ext cx="3771900" cy="381000"/>
          </a:xfrm>
          <a:prstGeom prst="rect">
            <a:avLst/>
          </a:prstGeom>
          <a:noFill/>
          <a:ln w="0">
            <a:noFill/>
          </a:ln>
        </p:spPr>
        <p:txBody>
          <a:bodyPr>
            <a:noAutofit/>
          </a:bodyPr>
          <a:lstStyle/>
          <a:p>
            <a:pPr>
              <a:defRPr sz="1950" b="1">
                <a:solidFill>
                  <a:srgbClr val="FEF9E4"/>
                </a:solidFill>
                <a:latin typeface="Apfel Grotezk"/>
                <a:ea typeface="Apfel Grotezk"/>
                <a:cs typeface="Apfel Grotezk"/>
              </a:defRPr>
            </a:pPr>
            <a:r>
              <a:rPr sz="1950" b="1" dirty="0">
                <a:solidFill>
                  <a:srgbClr val="FEF9E4"/>
                </a:solidFill>
                <a:latin typeface="Apfel Grotezk"/>
                <a:ea typeface="Apfel Grotezk"/>
                <a:cs typeface="Apfel Grotezk"/>
              </a:rPr>
              <a:t>File looks unexpected?</a:t>
            </a:r>
          </a:p>
        </p:txBody>
      </p:sp>
      <p:sp>
        <p:nvSpPr>
          <p:cNvPr id="26" name="Rectangle 25">
            <a:extLst>
              <a:ext uri="{FF2B5EF4-FFF2-40B4-BE49-F238E27FC236}">
                <a16:creationId xmlns:a16="http://schemas.microsoft.com/office/drawing/2014/main" id="{E263B122-C310-4A66-814C-3589E04AC66D}"/>
              </a:ext>
            </a:extLst>
          </p:cNvPr>
          <p:cNvSpPr>
            <a:spLocks noGrp="1"/>
          </p:cNvSpPr>
          <p:nvPr/>
        </p:nvSpPr>
        <p:spPr>
          <a:xfrm>
            <a:off x="7962900" y="4514850"/>
            <a:ext cx="3771900" cy="666750"/>
          </a:xfrm>
          <a:prstGeom prst="rect">
            <a:avLst/>
          </a:prstGeom>
          <a:noFill/>
          <a:ln w="0">
            <a:noFill/>
          </a:ln>
        </p:spPr>
        <p:txBody>
          <a:bodyPr>
            <a:noAutofit/>
          </a:bodyPr>
          <a:lstStyle/>
          <a:p>
            <a:pPr>
              <a:defRPr sz="1725" b="0">
                <a:solidFill>
                  <a:srgbClr val="FEF9E4"/>
                </a:solidFill>
                <a:latin typeface="Apfel Grotezk"/>
                <a:ea typeface="Apfel Grotezk"/>
                <a:cs typeface="Apfel Grotezk"/>
              </a:defRPr>
            </a:pPr>
            <a:r>
              <a:rPr sz="1725" b="0">
                <a:solidFill>
                  <a:srgbClr val="FEF9E4"/>
                </a:solidFill>
                <a:latin typeface="Apfel Grotezk"/>
                <a:ea typeface="Apfel Grotezk"/>
                <a:cs typeface="Apfel Grotezk"/>
              </a:rPr>
              <a:t>Check SVG format, fonts and</a:t>
            </a:r>
          </a:p>
          <a:p>
            <a:pPr>
              <a:defRPr sz="1725" b="0">
                <a:solidFill>
                  <a:srgbClr val="FEF9E4"/>
                </a:solidFill>
                <a:latin typeface="Apfel Grotezk"/>
                <a:ea typeface="Apfel Grotezk"/>
                <a:cs typeface="Apfel Grotezk"/>
              </a:defRPr>
            </a:pPr>
            <a:r>
              <a:rPr sz="1725" b="0">
                <a:solidFill>
                  <a:srgbClr val="FEF9E4"/>
                </a:solidFill>
                <a:latin typeface="Apfel Grotezk"/>
                <a:ea typeface="Apfel Grotezk"/>
                <a:cs typeface="Apfel Grotezk"/>
              </a:rPr>
              <a:t>layer visibility.</a:t>
            </a:r>
          </a:p>
        </p:txBody>
      </p:sp>
      <p:sp>
        <p:nvSpPr>
          <p:cNvPr id="27" name="Rectangle 26">
            <a:extLst>
              <a:ext uri="{FF2B5EF4-FFF2-40B4-BE49-F238E27FC236}">
                <a16:creationId xmlns:a16="http://schemas.microsoft.com/office/drawing/2014/main" id="{11812290-469F-4702-947F-9FBCB0D7436D}"/>
              </a:ext>
            </a:extLst>
          </p:cNvPr>
          <p:cNvSpPr>
            <a:spLocks noGrp="1"/>
          </p:cNvSpPr>
          <p:nvPr/>
        </p:nvSpPr>
        <p:spPr>
          <a:xfrm>
            <a:off x="7962900" y="5200650"/>
            <a:ext cx="3771900" cy="552450"/>
          </a:xfrm>
          <a:prstGeom prst="rect">
            <a:avLst/>
          </a:prstGeom>
          <a:noFill/>
          <a:ln w="0">
            <a:noFill/>
          </a:ln>
        </p:spPr>
        <p:txBody>
          <a:bodyPr>
            <a:noAutofit/>
          </a:bodyPr>
          <a:lstStyle/>
          <a:p>
            <a:pPr>
              <a:defRPr sz="1575" b="0">
                <a:solidFill>
                  <a:srgbClr val="FEF9E4"/>
                </a:solidFill>
                <a:latin typeface="Apfel Grotezk"/>
                <a:ea typeface="Apfel Grotezk"/>
                <a:cs typeface="Apfel Grotezk"/>
              </a:defRPr>
            </a:pPr>
            <a:r>
              <a:rPr sz="1575" b="0">
                <a:solidFill>
                  <a:srgbClr val="FEF9E4"/>
                </a:solidFill>
                <a:latin typeface="Apfel Grotezk"/>
                <a:ea typeface="Apfel Grotezk"/>
                <a:cs typeface="Apfel Grotezk"/>
              </a:rPr>
              <a:t>Bug report: city + selected area</a:t>
            </a:r>
          </a:p>
          <a:p>
            <a:pPr>
              <a:defRPr sz="1575" b="0">
                <a:solidFill>
                  <a:srgbClr val="FEF9E4"/>
                </a:solidFill>
                <a:latin typeface="Apfel Grotezk"/>
                <a:ea typeface="Apfel Grotezk"/>
                <a:cs typeface="Apfel Grotezk"/>
              </a:defRPr>
            </a:pPr>
            <a:r>
              <a:rPr sz="1575" b="0">
                <a:solidFill>
                  <a:srgbClr val="FEF9E4"/>
                </a:solidFill>
                <a:latin typeface="Apfel Grotezk"/>
                <a:ea typeface="Apfel Grotezk"/>
                <a:cs typeface="Apfel Grotezk"/>
              </a:rPr>
              <a:t>+ editor + what you expected.</a:t>
            </a:r>
          </a:p>
        </p:txBody>
      </p:sp>
      <p:sp>
        <p:nvSpPr>
          <p:cNvPr id="28" name="Rectangle 27">
            <a:extLst>
              <a:ext uri="{FF2B5EF4-FFF2-40B4-BE49-F238E27FC236}">
                <a16:creationId xmlns:a16="http://schemas.microsoft.com/office/drawing/2014/main" id="{CB16CD9F-60A2-47CE-9104-80F737F48B37}"/>
              </a:ext>
            </a:extLst>
          </p:cNvPr>
          <p:cNvSpPr>
            <a:spLocks noGrp="1"/>
          </p:cNvSpPr>
          <p:nvPr/>
        </p:nvSpPr>
        <p:spPr>
          <a:xfrm>
            <a:off x="457200" y="5838825"/>
            <a:ext cx="11277600" cy="428625"/>
          </a:xfrm>
          <a:prstGeom prst="rect">
            <a:avLst/>
          </a:prstGeom>
          <a:solidFill>
            <a:srgbClr val="FEF9E4"/>
          </a:solidFill>
          <a:ln w="0">
            <a:noFill/>
          </a:ln>
        </p:spPr>
        <p:txBody>
          <a:bodyPr/>
          <a:lstStyle/>
          <a:p>
            <a:endParaRPr lang="en-US"/>
          </a:p>
        </p:txBody>
      </p:sp>
      <p:sp>
        <p:nvSpPr>
          <p:cNvPr id="29" name="Rectangle 28">
            <a:extLst>
              <a:ext uri="{FF2B5EF4-FFF2-40B4-BE49-F238E27FC236}">
                <a16:creationId xmlns:a16="http://schemas.microsoft.com/office/drawing/2014/main" id="{352BC211-499B-419D-A6C6-9C74B01A0E07}"/>
              </a:ext>
            </a:extLst>
          </p:cNvPr>
          <p:cNvSpPr>
            <a:spLocks noGrp="1"/>
          </p:cNvSpPr>
          <p:nvPr/>
        </p:nvSpPr>
        <p:spPr>
          <a:xfrm>
            <a:off x="600075" y="5876925"/>
            <a:ext cx="10915650" cy="371475"/>
          </a:xfrm>
          <a:prstGeom prst="rect">
            <a:avLst/>
          </a:prstGeom>
          <a:noFill/>
          <a:ln w="0">
            <a:noFill/>
          </a:ln>
        </p:spPr>
        <p:txBody>
          <a:bodyPr>
            <a:noAutofit/>
          </a:bodyPr>
          <a:lstStyle/>
          <a:p>
            <a:pPr>
              <a:defRPr sz="1950" b="1">
                <a:solidFill>
                  <a:srgbClr val="18180F"/>
                </a:solidFill>
                <a:latin typeface="Apfel Grotezk"/>
                <a:ea typeface="Apfel Grotezk"/>
                <a:cs typeface="Apfel Grotezk"/>
              </a:defRPr>
            </a:pPr>
            <a:r>
              <a:rPr sz="1950" b="1">
                <a:solidFill>
                  <a:srgbClr val="18180F"/>
                </a:solidFill>
                <a:latin typeface="Apfel Grotezk"/>
                <a:ea typeface="Apfel Grotezk"/>
                <a:cs typeface="Apfel Grotezk"/>
              </a:rPr>
              <a:t>Done early? Compare the result with a place you know well.</a:t>
            </a:r>
          </a:p>
        </p:txBody>
      </p:sp>
    </p:spTree>
    <p:extLst>
      <p:ext uri="{BB962C8B-B14F-4D97-AF65-F5344CB8AC3E}">
        <p14:creationId xmlns:p14="http://schemas.microsoft.com/office/powerpoint/2010/main" val="1668963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ECAB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B1EC9D-2F6B-4AE2-8D01-C96620B51184}"/>
              </a:ext>
            </a:extLst>
          </p:cNvPr>
          <p:cNvSpPr>
            <a:spLocks noGrp="1"/>
          </p:cNvSpPr>
          <p:nvPr/>
        </p:nvSpPr>
        <p:spPr>
          <a:xfrm>
            <a:off x="457200" y="238125"/>
            <a:ext cx="10820400" cy="285750"/>
          </a:xfrm>
          <a:prstGeom prst="rect">
            <a:avLst/>
          </a:prstGeom>
          <a:noFill/>
          <a:ln w="0">
            <a:noFill/>
          </a:ln>
        </p:spPr>
        <p:txBody>
          <a:bodyPr>
            <a:noAutofit/>
          </a:bodyPr>
          <a:lstStyle/>
          <a:p>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OPEN DISCUSSION</a:t>
            </a:r>
          </a:p>
        </p:txBody>
      </p:sp>
      <p:sp>
        <p:nvSpPr>
          <p:cNvPr id="2" name="Rectangle 1">
            <a:extLst>
              <a:ext uri="{FF2B5EF4-FFF2-40B4-BE49-F238E27FC236}">
                <a16:creationId xmlns:a16="http://schemas.microsoft.com/office/drawing/2014/main" id="{15BEB37E-D31B-439D-A6DC-2D8ABD135353}"/>
              </a:ext>
            </a:extLst>
          </p:cNvPr>
          <p:cNvSpPr>
            <a:spLocks noGrp="1"/>
          </p:cNvSpPr>
          <p:nvPr/>
        </p:nvSpPr>
        <p:spPr>
          <a:xfrm>
            <a:off x="457200" y="638175"/>
            <a:ext cx="11239500" cy="1066800"/>
          </a:xfrm>
          <a:prstGeom prst="rect">
            <a:avLst/>
          </a:prstGeom>
          <a:noFill/>
          <a:ln w="0">
            <a:noFill/>
          </a:ln>
        </p:spPr>
        <p:txBody>
          <a:bodyPr>
            <a:noAutofit/>
          </a:bodyPr>
          <a:lstStyle/>
          <a:p>
            <a:pPr>
              <a:defRPr sz="4125" b="0">
                <a:solidFill>
                  <a:srgbClr val="18180F"/>
                </a:solidFill>
                <a:latin typeface="Mayonnaise Black"/>
                <a:ea typeface="Mayonnaise Black"/>
                <a:cs typeface="Mayonnaise Black"/>
              </a:defRPr>
            </a:pPr>
            <a:r>
              <a:rPr sz="4125" b="0" dirty="0">
                <a:solidFill>
                  <a:srgbClr val="18180F"/>
                </a:solidFill>
                <a:latin typeface="Mayonnaise Black"/>
                <a:ea typeface="Mayonnaise Black"/>
                <a:cs typeface="Mayonnaise Black"/>
              </a:rPr>
              <a:t>WHAT SHOULD MAPEXPORT DO BETTER?</a:t>
            </a:r>
          </a:p>
        </p:txBody>
      </p:sp>
      <p:sp>
        <p:nvSpPr>
          <p:cNvPr id="3" name="Rectangle 2">
            <a:extLst>
              <a:ext uri="{FF2B5EF4-FFF2-40B4-BE49-F238E27FC236}">
                <a16:creationId xmlns:a16="http://schemas.microsoft.com/office/drawing/2014/main" id="{41915351-19E1-4606-8439-2FCCC45464D8}"/>
              </a:ext>
            </a:extLst>
          </p:cNvPr>
          <p:cNvSpPr>
            <a:spLocks noGrp="1"/>
          </p:cNvSpPr>
          <p:nvPr/>
        </p:nvSpPr>
        <p:spPr>
          <a:xfrm>
            <a:off x="457200" y="6429375"/>
            <a:ext cx="100012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Rectangle 3">
            <a:extLst>
              <a:ext uri="{FF2B5EF4-FFF2-40B4-BE49-F238E27FC236}">
                <a16:creationId xmlns:a16="http://schemas.microsoft.com/office/drawing/2014/main" id="{928B265D-BBC9-4F64-808A-992D26085A3F}"/>
              </a:ext>
            </a:extLst>
          </p:cNvPr>
          <p:cNvSpPr>
            <a:spLocks noGrp="1"/>
          </p:cNvSpPr>
          <p:nvPr/>
        </p:nvSpPr>
        <p:spPr>
          <a:xfrm>
            <a:off x="11144250" y="6429375"/>
            <a:ext cx="590550" cy="238125"/>
          </a:xfrm>
          <a:prstGeom prst="rect">
            <a:avLst/>
          </a:prstGeom>
          <a:noFill/>
          <a:ln w="0">
            <a:noFill/>
          </a:ln>
        </p:spPr>
        <p:txBody>
          <a:bodyPr>
            <a:noAutofit/>
          </a:bodyPr>
          <a:lstStyle/>
          <a:p>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12</a:t>
            </a:r>
          </a:p>
        </p:txBody>
      </p:sp>
      <p:sp>
        <p:nvSpPr>
          <p:cNvPr id="5" name="Rectangle 4">
            <a:extLst>
              <a:ext uri="{FF2B5EF4-FFF2-40B4-BE49-F238E27FC236}">
                <a16:creationId xmlns:a16="http://schemas.microsoft.com/office/drawing/2014/main" id="{DD8A6C38-4C4C-40D4-A701-6E487676A0F4}"/>
              </a:ext>
            </a:extLst>
          </p:cNvPr>
          <p:cNvSpPr>
            <a:spLocks noGrp="1"/>
          </p:cNvSpPr>
          <p:nvPr/>
        </p:nvSpPr>
        <p:spPr>
          <a:xfrm>
            <a:off x="457200" y="1952624"/>
            <a:ext cx="7381875" cy="4143375"/>
          </a:xfrm>
          <a:prstGeom prst="rect">
            <a:avLst/>
          </a:prstGeom>
          <a:noFill/>
          <a:ln w="0">
            <a:noFill/>
          </a:ln>
        </p:spPr>
        <p:txBody>
          <a:bodyPr>
            <a:noAutofit/>
          </a:bodyPr>
          <a:lstStyle/>
          <a:p>
            <a:pPr>
              <a:defRPr sz="3225" b="0">
                <a:solidFill>
                  <a:srgbClr val="18180F"/>
                </a:solidFill>
                <a:latin typeface="Mayonnaise Black"/>
                <a:ea typeface="Mayonnaise Black"/>
                <a:cs typeface="Mayonnaise Black"/>
              </a:defRPr>
            </a:pPr>
            <a:r>
              <a:rPr sz="3225" b="1" dirty="0">
                <a:solidFill>
                  <a:srgbClr val="18180F"/>
                </a:solidFill>
                <a:latin typeface="Apfel Grotezk" pitchFamily="2" charset="77"/>
                <a:ea typeface="Mayonnaise Black"/>
                <a:cs typeface="Mayonnaise Black"/>
              </a:rPr>
              <a:t>What</a:t>
            </a:r>
            <a:r>
              <a:rPr lang="nl-NL" sz="3225" b="1" dirty="0">
                <a:solidFill>
                  <a:srgbClr val="18180F"/>
                </a:solidFill>
                <a:latin typeface="Apfel Grotezk" pitchFamily="2" charset="77"/>
                <a:ea typeface="Mayonnaise Black"/>
                <a:cs typeface="Mayonnaise Black"/>
              </a:rPr>
              <a:t>’s </a:t>
            </a:r>
            <a:r>
              <a:rPr lang="nl-NL" sz="3225" b="1" dirty="0" err="1">
                <a:solidFill>
                  <a:srgbClr val="18180F"/>
                </a:solidFill>
                <a:latin typeface="Apfel Grotezk" pitchFamily="2" charset="77"/>
                <a:ea typeface="Mayonnaise Black"/>
                <a:cs typeface="Mayonnaise Black"/>
              </a:rPr>
              <a:t>good</a:t>
            </a:r>
            <a:r>
              <a:rPr sz="3225" b="1" dirty="0">
                <a:solidFill>
                  <a:srgbClr val="18180F"/>
                </a:solidFill>
                <a:latin typeface="Apfel Grotezk" pitchFamily="2" charset="77"/>
                <a:ea typeface="Mayonnaise Black"/>
                <a:cs typeface="Mayonnaise Black"/>
              </a:rPr>
              <a:t>?</a:t>
            </a:r>
          </a:p>
          <a:p>
            <a:endParaRPr sz="3225" b="1" dirty="0">
              <a:solidFill>
                <a:srgbClr val="18180F"/>
              </a:solidFill>
              <a:latin typeface="Apfel Grotezk" pitchFamily="2" charset="77"/>
              <a:ea typeface="Mayonnaise Black"/>
              <a:cs typeface="Mayonnaise Black"/>
            </a:endParaRPr>
          </a:p>
          <a:p>
            <a:pPr>
              <a:defRPr sz="3225" b="0">
                <a:solidFill>
                  <a:srgbClr val="18180F"/>
                </a:solidFill>
                <a:latin typeface="Mayonnaise Black"/>
                <a:ea typeface="Mayonnaise Black"/>
                <a:cs typeface="Mayonnaise Black"/>
              </a:defRPr>
            </a:pPr>
            <a:r>
              <a:rPr sz="3225" b="1" dirty="0">
                <a:solidFill>
                  <a:srgbClr val="18180F"/>
                </a:solidFill>
                <a:latin typeface="Apfel Grotezk" pitchFamily="2" charset="77"/>
                <a:ea typeface="Mayonnaise Black"/>
                <a:cs typeface="Mayonnaise Black"/>
              </a:rPr>
              <a:t>What</a:t>
            </a:r>
            <a:r>
              <a:rPr lang="nl-NL" sz="3225" b="1" dirty="0">
                <a:solidFill>
                  <a:srgbClr val="18180F"/>
                </a:solidFill>
                <a:latin typeface="Apfel Grotezk" pitchFamily="2" charset="77"/>
                <a:ea typeface="Mayonnaise Black"/>
                <a:cs typeface="Mayonnaise Black"/>
              </a:rPr>
              <a:t> </a:t>
            </a:r>
            <a:r>
              <a:rPr lang="nl-NL" sz="3225" b="1" dirty="0" err="1">
                <a:solidFill>
                  <a:srgbClr val="18180F"/>
                </a:solidFill>
                <a:latin typeface="Apfel Grotezk" pitchFamily="2" charset="77"/>
                <a:ea typeface="Mayonnaise Black"/>
                <a:cs typeface="Mayonnaise Black"/>
              </a:rPr>
              <a:t>needs</a:t>
            </a:r>
            <a:r>
              <a:rPr lang="nl-NL" sz="3225" b="1" dirty="0">
                <a:solidFill>
                  <a:srgbClr val="18180F"/>
                </a:solidFill>
                <a:latin typeface="Apfel Grotezk" pitchFamily="2" charset="77"/>
                <a:ea typeface="Mayonnaise Black"/>
                <a:cs typeface="Mayonnaise Black"/>
              </a:rPr>
              <a:t> </a:t>
            </a:r>
            <a:r>
              <a:rPr lang="nl-NL" sz="3225" b="1" dirty="0" err="1">
                <a:solidFill>
                  <a:srgbClr val="18180F"/>
                </a:solidFill>
                <a:latin typeface="Apfel Grotezk" pitchFamily="2" charset="77"/>
                <a:ea typeface="Mayonnaise Black"/>
                <a:cs typeface="Mayonnaise Black"/>
              </a:rPr>
              <a:t>improving</a:t>
            </a:r>
            <a:r>
              <a:rPr sz="3225" b="1" dirty="0">
                <a:solidFill>
                  <a:srgbClr val="18180F"/>
                </a:solidFill>
                <a:latin typeface="Apfel Grotezk" pitchFamily="2" charset="77"/>
                <a:ea typeface="Mayonnaise Black"/>
                <a:cs typeface="Mayonnaise Black"/>
              </a:rPr>
              <a:t>?</a:t>
            </a:r>
          </a:p>
          <a:p>
            <a:endParaRPr sz="3225" b="1" dirty="0">
              <a:solidFill>
                <a:srgbClr val="18180F"/>
              </a:solidFill>
              <a:latin typeface="Apfel Grotezk" pitchFamily="2" charset="77"/>
              <a:ea typeface="Mayonnaise Black"/>
              <a:cs typeface="Mayonnaise Black"/>
            </a:endParaRPr>
          </a:p>
          <a:p>
            <a:pPr>
              <a:defRPr sz="3225" b="0">
                <a:solidFill>
                  <a:srgbClr val="18180F"/>
                </a:solidFill>
                <a:latin typeface="Mayonnaise Black"/>
                <a:ea typeface="Mayonnaise Black"/>
                <a:cs typeface="Mayonnaise Black"/>
              </a:defRPr>
            </a:pPr>
            <a:r>
              <a:rPr sz="3225" b="1" dirty="0">
                <a:solidFill>
                  <a:srgbClr val="18180F"/>
                </a:solidFill>
                <a:latin typeface="Apfel Grotezk" pitchFamily="2" charset="77"/>
                <a:ea typeface="Mayonnaise Black"/>
                <a:cs typeface="Mayonnaise Black"/>
              </a:rPr>
              <a:t>What </a:t>
            </a:r>
            <a:r>
              <a:rPr lang="nl-NL" sz="3225" b="1" dirty="0">
                <a:solidFill>
                  <a:srgbClr val="18180F"/>
                </a:solidFill>
                <a:latin typeface="Apfel Grotezk" pitchFamily="2" charset="77"/>
                <a:ea typeface="Mayonnaise Black"/>
                <a:cs typeface="Mayonnaise Black"/>
              </a:rPr>
              <a:t>feature </a:t>
            </a:r>
            <a:r>
              <a:rPr sz="3225" b="1" dirty="0">
                <a:solidFill>
                  <a:srgbClr val="18180F"/>
                </a:solidFill>
                <a:latin typeface="Apfel Grotezk" pitchFamily="2" charset="77"/>
                <a:ea typeface="Mayonnaise Black"/>
                <a:cs typeface="Mayonnaise Black"/>
              </a:rPr>
              <a:t>is missing for your city?</a:t>
            </a:r>
            <a:endParaRPr lang="nl-NL" sz="3225" b="1" dirty="0">
              <a:solidFill>
                <a:srgbClr val="18180F"/>
              </a:solidFill>
              <a:latin typeface="Apfel Grotezk" pitchFamily="2" charset="77"/>
              <a:ea typeface="Mayonnaise Black"/>
              <a:cs typeface="Mayonnaise Black"/>
            </a:endParaRPr>
          </a:p>
          <a:p>
            <a:pPr>
              <a:defRPr sz="3225" b="0">
                <a:solidFill>
                  <a:srgbClr val="18180F"/>
                </a:solidFill>
                <a:latin typeface="Mayonnaise Black"/>
                <a:ea typeface="Mayonnaise Black"/>
                <a:cs typeface="Mayonnaise Black"/>
              </a:defRPr>
            </a:pPr>
            <a:endParaRPr lang="en-US" sz="3225" b="1" dirty="0">
              <a:solidFill>
                <a:srgbClr val="18180F"/>
              </a:solidFill>
              <a:latin typeface="Apfel Grotezk" pitchFamily="2" charset="77"/>
              <a:ea typeface="Mayonnaise Black"/>
              <a:cs typeface="Mayonnaise Black"/>
            </a:endParaRPr>
          </a:p>
          <a:p>
            <a:pPr>
              <a:defRPr sz="3225" b="0">
                <a:solidFill>
                  <a:srgbClr val="18180F"/>
                </a:solidFill>
                <a:latin typeface="Mayonnaise Black"/>
                <a:ea typeface="Mayonnaise Black"/>
                <a:cs typeface="Mayonnaise Black"/>
              </a:defRPr>
            </a:pPr>
            <a:r>
              <a:rPr lang="en-US" sz="3225" b="1" dirty="0">
                <a:solidFill>
                  <a:srgbClr val="18180F"/>
                </a:solidFill>
                <a:latin typeface="Apfel Grotezk" pitchFamily="2" charset="77"/>
                <a:ea typeface="Mayonnaise Black"/>
                <a:cs typeface="Mayonnaise Black"/>
              </a:rPr>
              <a:t>How easy was it to work with the export file?</a:t>
            </a:r>
          </a:p>
        </p:txBody>
      </p:sp>
      <p:sp>
        <p:nvSpPr>
          <p:cNvPr id="6" name="Rectangle 5">
            <a:extLst>
              <a:ext uri="{FF2B5EF4-FFF2-40B4-BE49-F238E27FC236}">
                <a16:creationId xmlns:a16="http://schemas.microsoft.com/office/drawing/2014/main" id="{5971E17E-9A2B-4FE1-8DD4-C2974EC9FFF3}"/>
              </a:ext>
            </a:extLst>
          </p:cNvPr>
          <p:cNvSpPr>
            <a:spLocks noGrp="1"/>
          </p:cNvSpPr>
          <p:nvPr/>
        </p:nvSpPr>
        <p:spPr>
          <a:xfrm>
            <a:off x="8382000" y="1924050"/>
            <a:ext cx="3352800" cy="3524250"/>
          </a:xfrm>
          <a:prstGeom prst="rect">
            <a:avLst/>
          </a:prstGeom>
          <a:solidFill>
            <a:srgbClr val="FEF9E4"/>
          </a:solidFill>
          <a:ln w="0">
            <a:noFill/>
          </a:ln>
        </p:spPr>
        <p:txBody>
          <a:bodyPr/>
          <a:lstStyle/>
          <a:p>
            <a:endParaRPr lang="en-US"/>
          </a:p>
        </p:txBody>
      </p:sp>
      <p:sp>
        <p:nvSpPr>
          <p:cNvPr id="7" name="Rectangle 6">
            <a:extLst>
              <a:ext uri="{FF2B5EF4-FFF2-40B4-BE49-F238E27FC236}">
                <a16:creationId xmlns:a16="http://schemas.microsoft.com/office/drawing/2014/main" id="{2DEDA5E6-0FB8-44AE-9684-3BC8FA5AFF38}"/>
              </a:ext>
            </a:extLst>
          </p:cNvPr>
          <p:cNvSpPr>
            <a:spLocks noGrp="1"/>
          </p:cNvSpPr>
          <p:nvPr/>
        </p:nvSpPr>
        <p:spPr>
          <a:xfrm>
            <a:off x="8639175" y="2238375"/>
            <a:ext cx="2809875" cy="1409700"/>
          </a:xfrm>
          <a:prstGeom prst="rect">
            <a:avLst/>
          </a:prstGeom>
          <a:noFill/>
          <a:ln w="0">
            <a:noFill/>
          </a:ln>
        </p:spPr>
        <p:txBody>
          <a:bodyPr>
            <a:noAutofit/>
          </a:bodyPr>
          <a:lstStyle/>
          <a:p>
            <a:pPr>
              <a:defRPr sz="3900" b="0">
                <a:solidFill>
                  <a:srgbClr val="F4501E"/>
                </a:solidFill>
                <a:latin typeface="Mayonnaise Black"/>
                <a:ea typeface="Mayonnaise Black"/>
                <a:cs typeface="Mayonnaise Black"/>
              </a:defRPr>
            </a:pPr>
            <a:r>
              <a:rPr sz="3900" b="0" dirty="0">
                <a:solidFill>
                  <a:srgbClr val="F4501E"/>
                </a:solidFill>
                <a:latin typeface="Mayonnaise Black"/>
                <a:ea typeface="Mayonnaise Black"/>
                <a:cs typeface="Mayonnaise Black"/>
              </a:rPr>
              <a:t>SHOW </a:t>
            </a:r>
            <a:r>
              <a:rPr lang="nl-NL" sz="3900" b="0" dirty="0">
                <a:solidFill>
                  <a:srgbClr val="F4501E"/>
                </a:solidFill>
                <a:latin typeface="Mayonnaise Black"/>
                <a:ea typeface="Mayonnaise Black"/>
                <a:cs typeface="Mayonnaise Black"/>
              </a:rPr>
              <a:t>AN</a:t>
            </a:r>
            <a:endParaRPr sz="3900" b="0" dirty="0">
              <a:solidFill>
                <a:srgbClr val="F4501E"/>
              </a:solidFill>
              <a:latin typeface="Mayonnaise Black"/>
              <a:ea typeface="Mayonnaise Black"/>
              <a:cs typeface="Mayonnaise Black"/>
            </a:endParaRPr>
          </a:p>
          <a:p>
            <a:pPr>
              <a:defRPr sz="3900" b="0">
                <a:solidFill>
                  <a:srgbClr val="F4501E"/>
                </a:solidFill>
                <a:latin typeface="Mayonnaise Black"/>
                <a:ea typeface="Mayonnaise Black"/>
                <a:cs typeface="Mayonnaise Black"/>
              </a:defRPr>
            </a:pPr>
            <a:r>
              <a:rPr sz="3900" b="0" dirty="0">
                <a:solidFill>
                  <a:srgbClr val="F4501E"/>
                </a:solidFill>
                <a:latin typeface="Mayonnaise Black"/>
                <a:ea typeface="Mayonnaise Black"/>
                <a:cs typeface="Mayonnaise Black"/>
              </a:rPr>
              <a:t>EXAMPLE.</a:t>
            </a:r>
          </a:p>
        </p:txBody>
      </p:sp>
      <p:sp>
        <p:nvSpPr>
          <p:cNvPr id="8" name="Rectangle 7">
            <a:extLst>
              <a:ext uri="{FF2B5EF4-FFF2-40B4-BE49-F238E27FC236}">
                <a16:creationId xmlns:a16="http://schemas.microsoft.com/office/drawing/2014/main" id="{3D05ED2B-F613-44F5-925D-FE7632814B00}"/>
              </a:ext>
            </a:extLst>
          </p:cNvPr>
          <p:cNvSpPr>
            <a:spLocks noGrp="1"/>
          </p:cNvSpPr>
          <p:nvPr/>
        </p:nvSpPr>
        <p:spPr>
          <a:xfrm>
            <a:off x="8639175" y="4048125"/>
            <a:ext cx="2705100" cy="1133475"/>
          </a:xfrm>
          <a:prstGeom prst="rect">
            <a:avLst/>
          </a:prstGeom>
          <a:noFill/>
          <a:ln w="0">
            <a:noFill/>
          </a:ln>
        </p:spPr>
        <p:txBody>
          <a:bodyPr>
            <a:noAutofit/>
          </a:bodyPr>
          <a:lstStyle/>
          <a:p>
            <a:pPr>
              <a:defRPr sz="2025" b="0">
                <a:solidFill>
                  <a:srgbClr val="18180F"/>
                </a:solidFill>
                <a:latin typeface="Apfel Grotezk"/>
                <a:ea typeface="Apfel Grotezk"/>
                <a:cs typeface="Apfel Grotezk"/>
              </a:defRPr>
            </a:pPr>
            <a:r>
              <a:rPr sz="2025" b="0" dirty="0">
                <a:solidFill>
                  <a:srgbClr val="18180F"/>
                </a:solidFill>
                <a:latin typeface="Apfel Grotezk"/>
                <a:ea typeface="Apfel Grotezk"/>
                <a:cs typeface="Apfel Grotezk"/>
              </a:rPr>
              <a:t>Then tell us the</a:t>
            </a:r>
          </a:p>
          <a:p>
            <a:pPr>
              <a:defRPr sz="2025" b="0">
                <a:solidFill>
                  <a:srgbClr val="18180F"/>
                </a:solidFill>
                <a:latin typeface="Apfel Grotezk"/>
                <a:ea typeface="Apfel Grotezk"/>
                <a:cs typeface="Apfel Grotezk"/>
              </a:defRPr>
            </a:pPr>
            <a:r>
              <a:rPr sz="2025" b="0" dirty="0">
                <a:solidFill>
                  <a:srgbClr val="18180F"/>
                </a:solidFill>
                <a:latin typeface="Apfel Grotezk"/>
                <a:ea typeface="Apfel Grotezk"/>
                <a:cs typeface="Apfel Grotezk"/>
              </a:rPr>
              <a:t>change</a:t>
            </a:r>
            <a:r>
              <a:rPr lang="nl-NL" sz="2025" b="0" dirty="0">
                <a:solidFill>
                  <a:srgbClr val="18180F"/>
                </a:solidFill>
                <a:latin typeface="Apfel Grotezk"/>
                <a:ea typeface="Apfel Grotezk"/>
                <a:cs typeface="Apfel Grotezk"/>
              </a:rPr>
              <a:t>s</a:t>
            </a:r>
            <a:r>
              <a:rPr sz="2025" b="0" dirty="0">
                <a:solidFill>
                  <a:srgbClr val="18180F"/>
                </a:solidFill>
                <a:latin typeface="Apfel Grotezk"/>
                <a:ea typeface="Apfel Grotezk"/>
                <a:cs typeface="Apfel Grotezk"/>
              </a:rPr>
              <a:t> that would</a:t>
            </a:r>
          </a:p>
          <a:p>
            <a:pPr>
              <a:defRPr sz="2025" b="0">
                <a:solidFill>
                  <a:srgbClr val="18180F"/>
                </a:solidFill>
                <a:latin typeface="Apfel Grotezk"/>
                <a:ea typeface="Apfel Grotezk"/>
                <a:cs typeface="Apfel Grotezk"/>
              </a:defRPr>
            </a:pPr>
            <a:r>
              <a:rPr sz="2025" b="0" dirty="0">
                <a:solidFill>
                  <a:srgbClr val="18180F"/>
                </a:solidFill>
                <a:latin typeface="Apfel Grotezk"/>
                <a:ea typeface="Apfel Grotezk"/>
                <a:cs typeface="Apfel Grotezk"/>
              </a:rPr>
              <a:t>help you.</a:t>
            </a:r>
          </a:p>
        </p:txBody>
      </p:sp>
    </p:spTree>
    <p:extLst>
      <p:ext uri="{BB962C8B-B14F-4D97-AF65-F5344CB8AC3E}">
        <p14:creationId xmlns:p14="http://schemas.microsoft.com/office/powerpoint/2010/main" val="8474788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1398</Words>
  <Application>Microsoft Macintosh PowerPoint</Application>
  <DocSecurity>0</DocSecurity>
  <PresentationFormat>Widescreen</PresentationFormat>
  <Paragraphs>144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Apfel Grotezk</vt:lpstr>
      <vt:lpstr>Arial</vt:lpstr>
      <vt:lpstr>Calibri</vt:lpstr>
      <vt:lpstr>Mayonnaise Black</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Coen de Jong</cp:lastModifiedBy>
  <cp:revision>16</cp:revision>
  <dcterms:created xsi:type="dcterms:W3CDTF">2026-09-13T19:32:27Z</dcterms:created>
  <dcterms:modified xsi:type="dcterms:W3CDTF">2026-09-17T22:13:11Z</dcterms:modified>
</cp:coreProperties>
</file>