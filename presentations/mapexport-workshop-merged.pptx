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7" r:id="rId12"/>
    <p:sldId id="27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457"/>
  </p:normalViewPr>
  <p:slideViewPr>
    <p:cSldViewPr snapToGrid="0">
      <p:cViewPr varScale="1">
        <p:scale>
          <a:sx n="97" d="100"/>
          <a:sy n="97" d="100"/>
        </p:scale>
        <p:origin x="10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Today we will turn a city area into an editable SVG, explore its layers, then export our own cities. Suggested flow: 10 minutes introduction, 5 minutes live demo, 20 minutes hands-on and 10 minutes discussion. Timings are adjustable. The map shown is the live Gent export included with this deck</a:t>
            </a:r>
            <a:r>
              <a:rPr lang="nl-NL"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for a quick show of hands: who has traced a base map manually? MapExport tackles repetitive groundwork: streets, blocks and street labels. Do not promise a measured time saving. The amount of cleanup depends on the city and the source data.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out water, roads, parks and blocks. SVG is a vector file: it can be scaled and edited in a vector editor. This is a base map, not a complete travel guide. Sample: presentations/assets/ghent-demo.svg.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OpenStreetMap provides geographical data. MapExport transforms those features into a designed SVG, including computed city blocks and road labels. City blocks are areas between roads, not individual building footprints. Data coverage and quality vary by location.</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https://coen.at/mapexport/ . The controls are on the left, the map on the right. Search, pick the matching location and use Draw rectangle. Screenshot captured from the live site, 13 September 2026. Live controls may evolve.</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first exercise choose a manageable central neighbourhood, not an entire metropolitan area. In the sample the rectangle is roughly 2.3 × 2.9 km. The live interface shows approximate printed dimensions. Avoid implying that the website has an A3 selector. A larger export has more objects and may take longer.</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the layer checkboxes on the live site. Available options include water bodies, waterways, city blocks, parks/green space, roads, railways and transit features. Street-name controls include road categories. Explain that all available detail does not necessarily improve a printed USE-IT map. City blocks do not represent each individual building.</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option labels observed on the live site. Use File &gt; Open, rather than placing the SVG as a linked image in another document. Inspect Layers or Layers and Objects after opening; group/layer presentation differs between editors. Keep the original SVG for recovery.</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simplified layer list, not a screenshot of an editor. The actual Gent SVG has a Background layer and a clipped Map content parent. Expand Map content to find City blocks. Exact grouping can differ by export version and editor. Keep the crop/clipping group intact: ungrouping everything can expose geometry outside the selected area.</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SCRIPT</a:t>
            </a:r>
          </a:p>
          <a:p>
            <a:r>
              <a:t>Open presentations/assets/ghent-demo.svg in Inkscape. Fit the page to the window (5). Open Layer &gt; Layers and Objects and expand Map content. Find City blocks. Enter that layer and select its child paths, or select one block and use Edit &gt; Select Same &gt; Fill Color. Verify that only the city-block paths are selected: this sample contains 581. Lock unrelated layers first if their objects share the same fill. Click a palette colour or use Object &gt; Fill and Stroke to change Fill (do not Shift-click, which changes Stroke). Water, roads and parks should retain their colours. Undo once to show that all blocks changed together. Save a separate edited SVG.</a:t>
            </a:r>
          </a:p>
          <a:p>
            <a:r>
              <a:t>The preview on the right changes every child path in city_blocks to #F2CA76 and nothing else. It was rendered by Inkscape from the actual export. This slide is a prompt to switch to a live editor, not a recording of UI clicks. Backup: ghent-recoloured.svg.</a:t>
            </a:r>
          </a:p>
          <a:p>
            <a:r>
              <a:t>Inkscape Select Same documentation: https://inkscape.org/en/doc/tutorials/basic/tutorial-basic.pt_BR.html/ .</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slide on screen throughout the hands-on exercise. Allow about 20 minutes. Participants can work individually or in pairs. Start with a small central area and choose the SVG format for the editor. Use File &gt; Open and keep the original download. Select only the City blocks paths before changing Fill. Keep roads and water unchanged. Hide and restore a layer, then find a street label. Save a separate working copy and note one concrete observation for the discussion. Done early? Compare the map with a place you know well. If an export is delayed, use https://coen.at/ghent.svg (local backup: presentations/assets/ghent-demo.svg). Watch the progress message and try a smaller area next time. If the file looks unexpected, check SVG format, fonts and layer visibility. Useful bug reports include city, area, editor and expected result.</a:t>
            </a:r>
          </a:p>
          <a:p>
            <a:r>
              <a:t/>
            </a: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 here and invite an open discussion. Collect feedback in three columns on a board or shared document: observation, impact and desired change. Capture the city, area and editor for reproducible problems. Ask for concrete examples and let other participants add their experience before prioritising. Distinguish bugs, usability issues and feature wishes. Finish by asking each person for the one improvement that matters most; do not promise delivery dates.</a:t>
            </a:r>
          </a:p>
          <a:p>
            <a:endParaRPr/>
          </a:p>
          <a:p>
            <a:r>
              <a:t>Sources: live https://coen.at/mapexport/ inspected and exported 13 September 2026; repository README.md, script.js and references/How to draw a good street map.md. Map data © OpenStreetMap contributors (ODbL), https://www.openstreetmap.org/copyright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Demo" Type="http://schemas.openxmlformats.org/officeDocument/2006/relationships/hyperlink" Target="https://coen.at/ghent.svg" TargetMode="External"/><Relationship Id="rIdTool" Type="http://schemas.openxmlformats.org/officeDocument/2006/relationships/hyperlink" Target="https://coen.at/mapexpor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501E"/>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l="17375" r="17375"/>
          <a:stretch>
            <a:fillRect/>
          </a:stretch>
        </p:blipFill>
        <p:spPr>
          <a:xfrm>
            <a:off x="6667500" y="0"/>
            <a:ext cx="5524500" cy="6858000"/>
          </a:xfrm>
          <a:prstGeom prst="rect">
            <a:avLst/>
          </a:prstGeom>
        </p:spPr>
      </p:pic>
      <p:sp>
        <p:nvSpPr>
          <p:cNvPr id="2" name="Rectangle 1">
            <a:extLst>
              <a:ext uri="{FF2B5EF4-FFF2-40B4-BE49-F238E27FC236}">
                <a16:creationId xmlns:a16="http://schemas.microsoft.com/office/drawing/2014/main" id="{6B9A9E26-F7CB-4565-BD78-F5972A80B259}"/>
              </a:ext>
            </a:extLst>
          </p:cNvPr>
          <p:cNvSpPr>
            <a:spLocks noGrp="1"/>
          </p:cNvSpPr>
          <p:nvPr/>
        </p:nvSpPr>
        <p:spPr>
          <a:xfrm>
            <a:off x="457200" y="381000"/>
            <a:ext cx="6191250" cy="381000"/>
          </a:xfrm>
          <a:prstGeom prst="rect">
            <a:avLst/>
          </a:prstGeom>
          <a:noFill/>
          <a:ln w="0">
            <a:noFill/>
          </a:ln>
        </p:spPr>
        <p:txBody>
          <a:bodyPr>
            <a:noAutofit/>
          </a:bodyPr>
          <a:lstStyle/>
          <a:p>
            <a:pPr>
              <a:defRPr sz="1575" b="1">
                <a:solidFill>
                  <a:srgbClr val="FEF9E4"/>
                </a:solidFill>
                <a:latin typeface="Apfel Grotezk"/>
                <a:ea typeface="Apfel Grotezk"/>
                <a:cs typeface="Apfel Grotezk"/>
              </a:defRPr>
            </a:pPr>
            <a:r>
              <a:rPr sz="1575" b="1">
                <a:solidFill>
                  <a:srgbClr val="FEF9E4"/>
                </a:solidFill>
                <a:latin typeface="Apfel Grotezk"/>
                <a:ea typeface="Apfel Grotezk"/>
                <a:cs typeface="Apfel Grotezk"/>
              </a:rPr>
              <a:t>USE-IT DESIGN WORKSHOP</a:t>
            </a:r>
          </a:p>
        </p:txBody>
      </p:sp>
      <p:sp>
        <p:nvSpPr>
          <p:cNvPr id="3" name="Rectangle 2">
            <a:extLst>
              <a:ext uri="{FF2B5EF4-FFF2-40B4-BE49-F238E27FC236}">
                <a16:creationId xmlns:a16="http://schemas.microsoft.com/office/drawing/2014/main" id="{DC8705F0-DFC6-4F1C-B3E2-5C58C3A02714}"/>
              </a:ext>
            </a:extLst>
          </p:cNvPr>
          <p:cNvSpPr>
            <a:spLocks noGrp="1"/>
          </p:cNvSpPr>
          <p:nvPr/>
        </p:nvSpPr>
        <p:spPr>
          <a:xfrm>
            <a:off x="381000" y="1285875"/>
            <a:ext cx="6477000" cy="2762250"/>
          </a:xfrm>
          <a:prstGeom prst="rect">
            <a:avLst/>
          </a:prstGeom>
          <a:noFill/>
          <a:ln w="0">
            <a:noFill/>
          </a:ln>
        </p:spPr>
        <p:txBody>
          <a:bodyPr>
            <a:noAutofit/>
          </a:bodyPr>
          <a:lstStyle/>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MAP</a:t>
            </a:r>
          </a:p>
          <a:p>
            <a:pPr>
              <a:defRPr sz="9300" b="0">
                <a:solidFill>
                  <a:srgbClr val="FEF9E4"/>
                </a:solidFill>
                <a:latin typeface="Mayonnaise Black"/>
                <a:ea typeface="Mayonnaise Black"/>
                <a:cs typeface="Mayonnaise Black"/>
              </a:defRPr>
            </a:pPr>
            <a:r>
              <a:rPr sz="9300" b="0">
                <a:solidFill>
                  <a:srgbClr val="FEF9E4"/>
                </a:solidFill>
                <a:latin typeface="Mayonnaise Black"/>
                <a:ea typeface="Mayonnaise Black"/>
                <a:cs typeface="Mayonnaise Black"/>
              </a:rPr>
              <a:t>EXPORT</a:t>
            </a:r>
          </a:p>
        </p:txBody>
      </p:sp>
      <p:sp>
        <p:nvSpPr>
          <p:cNvPr id="4" name="Rectangle 3">
            <a:extLst>
              <a:ext uri="{FF2B5EF4-FFF2-40B4-BE49-F238E27FC236}">
                <a16:creationId xmlns:a16="http://schemas.microsoft.com/office/drawing/2014/main" id="{6F570A06-435D-4977-B174-6C0D68FC0BA8}"/>
              </a:ext>
            </a:extLst>
          </p:cNvPr>
          <p:cNvSpPr>
            <a:spLocks noGrp="1"/>
          </p:cNvSpPr>
          <p:nvPr/>
        </p:nvSpPr>
        <p:spPr>
          <a:xfrm>
            <a:off x="457200" y="4333875"/>
            <a:ext cx="5857875" cy="1190625"/>
          </a:xfrm>
          <a:prstGeom prst="rect">
            <a:avLst/>
          </a:prstGeom>
          <a:noFill/>
          <a:ln w="0">
            <a:noFill/>
          </a:ln>
        </p:spPr>
        <p:txBody>
          <a:bodyPr>
            <a:noAutofit/>
          </a:bodyPr>
          <a:lstStyle/>
          <a:p>
            <a:pPr>
              <a:defRPr sz="3225" b="0">
                <a:solidFill>
                  <a:srgbClr val="FEF9E4"/>
                </a:solidFill>
                <a:latin typeface="Apfel Grotezk"/>
                <a:ea typeface="Apfel Grotezk"/>
                <a:cs typeface="Apfel Grotezk"/>
              </a:defRPr>
            </a:pPr>
            <a:endParaRPr sz="3225" b="0" dirty="0">
              <a:solidFill>
                <a:srgbClr val="FEF9E4"/>
              </a:solidFill>
              <a:latin typeface="Apfel Grotezk"/>
              <a:ea typeface="Apfel Grotezk"/>
              <a:cs typeface="Apfel Grotezk"/>
            </a:endParaRPr>
          </a:p>
        </p:txBody>
      </p:sp>
      <p:sp>
        <p:nvSpPr>
          <p:cNvPr id="5" name="Rectangle 4">
            <a:extLst>
              <a:ext uri="{FF2B5EF4-FFF2-40B4-BE49-F238E27FC236}">
                <a16:creationId xmlns:a16="http://schemas.microsoft.com/office/drawing/2014/main" id="{8C29E529-F3E6-449D-A486-367F30B09189}"/>
              </a:ext>
            </a:extLst>
          </p:cNvPr>
          <p:cNvSpPr>
            <a:spLocks noGrp="1"/>
          </p:cNvSpPr>
          <p:nvPr/>
        </p:nvSpPr>
        <p:spPr>
          <a:xfrm>
            <a:off x="457200" y="6048375"/>
            <a:ext cx="5715000" cy="38100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coen.at/mapexport</a:t>
            </a:r>
          </a:p>
        </p:txBody>
      </p:sp>
      <p:sp>
        <p:nvSpPr>
          <p:cNvPr id="6" name="Rectangle 5">
            <a:extLst>
              <a:ext uri="{FF2B5EF4-FFF2-40B4-BE49-F238E27FC236}">
                <a16:creationId xmlns:a16="http://schemas.microsoft.com/office/drawing/2014/main" id="{DD95FBC6-55DF-49BA-996B-D438BE5ADB1B}"/>
              </a:ext>
            </a:extLst>
          </p:cNvPr>
          <p:cNvSpPr>
            <a:spLocks noGrp="1"/>
          </p:cNvSpPr>
          <p:nvPr/>
        </p:nvSpPr>
        <p:spPr>
          <a:xfrm>
            <a:off x="6667500" y="6534150"/>
            <a:ext cx="5524500" cy="3238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3DCBE537-CCF6-4E61-8AB6-6C2EE034DDE3}"/>
              </a:ext>
            </a:extLst>
          </p:cNvPr>
          <p:cNvSpPr>
            <a:spLocks noGrp="1"/>
          </p:cNvSpPr>
          <p:nvPr/>
        </p:nvSpPr>
        <p:spPr>
          <a:xfrm>
            <a:off x="6838950" y="6553200"/>
            <a:ext cx="5238750" cy="2762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 data © OpenStreetMap contributors</a:t>
            </a:r>
          </a:p>
        </p:txBody>
      </p:sp>
    </p:spTree>
    <p:extLst>
      <p:ext uri="{BB962C8B-B14F-4D97-AF65-F5344CB8AC3E}">
        <p14:creationId xmlns:p14="http://schemas.microsoft.com/office/powerpoint/2010/main" val="34517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9584339-FF5D-4E08-9F98-4878E7CB69DE}"/>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THE PROBLEM</a:t>
            </a:r>
          </a:p>
        </p:txBody>
      </p:sp>
      <p:sp>
        <p:nvSpPr>
          <p:cNvPr id="2" name="Rectangle 1">
            <a:extLst>
              <a:ext uri="{FF2B5EF4-FFF2-40B4-BE49-F238E27FC236}">
                <a16:creationId xmlns:a16="http://schemas.microsoft.com/office/drawing/2014/main" id="{91167F96-0C3D-423A-A7F9-85B569A3AC7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lang="nl-NL" sz="4125" b="0" dirty="0">
                <a:solidFill>
                  <a:srgbClr val="18180F"/>
                </a:solidFill>
                <a:latin typeface="Mayonnaise Black"/>
                <a:ea typeface="Mayonnaise Black"/>
                <a:cs typeface="Mayonnaise Black"/>
              </a:rPr>
              <a:t>GETTING SCALABLE &amp; EDITABLE BASE MAPS IS A P.I.T.A.</a:t>
            </a:r>
            <a:endParaRPr sz="4125" b="0" dirty="0">
              <a:solidFill>
                <a:srgbClr val="18180F"/>
              </a:solidFill>
              <a:latin typeface="Mayonnaise Black"/>
              <a:ea typeface="Mayonnaise Black"/>
              <a:cs typeface="Mayonnaise Black"/>
            </a:endParaRPr>
          </a:p>
        </p:txBody>
      </p:sp>
      <p:sp>
        <p:nvSpPr>
          <p:cNvPr id="3" name="Rectangle 2">
            <a:extLst>
              <a:ext uri="{FF2B5EF4-FFF2-40B4-BE49-F238E27FC236}">
                <a16:creationId xmlns:a16="http://schemas.microsoft.com/office/drawing/2014/main" id="{9A2609B5-F6E4-4A82-95D5-8E634BABB4EA}"/>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dirty="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0A1081FE-1B86-4190-8665-444394D70FD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02</a:t>
            </a:r>
          </a:p>
        </p:txBody>
      </p:sp>
      <p:sp>
        <p:nvSpPr>
          <p:cNvPr id="5" name="Rectangle 4">
            <a:extLst>
              <a:ext uri="{FF2B5EF4-FFF2-40B4-BE49-F238E27FC236}">
                <a16:creationId xmlns:a16="http://schemas.microsoft.com/office/drawing/2014/main" id="{471FFA2C-A8A2-4A7C-8909-EF33F09C080D}"/>
              </a:ext>
            </a:extLst>
          </p:cNvPr>
          <p:cNvSpPr>
            <a:spLocks noGrp="1"/>
          </p:cNvSpPr>
          <p:nvPr/>
        </p:nvSpPr>
        <p:spPr>
          <a:xfrm>
            <a:off x="457200" y="1895475"/>
            <a:ext cx="5715000" cy="1656108"/>
          </a:xfrm>
          <a:prstGeom prst="rect">
            <a:avLst/>
          </a:prstGeom>
          <a:noFill/>
          <a:ln w="0">
            <a:noFill/>
          </a:ln>
        </p:spPr>
        <p:txBody>
          <a:bodyPr>
            <a:noAutofit/>
          </a:bodyPr>
          <a:lstStyle/>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Tracing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from</a:t>
            </a:r>
            <a:r>
              <a:rPr lang="nl-NL" sz="2850" b="0" dirty="0">
                <a:solidFill>
                  <a:srgbClr val="18180F"/>
                </a:solidFill>
                <a:latin typeface="Apfel Grotezk"/>
                <a:ea typeface="Apfel Grotezk"/>
                <a:cs typeface="Apfel Grotezk"/>
              </a:rPr>
              <a:t> Google </a:t>
            </a:r>
            <a:r>
              <a:rPr lang="nl-NL" sz="2850" b="0" dirty="0" err="1">
                <a:solidFill>
                  <a:srgbClr val="18180F"/>
                </a:solidFill>
                <a:latin typeface="Apfel Grotezk"/>
                <a:ea typeface="Apfel Grotezk"/>
                <a:cs typeface="Apfel Grotezk"/>
              </a:rPr>
              <a:t>Maps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err="1">
                <a:solidFill>
                  <a:srgbClr val="18180F"/>
                </a:solidFill>
                <a:latin typeface="Apfel Grotezk"/>
                <a:ea typeface="Apfel Grotezk"/>
                <a:cs typeface="Apfel Grotezk"/>
              </a:rPr>
              <a:t>asking</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local</a:t>
            </a:r>
            <a:r>
              <a:rPr lang="nl-NL" sz="2850" b="0" dirty="0">
                <a:solidFill>
                  <a:srgbClr val="18180F"/>
                </a:solidFill>
                <a:latin typeface="Apfel Grotezk"/>
                <a:ea typeface="Apfel Grotezk"/>
                <a:cs typeface="Apfel Grotezk"/>
              </a:rPr>
              <a:t> </a:t>
            </a:r>
            <a:r>
              <a:rPr lang="nl-NL" sz="2850" b="0" dirty="0" err="1">
                <a:solidFill>
                  <a:srgbClr val="18180F"/>
                </a:solidFill>
                <a:latin typeface="Apfel Grotezk"/>
                <a:ea typeface="Apfel Grotezk"/>
                <a:cs typeface="Apfel Grotezk"/>
              </a:rPr>
              <a:t>governments</a:t>
            </a:r>
            <a:endParaRPr lang="nl-NL" sz="2850" dirty="0">
              <a:solidFill>
                <a:srgbClr val="18180F"/>
              </a:solidFill>
              <a:latin typeface="Apfel Grotezk"/>
              <a:ea typeface="Apfel Grotezk"/>
              <a:cs typeface="Apfel Grotezk"/>
            </a:endParaRPr>
          </a:p>
          <a:p>
            <a:pPr marL="457200" indent="-457200">
              <a:buFont typeface="Arial" panose="020B0604020202020204" pitchFamily="34" charset="0"/>
              <a:buChar char="•"/>
              <a:defRPr sz="2850" b="0">
                <a:solidFill>
                  <a:srgbClr val="18180F"/>
                </a:solidFill>
                <a:latin typeface="Apfel Grotezk"/>
                <a:ea typeface="Apfel Grotezk"/>
                <a:cs typeface="Apfel Grotezk"/>
              </a:defRPr>
            </a:pPr>
            <a:r>
              <a:rPr lang="nl-NL" sz="2850" b="0" dirty="0">
                <a:solidFill>
                  <a:srgbClr val="18180F"/>
                </a:solidFill>
                <a:latin typeface="Apfel Grotezk"/>
                <a:ea typeface="Apfel Grotezk"/>
                <a:cs typeface="Apfel Grotezk"/>
              </a:rPr>
              <a:t>obscure </a:t>
            </a:r>
            <a:r>
              <a:rPr lang="nl-NL" sz="2850" b="0" dirty="0" err="1">
                <a:solidFill>
                  <a:srgbClr val="18180F"/>
                </a:solidFill>
                <a:latin typeface="Apfel Grotezk"/>
                <a:ea typeface="Apfel Grotezk"/>
                <a:cs typeface="Apfel Grotezk"/>
              </a:rPr>
              <a:t>PDF’s</a:t>
            </a:r>
            <a:r>
              <a:rPr lang="nl-NL" sz="2850" b="0" dirty="0">
                <a:solidFill>
                  <a:srgbClr val="18180F"/>
                </a:solidFill>
                <a:latin typeface="Apfel Grotezk"/>
                <a:ea typeface="Apfel Grotezk"/>
                <a:cs typeface="Apfel Grotezk"/>
              </a:rPr>
              <a:t> online… </a:t>
            </a:r>
            <a:endParaRPr sz="2850" b="0" dirty="0">
              <a:solidFill>
                <a:srgbClr val="18180F"/>
              </a:solidFill>
              <a:latin typeface="Apfel Grotezk"/>
              <a:ea typeface="Apfel Grotezk"/>
              <a:cs typeface="Apfel Grotezk"/>
            </a:endParaRPr>
          </a:p>
        </p:txBody>
      </p:sp>
      <p:sp>
        <p:nvSpPr>
          <p:cNvPr id="12" name="Rectangle 11">
            <a:extLst>
              <a:ext uri="{FF2B5EF4-FFF2-40B4-BE49-F238E27FC236}">
                <a16:creationId xmlns:a16="http://schemas.microsoft.com/office/drawing/2014/main" id="{88C01356-0627-45D0-B766-65C54537D9A1}"/>
              </a:ext>
            </a:extLst>
          </p:cNvPr>
          <p:cNvSpPr>
            <a:spLocks noGrp="1"/>
          </p:cNvSpPr>
          <p:nvPr/>
        </p:nvSpPr>
        <p:spPr>
          <a:xfrm>
            <a:off x="7658100" y="1809750"/>
            <a:ext cx="4076700" cy="421005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D05BE495-1C0A-4D0C-B964-B41E12622865}"/>
              </a:ext>
            </a:extLst>
          </p:cNvPr>
          <p:cNvSpPr>
            <a:spLocks noGrp="1"/>
          </p:cNvSpPr>
          <p:nvPr/>
        </p:nvSpPr>
        <p:spPr>
          <a:xfrm>
            <a:off x="7934325" y="2314575"/>
            <a:ext cx="3524250" cy="2857500"/>
          </a:xfrm>
          <a:prstGeom prst="rect">
            <a:avLst/>
          </a:prstGeom>
          <a:noFill/>
          <a:ln w="0">
            <a:noFill/>
          </a:ln>
        </p:spPr>
        <p:txBody>
          <a:bodyPr>
            <a:noAutofit/>
          </a:bodyPr>
          <a:lstStyle/>
          <a:p>
            <a:pPr>
              <a:defRPr sz="3900" b="0">
                <a:solidFill>
                  <a:srgbClr val="18180F"/>
                </a:solidFill>
                <a:latin typeface="Mayonnaise Black"/>
                <a:ea typeface="Mayonnaise Black"/>
                <a:cs typeface="Mayonnaise Black"/>
              </a:defRPr>
            </a:pPr>
            <a:r>
              <a:rPr lang="en-US" sz="3900" b="1" dirty="0">
                <a:solidFill>
                  <a:srgbClr val="18180F"/>
                </a:solidFill>
                <a:latin typeface="Apfel Grotezk" pitchFamily="2" charset="77"/>
                <a:ea typeface="Mayonnaise Black"/>
                <a:cs typeface="Mayonnaise Black"/>
              </a:rPr>
              <a:t>“OSM already has everything we need, why not use that?”</a:t>
            </a:r>
          </a:p>
        </p:txBody>
      </p:sp>
    </p:spTree>
    <p:extLst>
      <p:ext uri="{BB962C8B-B14F-4D97-AF65-F5344CB8AC3E}">
        <p14:creationId xmlns:p14="http://schemas.microsoft.com/office/powerpoint/2010/main" val="392049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D556D4-4CD9-4DF9-BFA7-D0ED4A9A43C2}"/>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dirty="0">
                <a:solidFill>
                  <a:srgbClr val="F4501E"/>
                </a:solidFill>
                <a:latin typeface="Apfel Grotezk"/>
                <a:ea typeface="Apfel Grotezk"/>
                <a:cs typeface="Apfel Grotezk"/>
              </a:rPr>
              <a:t>THE </a:t>
            </a:r>
            <a:r>
              <a:rPr lang="nl-NL" sz="1275" b="1" dirty="0">
                <a:solidFill>
                  <a:srgbClr val="F4501E"/>
                </a:solidFill>
                <a:latin typeface="Apfel Grotezk"/>
                <a:ea typeface="Apfel Grotezk"/>
                <a:cs typeface="Apfel Grotezk"/>
              </a:rPr>
              <a:t>SOLUTION</a:t>
            </a:r>
            <a:endParaRPr sz="1275" b="1" dirty="0">
              <a:solidFill>
                <a:srgbClr val="F4501E"/>
              </a:solidFill>
              <a:latin typeface="Apfel Grotezk"/>
              <a:ea typeface="Apfel Grotezk"/>
              <a:cs typeface="Apfel Grotezk"/>
            </a:endParaRPr>
          </a:p>
        </p:txBody>
      </p:sp>
      <p:sp>
        <p:nvSpPr>
          <p:cNvPr id="2" name="Rectangle 1">
            <a:extLst>
              <a:ext uri="{FF2B5EF4-FFF2-40B4-BE49-F238E27FC236}">
                <a16:creationId xmlns:a16="http://schemas.microsoft.com/office/drawing/2014/main" id="{BC94E361-F36D-45BA-ACF7-3FC954EC845B}"/>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dirty="0">
                <a:solidFill>
                  <a:srgbClr val="18180F"/>
                </a:solidFill>
                <a:latin typeface="Mayonnaise Black"/>
                <a:ea typeface="Mayonnaise Black"/>
                <a:cs typeface="Mayonnaise Black"/>
              </a:rPr>
              <a:t>A</a:t>
            </a:r>
            <a:r>
              <a:rPr lang="nl-NL" sz="4125" b="0" dirty="0">
                <a:solidFill>
                  <a:srgbClr val="18180F"/>
                </a:solidFill>
                <a:latin typeface="Mayonnaise Black"/>
                <a:ea typeface="Mayonnaise Black"/>
                <a:cs typeface="Mayonnaise Black"/>
              </a:rPr>
              <a:t>N INSTANT</a:t>
            </a:r>
            <a:r>
              <a:rPr sz="4125" b="0" dirty="0">
                <a:solidFill>
                  <a:srgbClr val="18180F"/>
                </a:solidFill>
                <a:latin typeface="Mayonnaise Black"/>
                <a:ea typeface="Mayonnaise Black"/>
                <a:cs typeface="Mayonnaise Black"/>
              </a:rPr>
              <a:t> BASE MAP YOU CAN MAKE YOUR OWN</a:t>
            </a:r>
          </a:p>
        </p:txBody>
      </p:sp>
      <p:sp>
        <p:nvSpPr>
          <p:cNvPr id="3" name="Rectangle 2">
            <a:extLst>
              <a:ext uri="{FF2B5EF4-FFF2-40B4-BE49-F238E27FC236}">
                <a16:creationId xmlns:a16="http://schemas.microsoft.com/office/drawing/2014/main" id="{79AA99F8-8594-46BA-BB27-CF52514896C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7F8EEF0-EB5C-4204-B924-02B1274A1F78}"/>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03</a:t>
            </a:r>
          </a:p>
        </p:txBody>
      </p:sp>
      <p:pic>
        <p:nvPicPr>
          <p:cNvPr id="13" name="Picture 12"/>
          <p:cNvPicPr>
            <a:picLocks noChangeAspect="1"/>
          </p:cNvPicPr>
          <p:nvPr/>
        </p:nvPicPr>
        <p:blipFill>
          <a:blip r:embed="rId3"/>
          <a:srcRect t="14153" b="14153"/>
          <a:stretch>
            <a:fillRect/>
          </a:stretch>
        </p:blipFill>
        <p:spPr>
          <a:xfrm>
            <a:off x="457200" y="1847850"/>
            <a:ext cx="7315200" cy="4248150"/>
          </a:xfrm>
          <a:prstGeom prst="rect">
            <a:avLst/>
          </a:prstGeom>
        </p:spPr>
      </p:pic>
      <p:sp>
        <p:nvSpPr>
          <p:cNvPr id="6" name="Rectangle 5">
            <a:extLst>
              <a:ext uri="{FF2B5EF4-FFF2-40B4-BE49-F238E27FC236}">
                <a16:creationId xmlns:a16="http://schemas.microsoft.com/office/drawing/2014/main" id="{23A2B44E-DED6-4D20-B9E1-32495980B262}"/>
              </a:ext>
            </a:extLst>
          </p:cNvPr>
          <p:cNvSpPr>
            <a:spLocks noGrp="1"/>
          </p:cNvSpPr>
          <p:nvPr/>
        </p:nvSpPr>
        <p:spPr>
          <a:xfrm>
            <a:off x="8143875" y="1971675"/>
            <a:ext cx="3571875" cy="476250"/>
          </a:xfrm>
          <a:prstGeom prst="rect">
            <a:avLst/>
          </a:prstGeom>
          <a:noFill/>
          <a:ln w="0">
            <a:noFill/>
          </a:ln>
        </p:spPr>
        <p:txBody>
          <a:bodyPr>
            <a:noAutofit/>
          </a:bodyPr>
          <a:lstStyle/>
          <a:p>
            <a:pPr>
              <a:defRPr sz="2700" b="1">
                <a:solidFill>
                  <a:srgbClr val="F4501E"/>
                </a:solidFill>
                <a:latin typeface="Apfel Grotezk"/>
                <a:ea typeface="Apfel Grotezk"/>
                <a:cs typeface="Apfel Grotezk"/>
              </a:defRPr>
            </a:pPr>
            <a:r>
              <a:rPr sz="2700" b="1">
                <a:solidFill>
                  <a:srgbClr val="F4501E"/>
                </a:solidFill>
                <a:latin typeface="Apfel Grotezk"/>
                <a:ea typeface="Apfel Grotezk"/>
                <a:cs typeface="Apfel Grotezk"/>
              </a:rPr>
              <a:t>Editable SVG</a:t>
            </a:r>
          </a:p>
        </p:txBody>
      </p:sp>
      <p:sp>
        <p:nvSpPr>
          <p:cNvPr id="7" name="Rectangle 6">
            <a:extLst>
              <a:ext uri="{FF2B5EF4-FFF2-40B4-BE49-F238E27FC236}">
                <a16:creationId xmlns:a16="http://schemas.microsoft.com/office/drawing/2014/main" id="{161872ED-9259-44E3-887D-7D11FDC86796}"/>
              </a:ext>
            </a:extLst>
          </p:cNvPr>
          <p:cNvSpPr>
            <a:spLocks noGrp="1"/>
          </p:cNvSpPr>
          <p:nvPr/>
        </p:nvSpPr>
        <p:spPr>
          <a:xfrm>
            <a:off x="8143875" y="2628900"/>
            <a:ext cx="3562350" cy="2819400"/>
          </a:xfrm>
          <a:prstGeom prst="rect">
            <a:avLst/>
          </a:prstGeom>
          <a:noFill/>
          <a:ln w="0">
            <a:noFill/>
          </a:ln>
        </p:spPr>
        <p:txBody>
          <a:bodyPr>
            <a:noAutofit/>
          </a:bodyPr>
          <a:lstStyle/>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Separate layers and groups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Vector shapes and street labels</a:t>
            </a:r>
          </a:p>
          <a:p>
            <a:endParaRPr sz="2100" b="0" dirty="0">
              <a:solidFill>
                <a:srgbClr val="18180F"/>
              </a:solidFill>
              <a:latin typeface="Apfel Grotezk"/>
              <a:ea typeface="Apfel Grotezk"/>
              <a:cs typeface="Apfel Grotezk"/>
            </a:endParaRP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A starting point for your</a:t>
            </a:r>
          </a:p>
          <a:p>
            <a:pPr>
              <a:defRPr sz="2100" b="0">
                <a:solidFill>
                  <a:srgbClr val="18180F"/>
                </a:solidFill>
                <a:latin typeface="Apfel Grotezk"/>
                <a:ea typeface="Apfel Grotezk"/>
                <a:cs typeface="Apfel Grotezk"/>
              </a:defRPr>
            </a:pPr>
            <a:r>
              <a:rPr sz="2100" b="0" dirty="0">
                <a:solidFill>
                  <a:srgbClr val="18180F"/>
                </a:solidFill>
                <a:latin typeface="Apfel Grotezk"/>
                <a:ea typeface="Apfel Grotezk"/>
                <a:cs typeface="Apfel Grotezk"/>
              </a:rPr>
              <a:t>USE-IT </a:t>
            </a:r>
            <a:r>
              <a:rPr lang="nl-NL" sz="2100" dirty="0">
                <a:solidFill>
                  <a:srgbClr val="18180F"/>
                </a:solidFill>
                <a:latin typeface="Apfel Grotezk"/>
                <a:ea typeface="Apfel Grotezk"/>
                <a:cs typeface="Apfel Grotezk"/>
              </a:rPr>
              <a:t>map</a:t>
            </a:r>
            <a:endParaRPr sz="210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400400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1B0016C1-3F3D-41B2-85E7-1F565548378A}"/>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HOW IT WORKS</a:t>
            </a:r>
          </a:p>
        </p:txBody>
      </p:sp>
      <p:sp>
        <p:nvSpPr>
          <p:cNvPr id="2" name="Rectangle 1">
            <a:extLst>
              <a:ext uri="{FF2B5EF4-FFF2-40B4-BE49-F238E27FC236}">
                <a16:creationId xmlns:a16="http://schemas.microsoft.com/office/drawing/2014/main" id="{A58D0780-5158-48F8-9FDC-B614869E6CF4}"/>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FROM OPEN DATA TO YOUR DESIGN</a:t>
            </a:r>
          </a:p>
        </p:txBody>
      </p:sp>
      <p:sp>
        <p:nvSpPr>
          <p:cNvPr id="3" name="Rectangle 2">
            <a:extLst>
              <a:ext uri="{FF2B5EF4-FFF2-40B4-BE49-F238E27FC236}">
                <a16:creationId xmlns:a16="http://schemas.microsoft.com/office/drawing/2014/main" id="{2EFBFF58-8D2A-4ED7-85A2-562ED0EB68A0}"/>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7579817-425F-446B-AC8B-F49794882491}"/>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04</a:t>
            </a:r>
          </a:p>
        </p:txBody>
      </p:sp>
      <p:sp>
        <p:nvSpPr>
          <p:cNvPr id="5" name="Rectangle 4">
            <a:extLst>
              <a:ext uri="{FF2B5EF4-FFF2-40B4-BE49-F238E27FC236}">
                <a16:creationId xmlns:a16="http://schemas.microsoft.com/office/drawing/2014/main" id="{416D5DD0-23B3-40E9-8E9A-12853F0C4327}"/>
              </a:ext>
            </a:extLst>
          </p:cNvPr>
          <p:cNvSpPr>
            <a:spLocks noGrp="1"/>
          </p:cNvSpPr>
          <p:nvPr/>
        </p:nvSpPr>
        <p:spPr>
          <a:xfrm>
            <a:off x="457200" y="17526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01</a:t>
            </a:r>
          </a:p>
        </p:txBody>
      </p:sp>
      <p:sp>
        <p:nvSpPr>
          <p:cNvPr id="6" name="Rectangle 5">
            <a:extLst>
              <a:ext uri="{FF2B5EF4-FFF2-40B4-BE49-F238E27FC236}">
                <a16:creationId xmlns:a16="http://schemas.microsoft.com/office/drawing/2014/main" id="{D91E94B7-BE09-4508-A857-A643670B6EF9}"/>
              </a:ext>
            </a:extLst>
          </p:cNvPr>
          <p:cNvSpPr>
            <a:spLocks noGrp="1"/>
          </p:cNvSpPr>
          <p:nvPr/>
        </p:nvSpPr>
        <p:spPr>
          <a:xfrm>
            <a:off x="1257300" y="17526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an area</a:t>
            </a:r>
          </a:p>
        </p:txBody>
      </p:sp>
      <p:sp>
        <p:nvSpPr>
          <p:cNvPr id="7" name="Rectangle 6">
            <a:extLst>
              <a:ext uri="{FF2B5EF4-FFF2-40B4-BE49-F238E27FC236}">
                <a16:creationId xmlns:a16="http://schemas.microsoft.com/office/drawing/2014/main" id="{CA996B43-699F-4054-88DB-E1AA6A53084C}"/>
              </a:ext>
            </a:extLst>
          </p:cNvPr>
          <p:cNvSpPr>
            <a:spLocks noGrp="1"/>
          </p:cNvSpPr>
          <p:nvPr/>
        </p:nvSpPr>
        <p:spPr>
          <a:xfrm>
            <a:off x="1257300" y="21907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Find your city and draw a rectangle.</a:t>
            </a:r>
          </a:p>
        </p:txBody>
      </p:sp>
      <p:sp>
        <p:nvSpPr>
          <p:cNvPr id="8" name="Rectangle 7">
            <a:extLst>
              <a:ext uri="{FF2B5EF4-FFF2-40B4-BE49-F238E27FC236}">
                <a16:creationId xmlns:a16="http://schemas.microsoft.com/office/drawing/2014/main" id="{B6592AB6-C865-4172-BE26-D3DAC72F479B}"/>
              </a:ext>
            </a:extLst>
          </p:cNvPr>
          <p:cNvSpPr>
            <a:spLocks noGrp="1"/>
          </p:cNvSpPr>
          <p:nvPr/>
        </p:nvSpPr>
        <p:spPr>
          <a:xfrm>
            <a:off x="457200" y="28194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02</a:t>
            </a:r>
          </a:p>
        </p:txBody>
      </p:sp>
      <p:sp>
        <p:nvSpPr>
          <p:cNvPr id="9" name="Rectangle 8">
            <a:extLst>
              <a:ext uri="{FF2B5EF4-FFF2-40B4-BE49-F238E27FC236}">
                <a16:creationId xmlns:a16="http://schemas.microsoft.com/office/drawing/2014/main" id="{5B7B811A-4617-4077-B697-7DA48D345B91}"/>
              </a:ext>
            </a:extLst>
          </p:cNvPr>
          <p:cNvSpPr>
            <a:spLocks noGrp="1"/>
          </p:cNvSpPr>
          <p:nvPr/>
        </p:nvSpPr>
        <p:spPr>
          <a:xfrm>
            <a:off x="1257300" y="28194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Get the map features</a:t>
            </a:r>
          </a:p>
        </p:txBody>
      </p:sp>
      <p:sp>
        <p:nvSpPr>
          <p:cNvPr id="10" name="Rectangle 9">
            <a:extLst>
              <a:ext uri="{FF2B5EF4-FFF2-40B4-BE49-F238E27FC236}">
                <a16:creationId xmlns:a16="http://schemas.microsoft.com/office/drawing/2014/main" id="{15583C15-6906-45A1-8EEE-04D40D416186}"/>
              </a:ext>
            </a:extLst>
          </p:cNvPr>
          <p:cNvSpPr>
            <a:spLocks noGrp="1"/>
          </p:cNvSpPr>
          <p:nvPr/>
        </p:nvSpPr>
        <p:spPr>
          <a:xfrm>
            <a:off x="1257300" y="32575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MapExport retrieves OpenStreetMap data.</a:t>
            </a:r>
          </a:p>
        </p:txBody>
      </p:sp>
      <p:sp>
        <p:nvSpPr>
          <p:cNvPr id="11" name="Rectangle 10">
            <a:extLst>
              <a:ext uri="{FF2B5EF4-FFF2-40B4-BE49-F238E27FC236}">
                <a16:creationId xmlns:a16="http://schemas.microsoft.com/office/drawing/2014/main" id="{CA7CDA99-DB32-4C53-941F-74993C66C5C2}"/>
              </a:ext>
            </a:extLst>
          </p:cNvPr>
          <p:cNvSpPr>
            <a:spLocks noGrp="1"/>
          </p:cNvSpPr>
          <p:nvPr/>
        </p:nvSpPr>
        <p:spPr>
          <a:xfrm>
            <a:off x="457200" y="38862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03</a:t>
            </a:r>
          </a:p>
        </p:txBody>
      </p:sp>
      <p:sp>
        <p:nvSpPr>
          <p:cNvPr id="12" name="Rectangle 11">
            <a:extLst>
              <a:ext uri="{FF2B5EF4-FFF2-40B4-BE49-F238E27FC236}">
                <a16:creationId xmlns:a16="http://schemas.microsoft.com/office/drawing/2014/main" id="{ADAD72A6-ED5C-4383-A57C-C58D8588F432}"/>
              </a:ext>
            </a:extLst>
          </p:cNvPr>
          <p:cNvSpPr>
            <a:spLocks noGrp="1"/>
          </p:cNvSpPr>
          <p:nvPr/>
        </p:nvSpPr>
        <p:spPr>
          <a:xfrm>
            <a:off x="1257300" y="38862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Build the base map</a:t>
            </a:r>
          </a:p>
        </p:txBody>
      </p:sp>
      <p:sp>
        <p:nvSpPr>
          <p:cNvPr id="13" name="Rectangle 12">
            <a:extLst>
              <a:ext uri="{FF2B5EF4-FFF2-40B4-BE49-F238E27FC236}">
                <a16:creationId xmlns:a16="http://schemas.microsoft.com/office/drawing/2014/main" id="{737B3529-4A12-45BD-8A13-ADCFE62F38E1}"/>
              </a:ext>
            </a:extLst>
          </p:cNvPr>
          <p:cNvSpPr>
            <a:spLocks noGrp="1"/>
          </p:cNvSpPr>
          <p:nvPr/>
        </p:nvSpPr>
        <p:spPr>
          <a:xfrm>
            <a:off x="1257300" y="43243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a:solidFill>
                  <a:srgbClr val="18180F"/>
                </a:solidFill>
                <a:latin typeface="Apfel Grotezk"/>
                <a:ea typeface="Apfel Grotezk"/>
                <a:cs typeface="Apfel Grotezk"/>
              </a:rPr>
              <a:t>It draws roads, derives blocks and places labels.</a:t>
            </a:r>
          </a:p>
        </p:txBody>
      </p:sp>
      <p:sp>
        <p:nvSpPr>
          <p:cNvPr id="14" name="Rectangle 13">
            <a:extLst>
              <a:ext uri="{FF2B5EF4-FFF2-40B4-BE49-F238E27FC236}">
                <a16:creationId xmlns:a16="http://schemas.microsoft.com/office/drawing/2014/main" id="{D00659AF-9D9B-4D23-BB94-F9D0DC3F5DAD}"/>
              </a:ext>
            </a:extLst>
          </p:cNvPr>
          <p:cNvSpPr>
            <a:spLocks noGrp="1"/>
          </p:cNvSpPr>
          <p:nvPr/>
        </p:nvSpPr>
        <p:spPr>
          <a:xfrm>
            <a:off x="457200" y="4953000"/>
            <a:ext cx="685800" cy="552450"/>
          </a:xfrm>
          <a:prstGeom prst="rect">
            <a:avLst/>
          </a:prstGeom>
          <a:noFill/>
          <a:ln w="0">
            <a:noFill/>
          </a:ln>
        </p:spPr>
        <p:txBody>
          <a:bodyPr>
            <a:noAutofit/>
          </a:bodyPr>
          <a:lstStyle/>
          <a:p>
            <a:pPr>
              <a:defRPr sz="3000" b="0">
                <a:solidFill>
                  <a:srgbClr val="F4501E"/>
                </a:solidFill>
                <a:latin typeface="Mayonnaise Black"/>
                <a:ea typeface="Mayonnaise Black"/>
                <a:cs typeface="Mayonnaise Black"/>
              </a:defRPr>
            </a:pPr>
            <a:r>
              <a:rPr sz="3000" b="0">
                <a:solidFill>
                  <a:srgbClr val="F4501E"/>
                </a:solidFill>
                <a:latin typeface="Mayonnaise Black"/>
                <a:ea typeface="Mayonnaise Black"/>
                <a:cs typeface="Mayonnaise Black"/>
              </a:rPr>
              <a:t>04</a:t>
            </a:r>
          </a:p>
        </p:txBody>
      </p:sp>
      <p:sp>
        <p:nvSpPr>
          <p:cNvPr id="15" name="Rectangle 14">
            <a:extLst>
              <a:ext uri="{FF2B5EF4-FFF2-40B4-BE49-F238E27FC236}">
                <a16:creationId xmlns:a16="http://schemas.microsoft.com/office/drawing/2014/main" id="{6129152D-214F-40F7-913F-09E1A29EA5CE}"/>
              </a:ext>
            </a:extLst>
          </p:cNvPr>
          <p:cNvSpPr>
            <a:spLocks noGrp="1"/>
          </p:cNvSpPr>
          <p:nvPr/>
        </p:nvSpPr>
        <p:spPr>
          <a:xfrm>
            <a:off x="1257300" y="4953000"/>
            <a:ext cx="9486900" cy="400050"/>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Continue in your editor</a:t>
            </a:r>
          </a:p>
        </p:txBody>
      </p:sp>
      <p:sp>
        <p:nvSpPr>
          <p:cNvPr id="16" name="Rectangle 15">
            <a:extLst>
              <a:ext uri="{FF2B5EF4-FFF2-40B4-BE49-F238E27FC236}">
                <a16:creationId xmlns:a16="http://schemas.microsoft.com/office/drawing/2014/main" id="{F0767B24-9E17-4B95-95FA-34BBC908953A}"/>
              </a:ext>
            </a:extLst>
          </p:cNvPr>
          <p:cNvSpPr>
            <a:spLocks noGrp="1"/>
          </p:cNvSpPr>
          <p:nvPr/>
        </p:nvSpPr>
        <p:spPr>
          <a:xfrm>
            <a:off x="1257300" y="5391150"/>
            <a:ext cx="9486900" cy="638175"/>
          </a:xfrm>
          <a:prstGeom prst="rect">
            <a:avLst/>
          </a:prstGeom>
          <a:noFill/>
          <a:ln w="0">
            <a:noFill/>
          </a:ln>
        </p:spPr>
        <p:txBody>
          <a:bodyPr>
            <a:noAutofit/>
          </a:bodyPr>
          <a:lstStyle/>
          <a:p>
            <a:pPr>
              <a:defRPr sz="1950" b="0">
                <a:solidFill>
                  <a:srgbClr val="18180F"/>
                </a:solidFill>
                <a:latin typeface="Apfel Grotezk"/>
                <a:ea typeface="Apfel Grotezk"/>
                <a:cs typeface="Apfel Grotezk"/>
              </a:defRPr>
            </a:pPr>
            <a:r>
              <a:rPr sz="1950" b="0" dirty="0">
                <a:solidFill>
                  <a:srgbClr val="18180F"/>
                </a:solidFill>
                <a:latin typeface="Apfel Grotezk"/>
                <a:ea typeface="Apfel Grotezk"/>
                <a:cs typeface="Apfel Grotezk"/>
              </a:rPr>
              <a:t>Download an SVG and open it in Illustrator or Inkscape.</a:t>
            </a:r>
            <a:endParaRPr lang="nl-NL" sz="1950" b="0" dirty="0">
              <a:solidFill>
                <a:srgbClr val="18180F"/>
              </a:solidFill>
              <a:latin typeface="Apfel Grotezk"/>
              <a:ea typeface="Apfel Grotezk"/>
              <a:cs typeface="Apfel Grotezk"/>
            </a:endParaRPr>
          </a:p>
          <a:p>
            <a:pPr>
              <a:defRPr sz="1950" b="0">
                <a:solidFill>
                  <a:srgbClr val="18180F"/>
                </a:solidFill>
                <a:latin typeface="Apfel Grotezk"/>
                <a:ea typeface="Apfel Grotezk"/>
                <a:cs typeface="Apfel Grotezk"/>
              </a:defRPr>
            </a:pPr>
            <a:r>
              <a:rPr lang="en-US" sz="1950" dirty="0">
                <a:solidFill>
                  <a:srgbClr val="18180F"/>
                </a:solidFill>
                <a:latin typeface="Apfel Grotezk"/>
                <a:ea typeface="Apfel Grotezk"/>
                <a:cs typeface="Apfel Grotezk"/>
              </a:rPr>
              <a:t>(or any other editor that understands SVG)</a:t>
            </a:r>
            <a:endParaRPr sz="1950" b="0" dirty="0">
              <a:solidFill>
                <a:srgbClr val="18180F"/>
              </a:solidFill>
              <a:latin typeface="Apfel Grotezk"/>
              <a:ea typeface="Apfel Grotezk"/>
              <a:cs typeface="Apfel Grotezk"/>
            </a:endParaRPr>
          </a:p>
        </p:txBody>
      </p:sp>
    </p:spTree>
    <p:extLst>
      <p:ext uri="{BB962C8B-B14F-4D97-AF65-F5344CB8AC3E}">
        <p14:creationId xmlns:p14="http://schemas.microsoft.com/office/powerpoint/2010/main" val="193080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73817F9-BCFE-4CF3-A149-4DA1F2A21B9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 THE BROWSER</a:t>
            </a:r>
          </a:p>
        </p:txBody>
      </p:sp>
      <p:sp>
        <p:nvSpPr>
          <p:cNvPr id="2" name="Rectangle 1">
            <a:extLst>
              <a:ext uri="{FF2B5EF4-FFF2-40B4-BE49-F238E27FC236}">
                <a16:creationId xmlns:a16="http://schemas.microsoft.com/office/drawing/2014/main" id="{69E33821-DE01-4464-996D-642A047CDB96}"/>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MEET YOUR WORKSPACE</a:t>
            </a:r>
          </a:p>
        </p:txBody>
      </p:sp>
      <p:sp>
        <p:nvSpPr>
          <p:cNvPr id="3" name="Rectangle 2">
            <a:extLst>
              <a:ext uri="{FF2B5EF4-FFF2-40B4-BE49-F238E27FC236}">
                <a16:creationId xmlns:a16="http://schemas.microsoft.com/office/drawing/2014/main" id="{D1B3A575-088A-4DB8-992C-6C750E5FD463}"/>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43405EBA-A73D-4B3E-BB0E-D169FBA07ECC}"/>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05</a:t>
            </a:r>
          </a:p>
        </p:txBody>
      </p:sp>
      <p:pic>
        <p:nvPicPr>
          <p:cNvPr id="13" name="Picture 12"/>
          <p:cNvPicPr>
            <a:picLocks noChangeAspect="1"/>
          </p:cNvPicPr>
          <p:nvPr/>
        </p:nvPicPr>
        <p:blipFill>
          <a:blip r:embed="rId3"/>
          <a:stretch/>
        </p:blipFill>
        <p:spPr>
          <a:xfrm>
            <a:off x="957792" y="1685925"/>
            <a:ext cx="8009467" cy="4505325"/>
          </a:xfrm>
          <a:prstGeom prst="rect">
            <a:avLst/>
          </a:prstGeom>
        </p:spPr>
      </p:pic>
      <p:sp>
        <p:nvSpPr>
          <p:cNvPr id="6" name="Rectangle 5">
            <a:extLst>
              <a:ext uri="{FF2B5EF4-FFF2-40B4-BE49-F238E27FC236}">
                <a16:creationId xmlns:a16="http://schemas.microsoft.com/office/drawing/2014/main" id="{9B2FCC1E-9D28-4A2D-AD9E-4D5E70486890}"/>
              </a:ext>
            </a:extLst>
          </p:cNvPr>
          <p:cNvSpPr>
            <a:spLocks noGrp="1"/>
          </p:cNvSpPr>
          <p:nvPr/>
        </p:nvSpPr>
        <p:spPr>
          <a:xfrm>
            <a:off x="9715500" y="1990725"/>
            <a:ext cx="2171700" cy="666750"/>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1  Find a city</a:t>
            </a:r>
          </a:p>
        </p:txBody>
      </p:sp>
      <p:sp>
        <p:nvSpPr>
          <p:cNvPr id="7" name="Rectangle 6">
            <a:extLst>
              <a:ext uri="{FF2B5EF4-FFF2-40B4-BE49-F238E27FC236}">
                <a16:creationId xmlns:a16="http://schemas.microsoft.com/office/drawing/2014/main" id="{A378F516-7828-495F-8169-25975B1D506A}"/>
              </a:ext>
            </a:extLst>
          </p:cNvPr>
          <p:cNvSpPr>
            <a:spLocks noGrp="1"/>
          </p:cNvSpPr>
          <p:nvPr/>
        </p:nvSpPr>
        <p:spPr>
          <a:xfrm>
            <a:off x="9715500" y="31623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2  Draw an area</a:t>
            </a:r>
          </a:p>
        </p:txBody>
      </p:sp>
      <p:sp>
        <p:nvSpPr>
          <p:cNvPr id="8" name="Rectangle 7">
            <a:extLst>
              <a:ext uri="{FF2B5EF4-FFF2-40B4-BE49-F238E27FC236}">
                <a16:creationId xmlns:a16="http://schemas.microsoft.com/office/drawing/2014/main" id="{59B83E10-C35D-448F-B643-E3CF82019BE3}"/>
              </a:ext>
            </a:extLst>
          </p:cNvPr>
          <p:cNvSpPr>
            <a:spLocks noGrp="1"/>
          </p:cNvSpPr>
          <p:nvPr/>
        </p:nvSpPr>
        <p:spPr>
          <a:xfrm>
            <a:off x="9715500" y="4343400"/>
            <a:ext cx="2190750" cy="714375"/>
          </a:xfrm>
          <a:prstGeom prst="rect">
            <a:avLst/>
          </a:prstGeom>
          <a:noFill/>
          <a:ln w="0">
            <a:noFill/>
          </a:ln>
        </p:spPr>
        <p:txBody>
          <a:bodyPr>
            <a:noAutofit/>
          </a:bodyPr>
          <a:lstStyle/>
          <a:p>
            <a:pPr>
              <a:defRPr sz="1875" b="1">
                <a:solidFill>
                  <a:srgbClr val="F4501E"/>
                </a:solidFill>
                <a:latin typeface="Apfel Grotezk"/>
                <a:ea typeface="Apfel Grotezk"/>
                <a:cs typeface="Apfel Grotezk"/>
              </a:defRPr>
            </a:pPr>
            <a:r>
              <a:rPr sz="1875" b="1">
                <a:solidFill>
                  <a:srgbClr val="F4501E"/>
                </a:solidFill>
                <a:latin typeface="Apfel Grotezk"/>
                <a:ea typeface="Apfel Grotezk"/>
                <a:cs typeface="Apfel Grotezk"/>
              </a:rPr>
              <a:t>3  Choose layers</a:t>
            </a:r>
          </a:p>
        </p:txBody>
      </p:sp>
    </p:spTree>
    <p:extLst>
      <p:ext uri="{BB962C8B-B14F-4D97-AF65-F5344CB8AC3E}">
        <p14:creationId xmlns:p14="http://schemas.microsoft.com/office/powerpoint/2010/main" val="197797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F4561C-4B70-4FB2-9962-8FE85F560200}"/>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CHOOSE YOUR AREA</a:t>
            </a:r>
          </a:p>
        </p:txBody>
      </p:sp>
      <p:sp>
        <p:nvSpPr>
          <p:cNvPr id="2" name="Rectangle 1">
            <a:extLst>
              <a:ext uri="{FF2B5EF4-FFF2-40B4-BE49-F238E27FC236}">
                <a16:creationId xmlns:a16="http://schemas.microsoft.com/office/drawing/2014/main" id="{EDE012E3-BCF9-4038-B17C-560E16414CD9}"/>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START WITH A WALKABLE CITY CENTRE</a:t>
            </a:r>
          </a:p>
        </p:txBody>
      </p:sp>
      <p:sp>
        <p:nvSpPr>
          <p:cNvPr id="3" name="Rectangle 2">
            <a:extLst>
              <a:ext uri="{FF2B5EF4-FFF2-40B4-BE49-F238E27FC236}">
                <a16:creationId xmlns:a16="http://schemas.microsoft.com/office/drawing/2014/main" id="{E6C3BA23-42E8-47AB-A971-AAEBBFE9341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A4582452-D2DF-4503-8399-D33C772EF234}"/>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06</a:t>
            </a:r>
          </a:p>
        </p:txBody>
      </p:sp>
      <p:pic>
        <p:nvPicPr>
          <p:cNvPr id="12" name="Picture 11"/>
          <p:cNvPicPr>
            <a:picLocks noChangeAspect="1"/>
          </p:cNvPicPr>
          <p:nvPr/>
        </p:nvPicPr>
        <p:blipFill>
          <a:blip r:embed="rId3"/>
          <a:stretch/>
        </p:blipFill>
        <p:spPr>
          <a:xfrm>
            <a:off x="457200" y="1791891"/>
            <a:ext cx="7886700" cy="4436269"/>
          </a:xfrm>
          <a:prstGeom prst="rect">
            <a:avLst/>
          </a:prstGeom>
        </p:spPr>
      </p:pic>
      <p:sp>
        <p:nvSpPr>
          <p:cNvPr id="6" name="Rectangle 5">
            <a:extLst>
              <a:ext uri="{FF2B5EF4-FFF2-40B4-BE49-F238E27FC236}">
                <a16:creationId xmlns:a16="http://schemas.microsoft.com/office/drawing/2014/main" id="{405911ED-225D-4BFF-8E2F-46316AA1294B}"/>
              </a:ext>
            </a:extLst>
          </p:cNvPr>
          <p:cNvSpPr>
            <a:spLocks noGrp="1"/>
          </p:cNvSpPr>
          <p:nvPr/>
        </p:nvSpPr>
        <p:spPr>
          <a:xfrm>
            <a:off x="8610600" y="1981200"/>
            <a:ext cx="3076575" cy="9334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Keep the first area small.</a:t>
            </a:r>
          </a:p>
        </p:txBody>
      </p:sp>
      <p:sp>
        <p:nvSpPr>
          <p:cNvPr id="7" name="Rectangle 6">
            <a:extLst>
              <a:ext uri="{FF2B5EF4-FFF2-40B4-BE49-F238E27FC236}">
                <a16:creationId xmlns:a16="http://schemas.microsoft.com/office/drawing/2014/main" id="{5F5FC0DF-6ED5-4FC7-9448-04BE1FEA8A0F}"/>
              </a:ext>
            </a:extLst>
          </p:cNvPr>
          <p:cNvSpPr>
            <a:spLocks noGrp="1"/>
          </p:cNvSpPr>
          <p:nvPr/>
        </p:nvSpPr>
        <p:spPr>
          <a:xfrm>
            <a:off x="8610600" y="3162300"/>
            <a:ext cx="3105150" cy="275272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Include a recognisable landmark.</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Check the area and printed size.</a:t>
            </a:r>
          </a:p>
          <a:p>
            <a:endParaRPr sz="2025" b="0">
              <a:solidFill>
                <a:srgbClr val="18180F"/>
              </a:solidFill>
              <a:latin typeface="Apfel Grotezk"/>
              <a:ea typeface="Apfel Grotezk"/>
              <a:cs typeface="Apfel Grotezk"/>
            </a:endParaRP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Leave room for your eventual layout.</a:t>
            </a:r>
          </a:p>
        </p:txBody>
      </p:sp>
    </p:spTree>
    <p:extLst>
      <p:ext uri="{BB962C8B-B14F-4D97-AF65-F5344CB8AC3E}">
        <p14:creationId xmlns:p14="http://schemas.microsoft.com/office/powerpoint/2010/main" val="408545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4A24E38-086E-4F22-B76F-81658A59C27F}"/>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LAYERS</a:t>
            </a:r>
          </a:p>
        </p:txBody>
      </p:sp>
      <p:sp>
        <p:nvSpPr>
          <p:cNvPr id="2" name="Rectangle 1">
            <a:extLst>
              <a:ext uri="{FF2B5EF4-FFF2-40B4-BE49-F238E27FC236}">
                <a16:creationId xmlns:a16="http://schemas.microsoft.com/office/drawing/2014/main" id="{2D7D2686-B341-4606-8EA1-2DFDCF58070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CHOOSE WHAT YOUR MAP NEEDS</a:t>
            </a:r>
          </a:p>
        </p:txBody>
      </p:sp>
      <p:sp>
        <p:nvSpPr>
          <p:cNvPr id="3" name="Rectangle 2">
            <a:extLst>
              <a:ext uri="{FF2B5EF4-FFF2-40B4-BE49-F238E27FC236}">
                <a16:creationId xmlns:a16="http://schemas.microsoft.com/office/drawing/2014/main" id="{DF857A1E-1BB7-4635-96A3-2D464B5AAC9F}"/>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F0F7FA0-CD5C-4B1B-A1C1-BF8C57BD5482}"/>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07</a:t>
            </a:r>
          </a:p>
        </p:txBody>
      </p:sp>
      <p:pic>
        <p:nvPicPr>
          <p:cNvPr id="14" name="Picture 13"/>
          <p:cNvPicPr>
            <a:picLocks noChangeAspect="1"/>
          </p:cNvPicPr>
          <p:nvPr/>
        </p:nvPicPr>
        <p:blipFill>
          <a:blip r:embed="rId3"/>
          <a:srcRect l="567" r="567"/>
          <a:stretch>
            <a:fillRect/>
          </a:stretch>
        </p:blipFill>
        <p:spPr>
          <a:xfrm>
            <a:off x="6305550" y="1743075"/>
            <a:ext cx="5429250" cy="4448175"/>
          </a:xfrm>
          <a:prstGeom prst="rect">
            <a:avLst/>
          </a:prstGeom>
        </p:spPr>
      </p:pic>
      <p:sp>
        <p:nvSpPr>
          <p:cNvPr id="6" name="Rectangle 5">
            <a:extLst>
              <a:ext uri="{FF2B5EF4-FFF2-40B4-BE49-F238E27FC236}">
                <a16:creationId xmlns:a16="http://schemas.microsoft.com/office/drawing/2014/main" id="{D7D641B2-5FC2-4911-B24B-A2D06F008203}"/>
              </a:ext>
            </a:extLst>
          </p:cNvPr>
          <p:cNvSpPr>
            <a:spLocks noGrp="1"/>
          </p:cNvSpPr>
          <p:nvPr/>
        </p:nvSpPr>
        <p:spPr>
          <a:xfrm>
            <a:off x="457200" y="1838325"/>
            <a:ext cx="5429250" cy="476250"/>
          </a:xfrm>
          <a:prstGeom prst="rect">
            <a:avLst/>
          </a:prstGeom>
          <a:noFill/>
          <a:ln w="0">
            <a:noFill/>
          </a:ln>
        </p:spPr>
        <p:txBody>
          <a:bodyPr>
            <a:noAutofit/>
          </a:bodyPr>
          <a:lstStyle/>
          <a:p>
            <a:pPr>
              <a:defRPr sz="2550" b="1">
                <a:solidFill>
                  <a:srgbClr val="F4501E"/>
                </a:solidFill>
                <a:latin typeface="Apfel Grotezk"/>
                <a:ea typeface="Apfel Grotezk"/>
                <a:cs typeface="Apfel Grotezk"/>
              </a:defRPr>
            </a:pPr>
            <a:r>
              <a:rPr sz="2550" b="1">
                <a:solidFill>
                  <a:srgbClr val="F4501E"/>
                </a:solidFill>
                <a:latin typeface="Apfel Grotezk"/>
                <a:ea typeface="Apfel Grotezk"/>
                <a:cs typeface="Apfel Grotezk"/>
              </a:rPr>
              <a:t>The essentials</a:t>
            </a:r>
          </a:p>
        </p:txBody>
      </p:sp>
      <p:sp>
        <p:nvSpPr>
          <p:cNvPr id="7" name="Rectangle 6">
            <a:extLst>
              <a:ext uri="{FF2B5EF4-FFF2-40B4-BE49-F238E27FC236}">
                <a16:creationId xmlns:a16="http://schemas.microsoft.com/office/drawing/2014/main" id="{E3C6D910-12AB-4D99-AB1A-C1ABE34ACF7B}"/>
              </a:ext>
            </a:extLst>
          </p:cNvPr>
          <p:cNvSpPr>
            <a:spLocks noGrp="1"/>
          </p:cNvSpPr>
          <p:nvPr/>
        </p:nvSpPr>
        <p:spPr>
          <a:xfrm>
            <a:off x="457200" y="2447925"/>
            <a:ext cx="5324475" cy="152400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Roads and city blocks</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Water and green space</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Street names</a:t>
            </a:r>
          </a:p>
        </p:txBody>
      </p:sp>
      <p:sp>
        <p:nvSpPr>
          <p:cNvPr id="8" name="Rectangle 7">
            <a:extLst>
              <a:ext uri="{FF2B5EF4-FFF2-40B4-BE49-F238E27FC236}">
                <a16:creationId xmlns:a16="http://schemas.microsoft.com/office/drawing/2014/main" id="{DDAAF387-09E1-4B40-B13A-3BB013024B8C}"/>
              </a:ext>
            </a:extLst>
          </p:cNvPr>
          <p:cNvSpPr>
            <a:spLocks noGrp="1"/>
          </p:cNvSpPr>
          <p:nvPr/>
        </p:nvSpPr>
        <p:spPr>
          <a:xfrm>
            <a:off x="457200" y="4238625"/>
            <a:ext cx="5514975" cy="4762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dirty="0">
                <a:solidFill>
                  <a:srgbClr val="F4501E"/>
                </a:solidFill>
                <a:latin typeface="Apfel Grotezk"/>
                <a:ea typeface="Apfel Grotezk"/>
                <a:cs typeface="Apfel Grotezk"/>
              </a:rPr>
              <a:t>Add detail </a:t>
            </a:r>
            <a:r>
              <a:rPr lang="nl-NL" sz="2400" b="1" dirty="0" err="1">
                <a:solidFill>
                  <a:srgbClr val="F4501E"/>
                </a:solidFill>
                <a:latin typeface="Apfel Grotezk"/>
                <a:ea typeface="Apfel Grotezk"/>
                <a:cs typeface="Apfel Grotezk"/>
              </a:rPr>
              <a:t>only</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when</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you’ll</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need</a:t>
            </a:r>
            <a:r>
              <a:rPr lang="nl-NL" sz="2400" b="1" dirty="0">
                <a:solidFill>
                  <a:srgbClr val="F4501E"/>
                </a:solidFill>
                <a:latin typeface="Apfel Grotezk"/>
                <a:ea typeface="Apfel Grotezk"/>
                <a:cs typeface="Apfel Grotezk"/>
              </a:rPr>
              <a:t> </a:t>
            </a:r>
            <a:r>
              <a:rPr lang="nl-NL" sz="2400" b="1" dirty="0" err="1">
                <a:solidFill>
                  <a:srgbClr val="F4501E"/>
                </a:solidFill>
                <a:latin typeface="Apfel Grotezk"/>
                <a:ea typeface="Apfel Grotezk"/>
                <a:cs typeface="Apfel Grotezk"/>
              </a:rPr>
              <a:t>it</a:t>
            </a:r>
            <a:endParaRPr sz="2400" b="1" dirty="0">
              <a:solidFill>
                <a:srgbClr val="F4501E"/>
              </a:solidFill>
              <a:latin typeface="Apfel Grotezk"/>
              <a:ea typeface="Apfel Grotezk"/>
              <a:cs typeface="Apfel Grotezk"/>
            </a:endParaRPr>
          </a:p>
        </p:txBody>
      </p:sp>
      <p:sp>
        <p:nvSpPr>
          <p:cNvPr id="9" name="Rectangle 8">
            <a:extLst>
              <a:ext uri="{FF2B5EF4-FFF2-40B4-BE49-F238E27FC236}">
                <a16:creationId xmlns:a16="http://schemas.microsoft.com/office/drawing/2014/main" id="{A83E0955-9325-4E54-9EC3-FD308B89CC2E}"/>
              </a:ext>
            </a:extLst>
          </p:cNvPr>
          <p:cNvSpPr>
            <a:spLocks noGrp="1"/>
          </p:cNvSpPr>
          <p:nvPr/>
        </p:nvSpPr>
        <p:spPr>
          <a:xfrm>
            <a:off x="457200" y="4800600"/>
            <a:ext cx="5429250" cy="9525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For example: transit or pedestrian routes.</a:t>
            </a:r>
          </a:p>
          <a:p>
            <a:pPr>
              <a:defRPr sz="2025" b="0">
                <a:solidFill>
                  <a:srgbClr val="18180F"/>
                </a:solidFill>
                <a:latin typeface="Apfel Grotezk"/>
                <a:ea typeface="Apfel Grotezk"/>
                <a:cs typeface="Apfel Grotezk"/>
              </a:defRPr>
            </a:pPr>
            <a:r>
              <a:rPr sz="2025" b="0" dirty="0">
                <a:solidFill>
                  <a:srgbClr val="18180F"/>
                </a:solidFill>
                <a:latin typeface="Apfel Grotezk"/>
                <a:ea typeface="Apfel Grotezk"/>
                <a:cs typeface="Apfel Grotezk"/>
              </a:rPr>
              <a:t>Keep only what </a:t>
            </a:r>
            <a:r>
              <a:rPr lang="nl-NL" sz="2025" b="0" dirty="0" err="1">
                <a:solidFill>
                  <a:srgbClr val="18180F"/>
                </a:solidFill>
                <a:latin typeface="Apfel Grotezk"/>
                <a:ea typeface="Apfel Grotezk"/>
                <a:cs typeface="Apfel Grotezk"/>
              </a:rPr>
              <a:t>you</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will</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actually</a:t>
            </a:r>
            <a:r>
              <a:rPr lang="nl-NL" sz="2025" b="0" dirty="0">
                <a:solidFill>
                  <a:srgbClr val="18180F"/>
                </a:solidFill>
                <a:latin typeface="Apfel Grotezk"/>
                <a:ea typeface="Apfel Grotezk"/>
                <a:cs typeface="Apfel Grotezk"/>
              </a:rPr>
              <a:t> </a:t>
            </a:r>
            <a:r>
              <a:rPr lang="nl-NL" sz="2025" b="0" dirty="0" err="1">
                <a:solidFill>
                  <a:srgbClr val="18180F"/>
                </a:solidFill>
                <a:latin typeface="Apfel Grotezk"/>
                <a:ea typeface="Apfel Grotezk"/>
                <a:cs typeface="Apfel Grotezk"/>
              </a:rPr>
              <a:t>use</a:t>
            </a:r>
            <a:r>
              <a:rPr sz="2025" b="0" dirty="0">
                <a:solidFill>
                  <a:srgbClr val="18180F"/>
                </a:solidFill>
                <a:latin typeface="Apfel Grotezk"/>
                <a:ea typeface="Apfel Grotezk"/>
                <a:cs typeface="Apfel Grotezk"/>
              </a:rPr>
              <a:t>.</a:t>
            </a:r>
          </a:p>
        </p:txBody>
      </p:sp>
    </p:spTree>
    <p:extLst>
      <p:ext uri="{BB962C8B-B14F-4D97-AF65-F5344CB8AC3E}">
        <p14:creationId xmlns:p14="http://schemas.microsoft.com/office/powerpoint/2010/main" val="188350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EBBA767-E2AD-493A-8AB0-6C0766F7AC63}"/>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DOWNLOAD</a:t>
            </a:r>
          </a:p>
        </p:txBody>
      </p:sp>
      <p:sp>
        <p:nvSpPr>
          <p:cNvPr id="2" name="Rectangle 1">
            <a:extLst>
              <a:ext uri="{FF2B5EF4-FFF2-40B4-BE49-F238E27FC236}">
                <a16:creationId xmlns:a16="http://schemas.microsoft.com/office/drawing/2014/main" id="{550D3AF0-7942-408B-825F-EF59484FBA01}"/>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EXPORT FOR YOUR EDITOR</a:t>
            </a:r>
          </a:p>
        </p:txBody>
      </p:sp>
      <p:sp>
        <p:nvSpPr>
          <p:cNvPr id="3" name="Rectangle 2">
            <a:extLst>
              <a:ext uri="{FF2B5EF4-FFF2-40B4-BE49-F238E27FC236}">
                <a16:creationId xmlns:a16="http://schemas.microsoft.com/office/drawing/2014/main" id="{37E9B0AD-AFB4-42EC-BE20-FC650A85F99D}"/>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1320D927-0A47-434A-AA30-B59A8EAD3209}"/>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08</a:t>
            </a:r>
          </a:p>
        </p:txBody>
      </p:sp>
      <p:sp>
        <p:nvSpPr>
          <p:cNvPr id="5" name="Rectangle 4">
            <a:extLst>
              <a:ext uri="{FF2B5EF4-FFF2-40B4-BE49-F238E27FC236}">
                <a16:creationId xmlns:a16="http://schemas.microsoft.com/office/drawing/2014/main" id="{26EB4536-9792-4F57-B045-E34A2984F3E8}"/>
              </a:ext>
            </a:extLst>
          </p:cNvPr>
          <p:cNvSpPr>
            <a:spLocks noGrp="1"/>
          </p:cNvSpPr>
          <p:nvPr/>
        </p:nvSpPr>
        <p:spPr>
          <a:xfrm>
            <a:off x="45720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ILLUSTRATOR</a:t>
            </a:r>
          </a:p>
        </p:txBody>
      </p:sp>
      <p:sp>
        <p:nvSpPr>
          <p:cNvPr id="6" name="Rectangle 5">
            <a:extLst>
              <a:ext uri="{FF2B5EF4-FFF2-40B4-BE49-F238E27FC236}">
                <a16:creationId xmlns:a16="http://schemas.microsoft.com/office/drawing/2014/main" id="{D9905F30-56CB-4D6B-91AA-F22FADBA5CD9}"/>
              </a:ext>
            </a:extLst>
          </p:cNvPr>
          <p:cNvSpPr>
            <a:spLocks noGrp="1"/>
          </p:cNvSpPr>
          <p:nvPr/>
        </p:nvSpPr>
        <p:spPr>
          <a:xfrm>
            <a:off x="45720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(Illustrator)”</a:t>
            </a:r>
          </a:p>
        </p:txBody>
      </p:sp>
      <p:sp>
        <p:nvSpPr>
          <p:cNvPr id="7" name="Rectangle 6">
            <a:extLst>
              <a:ext uri="{FF2B5EF4-FFF2-40B4-BE49-F238E27FC236}">
                <a16:creationId xmlns:a16="http://schemas.microsoft.com/office/drawing/2014/main" id="{5978E457-02ED-47F9-89FE-385EB1FC5255}"/>
              </a:ext>
            </a:extLst>
          </p:cNvPr>
          <p:cNvSpPr>
            <a:spLocks noGrp="1"/>
          </p:cNvSpPr>
          <p:nvPr/>
        </p:nvSpPr>
        <p:spPr>
          <a:xfrm>
            <a:off x="45720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8" name="Rectangle 7">
            <a:extLst>
              <a:ext uri="{FF2B5EF4-FFF2-40B4-BE49-F238E27FC236}">
                <a16:creationId xmlns:a16="http://schemas.microsoft.com/office/drawing/2014/main" id="{AF771979-F071-4819-B638-5DF086C44557}"/>
              </a:ext>
            </a:extLst>
          </p:cNvPr>
          <p:cNvSpPr>
            <a:spLocks noGrp="1"/>
          </p:cNvSpPr>
          <p:nvPr/>
        </p:nvSpPr>
        <p:spPr>
          <a:xfrm>
            <a:off x="6457950" y="1962150"/>
            <a:ext cx="5334000" cy="714375"/>
          </a:xfrm>
          <a:prstGeom prst="rect">
            <a:avLst/>
          </a:prstGeom>
          <a:noFill/>
          <a:ln w="0">
            <a:noFill/>
          </a:ln>
        </p:spPr>
        <p:txBody>
          <a:bodyPr>
            <a:noAutofit/>
          </a:bodyPr>
          <a:lstStyle/>
          <a:p>
            <a:pPr>
              <a:defRPr sz="3450" b="0">
                <a:solidFill>
                  <a:srgbClr val="F4501E"/>
                </a:solidFill>
                <a:latin typeface="Mayonnaise Black"/>
                <a:ea typeface="Mayonnaise Black"/>
                <a:cs typeface="Mayonnaise Black"/>
              </a:defRPr>
            </a:pPr>
            <a:r>
              <a:rPr sz="3450" b="0">
                <a:solidFill>
                  <a:srgbClr val="F4501E"/>
                </a:solidFill>
                <a:latin typeface="Mayonnaise Black"/>
                <a:ea typeface="Mayonnaise Black"/>
                <a:cs typeface="Mayonnaise Black"/>
              </a:rPr>
              <a:t>INKSCAPE</a:t>
            </a:r>
          </a:p>
        </p:txBody>
      </p:sp>
      <p:sp>
        <p:nvSpPr>
          <p:cNvPr id="9" name="Rectangle 8">
            <a:extLst>
              <a:ext uri="{FF2B5EF4-FFF2-40B4-BE49-F238E27FC236}">
                <a16:creationId xmlns:a16="http://schemas.microsoft.com/office/drawing/2014/main" id="{C83935E4-888B-43FC-B8FA-A3FBE25AE9AF}"/>
              </a:ext>
            </a:extLst>
          </p:cNvPr>
          <p:cNvSpPr>
            <a:spLocks noGrp="1"/>
          </p:cNvSpPr>
          <p:nvPr/>
        </p:nvSpPr>
        <p:spPr>
          <a:xfrm>
            <a:off x="6457950" y="2905125"/>
            <a:ext cx="5276850" cy="904875"/>
          </a:xfrm>
          <a:prstGeom prst="rect">
            <a:avLst/>
          </a:prstGeom>
          <a:noFill/>
          <a:ln w="0">
            <a:noFill/>
          </a:ln>
        </p:spPr>
        <p:txBody>
          <a:bodyPr>
            <a:noAutofit/>
          </a:bodyPr>
          <a:lstStyle/>
          <a:p>
            <a:pPr>
              <a:defRPr sz="2250" b="1">
                <a:solidFill>
                  <a:srgbClr val="18180F"/>
                </a:solidFill>
                <a:latin typeface="Apfel Grotezk"/>
                <a:ea typeface="Apfel Grotezk"/>
                <a:cs typeface="Apfel Grotezk"/>
              </a:defRPr>
            </a:pPr>
            <a:r>
              <a:rPr sz="2250" b="1">
                <a:solidFill>
                  <a:srgbClr val="18180F"/>
                </a:solidFill>
                <a:latin typeface="Apfel Grotezk"/>
                <a:ea typeface="Apfel Grotezk"/>
                <a:cs typeface="Apfel Grotezk"/>
              </a:rPr>
              <a:t>Choose “SVG (Inkscape / others)”</a:t>
            </a:r>
          </a:p>
        </p:txBody>
      </p:sp>
      <p:sp>
        <p:nvSpPr>
          <p:cNvPr id="10" name="Rectangle 9">
            <a:extLst>
              <a:ext uri="{FF2B5EF4-FFF2-40B4-BE49-F238E27FC236}">
                <a16:creationId xmlns:a16="http://schemas.microsoft.com/office/drawing/2014/main" id="{75AC2E9C-F254-47B2-8116-83315B933D0D}"/>
              </a:ext>
            </a:extLst>
          </p:cNvPr>
          <p:cNvSpPr>
            <a:spLocks noGrp="1"/>
          </p:cNvSpPr>
          <p:nvPr/>
        </p:nvSpPr>
        <p:spPr>
          <a:xfrm>
            <a:off x="6457950" y="4067175"/>
            <a:ext cx="5181600" cy="1047750"/>
          </a:xfrm>
          <a:prstGeom prst="rect">
            <a:avLst/>
          </a:prstGeom>
          <a:noFill/>
          <a:ln w="0">
            <a:noFill/>
          </a:ln>
        </p:spPr>
        <p:txBody>
          <a:bodyPr>
            <a:noAutofit/>
          </a:bodyPr>
          <a:lstStyle/>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Export SVG → Download</a:t>
            </a:r>
          </a:p>
          <a:p>
            <a:pPr>
              <a:defRPr sz="2400" b="0">
                <a:solidFill>
                  <a:srgbClr val="18180F"/>
                </a:solidFill>
                <a:latin typeface="Apfel Grotezk"/>
                <a:ea typeface="Apfel Grotezk"/>
                <a:cs typeface="Apfel Grotezk"/>
              </a:defRPr>
            </a:pPr>
            <a:r>
              <a:rPr sz="2400" b="0">
                <a:solidFill>
                  <a:srgbClr val="18180F"/>
                </a:solidFill>
                <a:latin typeface="Apfel Grotezk"/>
                <a:ea typeface="Apfel Grotezk"/>
                <a:cs typeface="Apfel Grotezk"/>
              </a:rPr>
              <a:t>Then use File → Open.</a:t>
            </a:r>
          </a:p>
        </p:txBody>
      </p:sp>
      <p:sp>
        <p:nvSpPr>
          <p:cNvPr id="11" name="Rectangle 10">
            <a:extLst>
              <a:ext uri="{FF2B5EF4-FFF2-40B4-BE49-F238E27FC236}">
                <a16:creationId xmlns:a16="http://schemas.microsoft.com/office/drawing/2014/main" id="{D2309EE4-CE1D-4232-A801-3AE453475E3A}"/>
              </a:ext>
            </a:extLst>
          </p:cNvPr>
          <p:cNvSpPr>
            <a:spLocks noGrp="1"/>
          </p:cNvSpPr>
          <p:nvPr/>
        </p:nvSpPr>
        <p:spPr>
          <a:xfrm>
            <a:off x="6086475" y="1962150"/>
            <a:ext cx="19050" cy="3295650"/>
          </a:xfrm>
          <a:prstGeom prst="rect">
            <a:avLst/>
          </a:prstGeom>
          <a:solidFill>
            <a:srgbClr val="D9D0AE"/>
          </a:solidFill>
          <a:ln w="0">
            <a:noFill/>
          </a:ln>
        </p:spPr>
        <p:txBody>
          <a:bodyPr/>
          <a:lstStyle/>
          <a:p>
            <a:endParaRPr lang="en-US"/>
          </a:p>
        </p:txBody>
      </p:sp>
      <p:sp>
        <p:nvSpPr>
          <p:cNvPr id="12" name="Rectangle 11">
            <a:extLst>
              <a:ext uri="{FF2B5EF4-FFF2-40B4-BE49-F238E27FC236}">
                <a16:creationId xmlns:a16="http://schemas.microsoft.com/office/drawing/2014/main" id="{0C0C8FA9-AAB0-4DC4-B3AF-0F1FFA54D04E}"/>
              </a:ext>
            </a:extLst>
          </p:cNvPr>
          <p:cNvSpPr>
            <a:spLocks noGrp="1"/>
          </p:cNvSpPr>
          <p:nvPr/>
        </p:nvSpPr>
        <p:spPr>
          <a:xfrm>
            <a:off x="457200" y="5695950"/>
            <a:ext cx="11258550" cy="419100"/>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Keep the original export. Save your edits as a separate file.</a:t>
            </a:r>
          </a:p>
        </p:txBody>
      </p:sp>
    </p:spTree>
    <p:extLst>
      <p:ext uri="{BB962C8B-B14F-4D97-AF65-F5344CB8AC3E}">
        <p14:creationId xmlns:p14="http://schemas.microsoft.com/office/powerpoint/2010/main" val="1083444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9E4"/>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302024D-094C-4E31-B157-BD79DCE7EEF5}"/>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INSIDE THE SVG</a:t>
            </a:r>
          </a:p>
        </p:txBody>
      </p:sp>
      <p:sp>
        <p:nvSpPr>
          <p:cNvPr id="2" name="Rectangle 1">
            <a:extLst>
              <a:ext uri="{FF2B5EF4-FFF2-40B4-BE49-F238E27FC236}">
                <a16:creationId xmlns:a16="http://schemas.microsoft.com/office/drawing/2014/main" id="{A3FF130B-AEC9-403B-8033-BA4CEA8D555E}"/>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FIND THE LAYER. EDIT THE RIGHT THINGS.</a:t>
            </a:r>
          </a:p>
        </p:txBody>
      </p:sp>
      <p:sp>
        <p:nvSpPr>
          <p:cNvPr id="3" name="Rectangle 2">
            <a:extLst>
              <a:ext uri="{FF2B5EF4-FFF2-40B4-BE49-F238E27FC236}">
                <a16:creationId xmlns:a16="http://schemas.microsoft.com/office/drawing/2014/main" id="{70A54118-D97D-47B9-A4E6-1D8F417E0317}"/>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BCD4D9CF-19CD-4BBA-AB75-102D561C9B60}"/>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09</a:t>
            </a:r>
          </a:p>
        </p:txBody>
      </p:sp>
      <p:sp>
        <p:nvSpPr>
          <p:cNvPr id="5" name="Rectangle 4">
            <a:extLst>
              <a:ext uri="{FF2B5EF4-FFF2-40B4-BE49-F238E27FC236}">
                <a16:creationId xmlns:a16="http://schemas.microsoft.com/office/drawing/2014/main" id="{C7713C94-0538-466B-A6FA-32E4788E987A}"/>
              </a:ext>
            </a:extLst>
          </p:cNvPr>
          <p:cNvSpPr>
            <a:spLocks noGrp="1"/>
          </p:cNvSpPr>
          <p:nvPr/>
        </p:nvSpPr>
        <p:spPr>
          <a:xfrm>
            <a:off x="590550" y="2000250"/>
            <a:ext cx="5619750" cy="552450"/>
          </a:xfrm>
          <a:prstGeom prst="rect">
            <a:avLst/>
          </a:prstGeom>
          <a:noFill/>
          <a:ln w="0">
            <a:noFill/>
          </a:ln>
        </p:spPr>
        <p:txBody>
          <a:bodyPr>
            <a:noAutofit/>
          </a:bodyPr>
          <a:lstStyle/>
          <a:p>
            <a:pPr>
              <a:defRPr sz="2850" b="1">
                <a:solidFill>
                  <a:srgbClr val="F4501E"/>
                </a:solidFill>
                <a:latin typeface="Apfel Grotezk"/>
                <a:ea typeface="Apfel Grotezk"/>
                <a:cs typeface="Apfel Grotezk"/>
              </a:defRPr>
            </a:pPr>
            <a:r>
              <a:rPr sz="2850" b="1">
                <a:solidFill>
                  <a:srgbClr val="F4501E"/>
                </a:solidFill>
                <a:latin typeface="Apfel Grotezk"/>
                <a:ea typeface="Apfel Grotezk"/>
                <a:cs typeface="Apfel Grotezk"/>
              </a:rPr>
              <a:t>Map content</a:t>
            </a:r>
          </a:p>
        </p:txBody>
      </p:sp>
      <p:sp>
        <p:nvSpPr>
          <p:cNvPr id="6" name="Rectangle 5">
            <a:extLst>
              <a:ext uri="{FF2B5EF4-FFF2-40B4-BE49-F238E27FC236}">
                <a16:creationId xmlns:a16="http://schemas.microsoft.com/office/drawing/2014/main" id="{9E7DDC19-804B-40A1-9FED-137C1ED2B017}"/>
              </a:ext>
            </a:extLst>
          </p:cNvPr>
          <p:cNvSpPr>
            <a:spLocks noGrp="1"/>
          </p:cNvSpPr>
          <p:nvPr/>
        </p:nvSpPr>
        <p:spPr>
          <a:xfrm>
            <a:off x="704850" y="2781300"/>
            <a:ext cx="57150" cy="381000"/>
          </a:xfrm>
          <a:prstGeom prst="rect">
            <a:avLst/>
          </a:prstGeom>
          <a:solidFill>
            <a:srgbClr val="F4501E"/>
          </a:solidFill>
          <a:ln w="0">
            <a:noFill/>
          </a:ln>
        </p:spPr>
        <p:txBody>
          <a:bodyPr/>
          <a:lstStyle/>
          <a:p>
            <a:endParaRPr lang="en-US"/>
          </a:p>
        </p:txBody>
      </p:sp>
      <p:sp>
        <p:nvSpPr>
          <p:cNvPr id="7" name="Rectangle 6">
            <a:extLst>
              <a:ext uri="{FF2B5EF4-FFF2-40B4-BE49-F238E27FC236}">
                <a16:creationId xmlns:a16="http://schemas.microsoft.com/office/drawing/2014/main" id="{941A570D-6772-4AEF-AA24-9CC368C93365}"/>
              </a:ext>
            </a:extLst>
          </p:cNvPr>
          <p:cNvSpPr>
            <a:spLocks noGrp="1"/>
          </p:cNvSpPr>
          <p:nvPr/>
        </p:nvSpPr>
        <p:spPr>
          <a:xfrm>
            <a:off x="1047750" y="27622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City blocks</a:t>
            </a:r>
          </a:p>
        </p:txBody>
      </p:sp>
      <p:sp>
        <p:nvSpPr>
          <p:cNvPr id="8" name="Rectangle 7">
            <a:extLst>
              <a:ext uri="{FF2B5EF4-FFF2-40B4-BE49-F238E27FC236}">
                <a16:creationId xmlns:a16="http://schemas.microsoft.com/office/drawing/2014/main" id="{4A5DF6B0-18B5-4901-84E0-B27BABBB9140}"/>
              </a:ext>
            </a:extLst>
          </p:cNvPr>
          <p:cNvSpPr>
            <a:spLocks noGrp="1"/>
          </p:cNvSpPr>
          <p:nvPr/>
        </p:nvSpPr>
        <p:spPr>
          <a:xfrm>
            <a:off x="704850" y="3429000"/>
            <a:ext cx="57150" cy="381000"/>
          </a:xfrm>
          <a:prstGeom prst="rect">
            <a:avLst/>
          </a:prstGeom>
          <a:solidFill>
            <a:srgbClr val="7ECAB6"/>
          </a:solidFill>
          <a:ln w="0">
            <a:noFill/>
          </a:ln>
        </p:spPr>
        <p:txBody>
          <a:bodyPr/>
          <a:lstStyle/>
          <a:p>
            <a:endParaRPr lang="en-US"/>
          </a:p>
        </p:txBody>
      </p:sp>
      <p:sp>
        <p:nvSpPr>
          <p:cNvPr id="9" name="Rectangle 8">
            <a:extLst>
              <a:ext uri="{FF2B5EF4-FFF2-40B4-BE49-F238E27FC236}">
                <a16:creationId xmlns:a16="http://schemas.microsoft.com/office/drawing/2014/main" id="{EB070843-9AD3-4C5C-AB86-20155166209F}"/>
              </a:ext>
            </a:extLst>
          </p:cNvPr>
          <p:cNvSpPr>
            <a:spLocks noGrp="1"/>
          </p:cNvSpPr>
          <p:nvPr/>
        </p:nvSpPr>
        <p:spPr>
          <a:xfrm>
            <a:off x="1047750" y="34099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Parks &amp; green space</a:t>
            </a:r>
          </a:p>
        </p:txBody>
      </p:sp>
      <p:sp>
        <p:nvSpPr>
          <p:cNvPr id="10" name="Rectangle 9">
            <a:extLst>
              <a:ext uri="{FF2B5EF4-FFF2-40B4-BE49-F238E27FC236}">
                <a16:creationId xmlns:a16="http://schemas.microsoft.com/office/drawing/2014/main" id="{0BFF684F-5947-45D4-81A1-EE55B4694A2F}"/>
              </a:ext>
            </a:extLst>
          </p:cNvPr>
          <p:cNvSpPr>
            <a:spLocks noGrp="1"/>
          </p:cNvSpPr>
          <p:nvPr/>
        </p:nvSpPr>
        <p:spPr>
          <a:xfrm>
            <a:off x="704850" y="4076700"/>
            <a:ext cx="57150" cy="381000"/>
          </a:xfrm>
          <a:prstGeom prst="rect">
            <a:avLst/>
          </a:prstGeom>
          <a:solidFill>
            <a:srgbClr val="7ECAB6"/>
          </a:solidFill>
          <a:ln w="0">
            <a:noFill/>
          </a:ln>
        </p:spPr>
        <p:txBody>
          <a:bodyPr/>
          <a:lstStyle/>
          <a:p>
            <a:endParaRPr lang="en-US"/>
          </a:p>
        </p:txBody>
      </p:sp>
      <p:sp>
        <p:nvSpPr>
          <p:cNvPr id="11" name="Rectangle 10">
            <a:extLst>
              <a:ext uri="{FF2B5EF4-FFF2-40B4-BE49-F238E27FC236}">
                <a16:creationId xmlns:a16="http://schemas.microsoft.com/office/drawing/2014/main" id="{D7C2DC64-142C-455B-83F1-2E076661AB76}"/>
              </a:ext>
            </a:extLst>
          </p:cNvPr>
          <p:cNvSpPr>
            <a:spLocks noGrp="1"/>
          </p:cNvSpPr>
          <p:nvPr/>
        </p:nvSpPr>
        <p:spPr>
          <a:xfrm>
            <a:off x="1047750" y="40576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Roads</a:t>
            </a:r>
          </a:p>
        </p:txBody>
      </p:sp>
      <p:sp>
        <p:nvSpPr>
          <p:cNvPr id="12" name="Rectangle 11">
            <a:extLst>
              <a:ext uri="{FF2B5EF4-FFF2-40B4-BE49-F238E27FC236}">
                <a16:creationId xmlns:a16="http://schemas.microsoft.com/office/drawing/2014/main" id="{1DA317BC-B1A0-4C9D-8B60-4A95D157991E}"/>
              </a:ext>
            </a:extLst>
          </p:cNvPr>
          <p:cNvSpPr>
            <a:spLocks noGrp="1"/>
          </p:cNvSpPr>
          <p:nvPr/>
        </p:nvSpPr>
        <p:spPr>
          <a:xfrm>
            <a:off x="704850" y="4724400"/>
            <a:ext cx="57150" cy="381000"/>
          </a:xfrm>
          <a:prstGeom prst="rect">
            <a:avLst/>
          </a:prstGeom>
          <a:solidFill>
            <a:srgbClr val="7ECAB6"/>
          </a:solidFill>
          <a:ln w="0">
            <a:noFill/>
          </a:ln>
        </p:spPr>
        <p:txBody>
          <a:bodyPr/>
          <a:lstStyle/>
          <a:p>
            <a:endParaRPr lang="en-US"/>
          </a:p>
        </p:txBody>
      </p:sp>
      <p:sp>
        <p:nvSpPr>
          <p:cNvPr id="13" name="Rectangle 12">
            <a:extLst>
              <a:ext uri="{FF2B5EF4-FFF2-40B4-BE49-F238E27FC236}">
                <a16:creationId xmlns:a16="http://schemas.microsoft.com/office/drawing/2014/main" id="{A026A3C0-15D3-48F1-8C6D-E3EA80235E02}"/>
              </a:ext>
            </a:extLst>
          </p:cNvPr>
          <p:cNvSpPr>
            <a:spLocks noGrp="1"/>
          </p:cNvSpPr>
          <p:nvPr/>
        </p:nvSpPr>
        <p:spPr>
          <a:xfrm>
            <a:off x="1047750" y="4705350"/>
            <a:ext cx="4857750" cy="45720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Street names</a:t>
            </a:r>
          </a:p>
        </p:txBody>
      </p:sp>
      <p:sp>
        <p:nvSpPr>
          <p:cNvPr id="14" name="Rectangle 13">
            <a:extLst>
              <a:ext uri="{FF2B5EF4-FFF2-40B4-BE49-F238E27FC236}">
                <a16:creationId xmlns:a16="http://schemas.microsoft.com/office/drawing/2014/main" id="{0E8FC298-A31A-41F9-ABD2-0486D4CE5959}"/>
              </a:ext>
            </a:extLst>
          </p:cNvPr>
          <p:cNvSpPr>
            <a:spLocks noGrp="1"/>
          </p:cNvSpPr>
          <p:nvPr/>
        </p:nvSpPr>
        <p:spPr>
          <a:xfrm>
            <a:off x="6810375" y="2105025"/>
            <a:ext cx="4648200" cy="552450"/>
          </a:xfrm>
          <a:prstGeom prst="rect">
            <a:avLst/>
          </a:prstGeom>
          <a:noFill/>
          <a:ln w="0">
            <a:noFill/>
          </a:ln>
        </p:spPr>
        <p:txBody>
          <a:bodyPr>
            <a:noAutofit/>
          </a:bodyPr>
          <a:lstStyle/>
          <a:p>
            <a:pPr>
              <a:defRPr sz="2400" b="1">
                <a:solidFill>
                  <a:srgbClr val="F4501E"/>
                </a:solidFill>
                <a:latin typeface="Apfel Grotezk"/>
                <a:ea typeface="Apfel Grotezk"/>
                <a:cs typeface="Apfel Grotezk"/>
              </a:defRPr>
            </a:pPr>
            <a:r>
              <a:rPr sz="2400" b="1">
                <a:solidFill>
                  <a:srgbClr val="F4501E"/>
                </a:solidFill>
                <a:latin typeface="Apfel Grotezk"/>
                <a:ea typeface="Apfel Grotezk"/>
                <a:cs typeface="Apfel Grotezk"/>
              </a:rPr>
              <a:t>Open the Layers panel.</a:t>
            </a:r>
          </a:p>
        </p:txBody>
      </p:sp>
      <p:sp>
        <p:nvSpPr>
          <p:cNvPr id="15" name="Rectangle 14">
            <a:extLst>
              <a:ext uri="{FF2B5EF4-FFF2-40B4-BE49-F238E27FC236}">
                <a16:creationId xmlns:a16="http://schemas.microsoft.com/office/drawing/2014/main" id="{F4AF3944-E1FD-4396-B508-3520229DC766}"/>
              </a:ext>
            </a:extLst>
          </p:cNvPr>
          <p:cNvSpPr>
            <a:spLocks noGrp="1"/>
          </p:cNvSpPr>
          <p:nvPr/>
        </p:nvSpPr>
        <p:spPr>
          <a:xfrm>
            <a:off x="6810375" y="2971800"/>
            <a:ext cx="4629150" cy="2762250"/>
          </a:xfrm>
          <a:prstGeom prst="rect">
            <a:avLst/>
          </a:prstGeom>
          <a:noFill/>
          <a:ln w="0">
            <a:noFill/>
          </a:ln>
        </p:spPr>
        <p:txBody>
          <a:bodyPr>
            <a:noAutofit/>
          </a:bodyPr>
          <a:lstStyle/>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Expand Map content.</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Toggle a layer to see what it contains.</a:t>
            </a:r>
          </a:p>
          <a:p>
            <a:endParaRPr sz="2250" b="0">
              <a:solidFill>
                <a:srgbClr val="18180F"/>
              </a:solidFill>
              <a:latin typeface="Apfel Grotezk"/>
              <a:ea typeface="Apfel Grotezk"/>
              <a:cs typeface="Apfel Grotezk"/>
            </a:endParaRPr>
          </a:p>
          <a:p>
            <a:pPr>
              <a:defRPr sz="2250" b="0">
                <a:solidFill>
                  <a:srgbClr val="18180F"/>
                </a:solidFill>
                <a:latin typeface="Apfel Grotezk"/>
                <a:ea typeface="Apfel Grotezk"/>
                <a:cs typeface="Apfel Grotezk"/>
              </a:defRPr>
            </a:pPr>
            <a:r>
              <a:rPr sz="2250" b="0">
                <a:solidFill>
                  <a:srgbClr val="18180F"/>
                </a:solidFill>
                <a:latin typeface="Apfel Grotezk"/>
                <a:ea typeface="Apfel Grotezk"/>
                <a:cs typeface="Apfel Grotezk"/>
              </a:rPr>
              <a:t>Keep groups intact while you explore.</a:t>
            </a:r>
          </a:p>
        </p:txBody>
      </p:sp>
    </p:spTree>
    <p:extLst>
      <p:ext uri="{BB962C8B-B14F-4D97-AF65-F5344CB8AC3E}">
        <p14:creationId xmlns:p14="http://schemas.microsoft.com/office/powerpoint/2010/main" val="491305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D8D87F5-776E-4F26-AE77-9441CA69A2E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INKSCAPE / ABOUT 5 MINUTES</a:t>
            </a:r>
          </a:p>
        </p:txBody>
      </p:sp>
      <p:sp>
        <p:nvSpPr>
          <p:cNvPr id="2" name="Rectangle 1">
            <a:extLst>
              <a:ext uri="{FF2B5EF4-FFF2-40B4-BE49-F238E27FC236}">
                <a16:creationId xmlns:a16="http://schemas.microsoft.com/office/drawing/2014/main" id="{7AD3645C-5FD7-46B5-9164-A96FCF0CBA6D}"/>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LIVE DEMO: CHANGE ALL THE BLOCKS</a:t>
            </a:r>
          </a:p>
        </p:txBody>
      </p:sp>
      <p:sp>
        <p:nvSpPr>
          <p:cNvPr id="3" name="Rectangle 2">
            <a:extLst>
              <a:ext uri="{FF2B5EF4-FFF2-40B4-BE49-F238E27FC236}">
                <a16:creationId xmlns:a16="http://schemas.microsoft.com/office/drawing/2014/main" id="{EFDC86DB-C02E-4C3A-95D6-087DAC14CB2E}"/>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D10329D8-2BAE-4FB4-9B6B-24C86B79AE6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10</a:t>
            </a:r>
          </a:p>
        </p:txBody>
      </p:sp>
    </p:spTree>
    <p:extLst>
      <p:ext uri="{BB962C8B-B14F-4D97-AF65-F5344CB8AC3E}">
        <p14:creationId xmlns:p14="http://schemas.microsoft.com/office/powerpoint/2010/main" val="372458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501E"/>
        </a:solidFill>
      </p:bgPr>
    </p:bg>
    <p:spTree>
      <p:nvGrpSpPr>
        <p:cNvPr id="1" name=""/>
        <p:cNvGrpSpPr/>
        <p:nvPr/>
      </p:nvGrpSpPr>
      <p:grpSpPr>
        <a:xfrm/>
      </p:grpSpPr>
      <p:sp>
        <p:nvSpPr>
          <p:cNvPr id="30" name="">
            <a:extLst>
              <a:ext uri="{FF2B5EF4-FFF2-40B4-BE49-F238E27FC236}">
                <a16:creationId xmlns:a16="http://schemas.microsoft.com/office/drawing/2014/main" id="{313B1129-A1B4-49C6-9387-FF25FD15A669}"/>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EF9E4"/>
                </a:solidFill>
                <a:latin typeface="Apfel Grotezk"/>
                <a:ea typeface="Apfel Grotezk"/>
                <a:cs typeface="Apfel Grotezk"/>
              </a:defRPr>
            </a:pPr>
            <a:r>
              <a:rPr sz="1275" b="1">
                <a:solidFill>
                  <a:srgbClr val="FEF9E4"/>
                </a:solidFill>
                <a:latin typeface="Apfel Grotezk"/>
                <a:ea typeface="Apfel Grotezk"/>
                <a:cs typeface="Apfel Grotezk"/>
              </a:rPr>
              <a:t>HANDS-ON / 20 MINUTES</a:t>
            </a:r>
          </a:p>
        </p:txBody>
      </p:sp>
      <p:sp>
        <p:nvSpPr>
          <p:cNvPr id="2" name="">
            <a:extLst>
              <a:ext uri="{FF2B5EF4-FFF2-40B4-BE49-F238E27FC236}">
                <a16:creationId xmlns:a16="http://schemas.microsoft.com/office/drawing/2014/main" id="{4ACBC1E1-8B4B-41C3-B94E-C0F47EDE86C7}"/>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FEF9E4"/>
                </a:solidFill>
                <a:latin typeface="Mayonnaise Black"/>
                <a:ea typeface="Mayonnaise Black"/>
                <a:cs typeface="Mayonnaise Black"/>
              </a:defRPr>
            </a:pPr>
            <a:r>
              <a:rPr sz="4125" b="0">
                <a:solidFill>
                  <a:srgbClr val="FEF9E4"/>
                </a:solidFill>
                <a:latin typeface="Mayonnaise Black"/>
                <a:ea typeface="Mayonnaise Black"/>
                <a:cs typeface="Mayonnaise Black"/>
              </a:rPr>
              <a:t>YOUR CITY. YOUR TURN.</a:t>
            </a:r>
          </a:p>
        </p:txBody>
      </p:sp>
      <p:sp>
        <p:nvSpPr>
          <p:cNvPr id="3" name="">
            <a:extLst>
              <a:ext uri="{FF2B5EF4-FFF2-40B4-BE49-F238E27FC236}">
                <a16:creationId xmlns:a16="http://schemas.microsoft.com/office/drawing/2014/main" id="{C518F514-4B5C-4FD2-B1F1-142B41CFE9A1}"/>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MAPEXPORT  /  USE-IT     ·     Map data © OpenStreetMap contributors</a:t>
            </a:r>
          </a:p>
        </p:txBody>
      </p:sp>
      <p:sp>
        <p:nvSpPr>
          <p:cNvPr id="4" name="">
            <a:extLst>
              <a:ext uri="{FF2B5EF4-FFF2-40B4-BE49-F238E27FC236}">
                <a16:creationId xmlns:a16="http://schemas.microsoft.com/office/drawing/2014/main" id="{71D06FBD-138D-418A-BF03-C7997D771BE6}"/>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FEF9E4"/>
                </a:solidFill>
                <a:latin typeface="Apfel Grotezk"/>
                <a:ea typeface="Apfel Grotezk"/>
                <a:cs typeface="Apfel Grotezk"/>
              </a:defRPr>
            </a:pPr>
            <a:r>
              <a:rPr sz="1125" b="0">
                <a:solidFill>
                  <a:srgbClr val="FEF9E4"/>
                </a:solidFill>
                <a:latin typeface="Apfel Grotezk"/>
                <a:ea typeface="Apfel Grotezk"/>
                <a:cs typeface="Apfel Grotezk"/>
              </a:rPr>
              <a:t>11</a:t>
            </a:r>
          </a:p>
        </p:txBody>
      </p:sp>
      <p:sp>
        <p:nvSpPr>
          <p:cNvPr id="5" name="">
            <a:extLst>
              <a:ext uri="{FF2B5EF4-FFF2-40B4-BE49-F238E27FC236}">
                <a16:creationId xmlns:a16="http://schemas.microsoft.com/office/drawing/2014/main" id="{B1D879E3-1215-4D29-87C5-4A3A7DF93C96}"/>
              </a:ext>
            </a:extLst>
          </p:cNvPr>
          <p:cNvSpPr>
            <a:spLocks noGrp="1"/>
          </p:cNvSpPr>
          <p:nvPr/>
        </p:nvSpPr>
        <p:spPr>
          <a:xfrm>
            <a:off x="8096250" y="876300"/>
            <a:ext cx="3638550" cy="457200"/>
          </a:xfrm>
          <a:prstGeom prst="rect">
            <a:avLst/>
          </a:prstGeom>
          <a:noFill/>
          <a:ln w="0">
            <a:noFill/>
          </a:ln>
        </p:spPr>
        <p:txBody>
          <a:bodyPr>
            <a:noAutofit/>
          </a:bodyPr>
          <a:lstStyle/>
          <a:p>
            <a:pPr>
              <a:defRPr sz="2175" b="1">
                <a:solidFill>
                  <a:srgbClr val="FEF9E4"/>
                </a:solidFill>
                <a:latin typeface="Apfel Grotezk"/>
                <a:ea typeface="Apfel Grotezk"/>
                <a:cs typeface="Apfel Grotezk"/>
              </a:defRPr>
            </a:pPr>
            <a:r>
              <a:rPr sz="2175" b="1" u="sng">
                <a:solidFill>
                  <a:srgbClr val="FEF9E4"/>
                </a:solidFill>
                <a:latin typeface="Apfel Grotezk"/>
                <a:ea typeface="Apfel Grotezk"/>
                <a:cs typeface="Apfel Grotezk"/>
                <a:hlinkClick r:id="rIdTool"/>
              </a:rPr>
              <a:t>coen.at/mapexport</a:t>
            </a:r>
          </a:p>
        </p:txBody>
      </p:sp>
      <p:sp>
        <p:nvSpPr>
          <p:cNvPr id="6" name="">
            <a:extLst>
              <a:ext uri="{FF2B5EF4-FFF2-40B4-BE49-F238E27FC236}">
                <a16:creationId xmlns:a16="http://schemas.microsoft.com/office/drawing/2014/main" id="{F06C7D5E-7A17-4B89-9C5B-780A239463C2}"/>
              </a:ext>
            </a:extLst>
          </p:cNvPr>
          <p:cNvSpPr>
            <a:spLocks noGrp="1"/>
          </p:cNvSpPr>
          <p:nvPr/>
        </p:nvSpPr>
        <p:spPr>
          <a:xfrm>
            <a:off x="457200" y="1514475"/>
            <a:ext cx="7029450" cy="43815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r>
              <a:rPr sz="2025" b="1">
                <a:solidFill>
                  <a:srgbClr val="FEF9E4"/>
                </a:solidFill>
                <a:latin typeface="Apfel Grotezk"/>
                <a:ea typeface="Apfel Grotezk"/>
                <a:cs typeface="Apfel Grotezk"/>
              </a:rPr>
              <a:t>COMPLETE THESE FOUR STEPS</a:t>
            </a:r>
          </a:p>
        </p:txBody>
      </p:sp>
      <p:sp>
        <p:nvSpPr>
          <p:cNvPr id="7" name="">
            <a:extLst>
              <a:ext uri="{FF2B5EF4-FFF2-40B4-BE49-F238E27FC236}">
                <a16:creationId xmlns:a16="http://schemas.microsoft.com/office/drawing/2014/main" id="{69C583B5-3C16-41E1-92CD-6E1C056CEC7C}"/>
              </a:ext>
            </a:extLst>
          </p:cNvPr>
          <p:cNvSpPr>
            <a:spLocks noGrp="1"/>
          </p:cNvSpPr>
          <p:nvPr/>
        </p:nvSpPr>
        <p:spPr>
          <a:xfrm>
            <a:off x="7962900" y="1514475"/>
            <a:ext cx="3771900" cy="43815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r>
              <a:rPr sz="2025" b="1">
                <a:solidFill>
                  <a:srgbClr val="FEF9E4"/>
                </a:solidFill>
                <a:latin typeface="Apfel Grotezk"/>
                <a:ea typeface="Apfel Grotezk"/>
                <a:cs typeface="Apfel Grotezk"/>
              </a:rPr>
              <a:t>IF YOU GET STUCK</a:t>
            </a:r>
          </a:p>
        </p:txBody>
      </p:sp>
      <p:sp>
        <p:nvSpPr>
          <p:cNvPr id="8" name="">
            <a:extLst>
              <a:ext uri="{FF2B5EF4-FFF2-40B4-BE49-F238E27FC236}">
                <a16:creationId xmlns:a16="http://schemas.microsoft.com/office/drawing/2014/main" id="{9D3B05FB-69ED-41EA-A7FA-F37D4B7981BB}"/>
              </a:ext>
            </a:extLst>
          </p:cNvPr>
          <p:cNvSpPr>
            <a:spLocks noGrp="1"/>
          </p:cNvSpPr>
          <p:nvPr/>
        </p:nvSpPr>
        <p:spPr>
          <a:xfrm>
            <a:off x="7629525" y="1609725"/>
            <a:ext cx="19050" cy="3895725"/>
          </a:xfrm>
          <a:prstGeom prst="rect">
            <a:avLst/>
          </a:prstGeom>
          <a:solidFill>
            <a:srgbClr val="FEF9E4"/>
          </a:solidFill>
          <a:ln w="0">
            <a:noFill/>
          </a:ln>
        </p:spPr>
      </p:sp>
      <p:sp>
        <p:nvSpPr>
          <p:cNvPr id="9" name="">
            <a:extLst>
              <a:ext uri="{FF2B5EF4-FFF2-40B4-BE49-F238E27FC236}">
                <a16:creationId xmlns:a16="http://schemas.microsoft.com/office/drawing/2014/main" id="{0B604DB0-4280-4210-946A-DDA64BDFB77F}"/>
              </a:ext>
            </a:extLst>
          </p:cNvPr>
          <p:cNvSpPr>
            <a:spLocks noGrp="1"/>
          </p:cNvSpPr>
          <p:nvPr/>
        </p:nvSpPr>
        <p:spPr>
          <a:xfrm>
            <a:off x="457200" y="2028825"/>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01</a:t>
            </a:r>
          </a:p>
        </p:txBody>
      </p:sp>
      <p:sp>
        <p:nvSpPr>
          <p:cNvPr id="10" name="">
            <a:extLst>
              <a:ext uri="{FF2B5EF4-FFF2-40B4-BE49-F238E27FC236}">
                <a16:creationId xmlns:a16="http://schemas.microsoft.com/office/drawing/2014/main" id="{5E96EFBA-302C-465E-90EE-AB9F9AF32724}"/>
              </a:ext>
            </a:extLst>
          </p:cNvPr>
          <p:cNvSpPr>
            <a:spLocks noGrp="1"/>
          </p:cNvSpPr>
          <p:nvPr/>
        </p:nvSpPr>
        <p:spPr>
          <a:xfrm>
            <a:off x="1133475" y="2028825"/>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Export a small area</a:t>
            </a:r>
          </a:p>
        </p:txBody>
      </p:sp>
      <p:sp>
        <p:nvSpPr>
          <p:cNvPr id="11" name="">
            <a:extLst>
              <a:ext uri="{FF2B5EF4-FFF2-40B4-BE49-F238E27FC236}">
                <a16:creationId xmlns:a16="http://schemas.microsoft.com/office/drawing/2014/main" id="{FC8848BC-6CCC-491A-9763-20FAFF972B48}"/>
              </a:ext>
            </a:extLst>
          </p:cNvPr>
          <p:cNvSpPr>
            <a:spLocks noGrp="1"/>
          </p:cNvSpPr>
          <p:nvPr/>
        </p:nvSpPr>
        <p:spPr>
          <a:xfrm>
            <a:off x="1133475" y="2428875"/>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Open the SVG in Illustrator or Inkscape.</a:t>
            </a:r>
          </a:p>
        </p:txBody>
      </p:sp>
      <p:sp>
        <p:nvSpPr>
          <p:cNvPr id="12" name="">
            <a:extLst>
              <a:ext uri="{FF2B5EF4-FFF2-40B4-BE49-F238E27FC236}">
                <a16:creationId xmlns:a16="http://schemas.microsoft.com/office/drawing/2014/main" id="{4649209D-609F-490B-AA8C-C8CF56D394F5}"/>
              </a:ext>
            </a:extLst>
          </p:cNvPr>
          <p:cNvSpPr>
            <a:spLocks noGrp="1"/>
          </p:cNvSpPr>
          <p:nvPr/>
        </p:nvSpPr>
        <p:spPr>
          <a:xfrm>
            <a:off x="457200" y="2933700"/>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02</a:t>
            </a:r>
          </a:p>
        </p:txBody>
      </p:sp>
      <p:sp>
        <p:nvSpPr>
          <p:cNvPr id="13" name="">
            <a:extLst>
              <a:ext uri="{FF2B5EF4-FFF2-40B4-BE49-F238E27FC236}">
                <a16:creationId xmlns:a16="http://schemas.microsoft.com/office/drawing/2014/main" id="{0300B703-FEC7-43E2-B08D-8061E49B60EB}"/>
              </a:ext>
            </a:extLst>
          </p:cNvPr>
          <p:cNvSpPr>
            <a:spLocks noGrp="1"/>
          </p:cNvSpPr>
          <p:nvPr/>
        </p:nvSpPr>
        <p:spPr>
          <a:xfrm>
            <a:off x="1133475" y="2933700"/>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Recolour all city blocks</a:t>
            </a:r>
          </a:p>
        </p:txBody>
      </p:sp>
      <p:sp>
        <p:nvSpPr>
          <p:cNvPr id="14" name="">
            <a:extLst>
              <a:ext uri="{FF2B5EF4-FFF2-40B4-BE49-F238E27FC236}">
                <a16:creationId xmlns:a16="http://schemas.microsoft.com/office/drawing/2014/main" id="{6364A113-E7D0-4EE7-82EB-FA0D9BED97F0}"/>
              </a:ext>
            </a:extLst>
          </p:cNvPr>
          <p:cNvSpPr>
            <a:spLocks noGrp="1"/>
          </p:cNvSpPr>
          <p:nvPr/>
        </p:nvSpPr>
        <p:spPr>
          <a:xfrm>
            <a:off x="1133475" y="3333750"/>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Select the block paths together. Keep roads</a:t>
            </a:r>
          </a:p>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and water unchanged.</a:t>
            </a:r>
          </a:p>
        </p:txBody>
      </p:sp>
      <p:sp>
        <p:nvSpPr>
          <p:cNvPr id="15" name="">
            <a:extLst>
              <a:ext uri="{FF2B5EF4-FFF2-40B4-BE49-F238E27FC236}">
                <a16:creationId xmlns:a16="http://schemas.microsoft.com/office/drawing/2014/main" id="{98792274-7ACD-4102-B73F-40FD2D7EAE11}"/>
              </a:ext>
            </a:extLst>
          </p:cNvPr>
          <p:cNvSpPr>
            <a:spLocks noGrp="1"/>
          </p:cNvSpPr>
          <p:nvPr/>
        </p:nvSpPr>
        <p:spPr>
          <a:xfrm>
            <a:off x="457200" y="3876675"/>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03</a:t>
            </a:r>
          </a:p>
        </p:txBody>
      </p:sp>
      <p:sp>
        <p:nvSpPr>
          <p:cNvPr id="16" name="">
            <a:extLst>
              <a:ext uri="{FF2B5EF4-FFF2-40B4-BE49-F238E27FC236}">
                <a16:creationId xmlns:a16="http://schemas.microsoft.com/office/drawing/2014/main" id="{A3952EA3-61F3-444D-8163-71D19E530BB1}"/>
              </a:ext>
            </a:extLst>
          </p:cNvPr>
          <p:cNvSpPr>
            <a:spLocks noGrp="1"/>
          </p:cNvSpPr>
          <p:nvPr/>
        </p:nvSpPr>
        <p:spPr>
          <a:xfrm>
            <a:off x="1133475" y="3876675"/>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Explore the structure</a:t>
            </a:r>
          </a:p>
        </p:txBody>
      </p:sp>
      <p:sp>
        <p:nvSpPr>
          <p:cNvPr id="17" name="">
            <a:extLst>
              <a:ext uri="{FF2B5EF4-FFF2-40B4-BE49-F238E27FC236}">
                <a16:creationId xmlns:a16="http://schemas.microsoft.com/office/drawing/2014/main" id="{D32C33A2-9249-45BE-9C6F-9508BD34338D}"/>
              </a:ext>
            </a:extLst>
          </p:cNvPr>
          <p:cNvSpPr>
            <a:spLocks noGrp="1"/>
          </p:cNvSpPr>
          <p:nvPr/>
        </p:nvSpPr>
        <p:spPr>
          <a:xfrm>
            <a:off x="1133475" y="4276725"/>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Hide a layer, restore it, then find a street label.</a:t>
            </a:r>
          </a:p>
        </p:txBody>
      </p:sp>
      <p:sp>
        <p:nvSpPr>
          <p:cNvPr id="18" name="">
            <a:extLst>
              <a:ext uri="{FF2B5EF4-FFF2-40B4-BE49-F238E27FC236}">
                <a16:creationId xmlns:a16="http://schemas.microsoft.com/office/drawing/2014/main" id="{5955203C-20CD-4A19-ACD7-AF081B69595D}"/>
              </a:ext>
            </a:extLst>
          </p:cNvPr>
          <p:cNvSpPr>
            <a:spLocks noGrp="1"/>
          </p:cNvSpPr>
          <p:nvPr/>
        </p:nvSpPr>
        <p:spPr>
          <a:xfrm>
            <a:off x="457200" y="4781550"/>
            <a:ext cx="619125" cy="476250"/>
          </a:xfrm>
          <a:prstGeom prst="rect">
            <a:avLst/>
          </a:prstGeom>
          <a:noFill/>
          <a:ln w="0">
            <a:noFill/>
          </a:ln>
        </p:spPr>
        <p:txBody>
          <a:bodyPr>
            <a:noAutofit/>
          </a:bodyPr>
          <a:lstStyle/>
          <a:p>
            <a:pPr>
              <a:defRPr sz="2550" b="0">
                <a:solidFill>
                  <a:srgbClr val="FEF9E4"/>
                </a:solidFill>
                <a:latin typeface="Mayonnaise Black"/>
                <a:ea typeface="Mayonnaise Black"/>
                <a:cs typeface="Mayonnaise Black"/>
              </a:defRPr>
            </a:pPr>
            <a:r>
              <a:rPr sz="2550" b="0">
                <a:solidFill>
                  <a:srgbClr val="FEF9E4"/>
                </a:solidFill>
                <a:latin typeface="Mayonnaise Black"/>
                <a:ea typeface="Mayonnaise Black"/>
                <a:cs typeface="Mayonnaise Black"/>
              </a:rPr>
              <a:t>04</a:t>
            </a:r>
          </a:p>
        </p:txBody>
      </p:sp>
      <p:sp>
        <p:nvSpPr>
          <p:cNvPr id="19" name="">
            <a:extLst>
              <a:ext uri="{FF2B5EF4-FFF2-40B4-BE49-F238E27FC236}">
                <a16:creationId xmlns:a16="http://schemas.microsoft.com/office/drawing/2014/main" id="{403F2497-7E87-49C5-8E17-1357CF7F2789}"/>
              </a:ext>
            </a:extLst>
          </p:cNvPr>
          <p:cNvSpPr>
            <a:spLocks noGrp="1"/>
          </p:cNvSpPr>
          <p:nvPr/>
        </p:nvSpPr>
        <p:spPr>
          <a:xfrm>
            <a:off x="1133475" y="4781550"/>
            <a:ext cx="6343650" cy="409575"/>
          </a:xfrm>
          <a:prstGeom prst="rect">
            <a:avLst/>
          </a:prstGeom>
          <a:noFill/>
          <a:ln w="0">
            <a:noFill/>
          </a:ln>
        </p:spPr>
        <p:txBody>
          <a:bodyPr>
            <a:noAutofit/>
          </a:bodyPr>
          <a:lstStyle/>
          <a:p>
            <a:pPr>
              <a:defRPr sz="2100" b="1">
                <a:solidFill>
                  <a:srgbClr val="FEF9E4"/>
                </a:solidFill>
                <a:latin typeface="Apfel Grotezk"/>
                <a:ea typeface="Apfel Grotezk"/>
                <a:cs typeface="Apfel Grotezk"/>
              </a:defRPr>
            </a:pPr>
            <a:r>
              <a:rPr sz="2100" b="1">
                <a:solidFill>
                  <a:srgbClr val="FEF9E4"/>
                </a:solidFill>
                <a:latin typeface="Apfel Grotezk"/>
                <a:ea typeface="Apfel Grotezk"/>
                <a:cs typeface="Apfel Grotezk"/>
              </a:rPr>
              <a:t>Save a working copy</a:t>
            </a:r>
          </a:p>
        </p:txBody>
      </p:sp>
      <p:sp>
        <p:nvSpPr>
          <p:cNvPr id="20" name="">
            <a:extLst>
              <a:ext uri="{FF2B5EF4-FFF2-40B4-BE49-F238E27FC236}">
                <a16:creationId xmlns:a16="http://schemas.microsoft.com/office/drawing/2014/main" id="{F12E72D4-B250-4BCE-A682-75569286C400}"/>
              </a:ext>
            </a:extLst>
          </p:cNvPr>
          <p:cNvSpPr>
            <a:spLocks noGrp="1"/>
          </p:cNvSpPr>
          <p:nvPr/>
        </p:nvSpPr>
        <p:spPr>
          <a:xfrm>
            <a:off x="1133475" y="5181600"/>
            <a:ext cx="6276975" cy="628650"/>
          </a:xfrm>
          <a:prstGeom prst="rect">
            <a:avLst/>
          </a:prstGeom>
          <a:noFill/>
          <a:ln w="0">
            <a:noFill/>
          </a:ln>
        </p:spPr>
        <p:txBody>
          <a:bodyPr>
            <a:noAutofit/>
          </a:bodyPr>
          <a:lstStyle/>
          <a:p>
            <a:pPr>
              <a:defRPr sz="1800" b="0">
                <a:solidFill>
                  <a:srgbClr val="FEF9E4"/>
                </a:solidFill>
                <a:latin typeface="Apfel Grotezk"/>
                <a:ea typeface="Apfel Grotezk"/>
                <a:cs typeface="Apfel Grotezk"/>
              </a:defRPr>
            </a:pPr>
            <a:r>
              <a:rPr sz="1800" b="0">
                <a:solidFill>
                  <a:srgbClr val="FEF9E4"/>
                </a:solidFill>
                <a:latin typeface="Apfel Grotezk"/>
                <a:ea typeface="Apfel Grotezk"/>
                <a:cs typeface="Apfel Grotezk"/>
              </a:rPr>
              <a:t>Keep one observation to share with the group.</a:t>
            </a:r>
          </a:p>
        </p:txBody>
      </p:sp>
      <p:sp>
        <p:nvSpPr>
          <p:cNvPr id="21" name="">
            <a:extLst>
              <a:ext uri="{FF2B5EF4-FFF2-40B4-BE49-F238E27FC236}">
                <a16:creationId xmlns:a16="http://schemas.microsoft.com/office/drawing/2014/main" id="{7BA8C781-9267-4C58-A5B6-E616A48DFA0D}"/>
              </a:ext>
            </a:extLst>
          </p:cNvPr>
          <p:cNvSpPr>
            <a:spLocks noGrp="1"/>
          </p:cNvSpPr>
          <p:nvPr/>
        </p:nvSpPr>
        <p:spPr>
          <a:xfrm>
            <a:off x="7962900" y="2028825"/>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sz="1950" b="1">
                <a:solidFill>
                  <a:srgbClr val="FEF9E4"/>
                </a:solidFill>
                <a:latin typeface="Apfel Grotezk"/>
                <a:ea typeface="Apfel Grotezk"/>
                <a:cs typeface="Apfel Grotezk"/>
              </a:rPr>
              <a:t>Export taking a while?</a:t>
            </a:r>
          </a:p>
        </p:txBody>
      </p:sp>
      <p:sp>
        <p:nvSpPr>
          <p:cNvPr id="22" name="">
            <a:extLst>
              <a:ext uri="{FF2B5EF4-FFF2-40B4-BE49-F238E27FC236}">
                <a16:creationId xmlns:a16="http://schemas.microsoft.com/office/drawing/2014/main" id="{0FE347F3-C16F-4A11-A9DE-3061F5DBF14E}"/>
              </a:ext>
            </a:extLst>
          </p:cNvPr>
          <p:cNvSpPr>
            <a:spLocks noGrp="1"/>
          </p:cNvSpPr>
          <p:nvPr/>
        </p:nvSpPr>
        <p:spPr>
          <a:xfrm>
            <a:off x="7962900" y="2419350"/>
            <a:ext cx="3771900" cy="685800"/>
          </a:xfrm>
          <a:prstGeom prst="rect">
            <a:avLst/>
          </a:prstGeom>
          <a:noFill/>
          <a:ln w="0">
            <a:noFill/>
          </a:ln>
        </p:spPr>
        <p:txBody>
          <a:bodyPr>
            <a:noAutofit/>
          </a:bodyPr>
          <a:lstStyle/>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Watch progress. Try a smaller area</a:t>
            </a:r>
          </a:p>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for your next export.</a:t>
            </a:r>
          </a:p>
        </p:txBody>
      </p:sp>
      <p:sp>
        <p:nvSpPr>
          <p:cNvPr id="23" name="">
            <a:extLst>
              <a:ext uri="{FF2B5EF4-FFF2-40B4-BE49-F238E27FC236}">
                <a16:creationId xmlns:a16="http://schemas.microsoft.com/office/drawing/2014/main" id="{0DEFABD4-67B8-4E9D-99CF-0634273135B6}"/>
              </a:ext>
            </a:extLst>
          </p:cNvPr>
          <p:cNvSpPr>
            <a:spLocks noGrp="1"/>
          </p:cNvSpPr>
          <p:nvPr/>
        </p:nvSpPr>
        <p:spPr>
          <a:xfrm>
            <a:off x="7962900" y="3181350"/>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sz="1950" b="1">
                <a:solidFill>
                  <a:srgbClr val="FEF9E4"/>
                </a:solidFill>
                <a:latin typeface="Apfel Grotezk"/>
                <a:ea typeface="Apfel Grotezk"/>
                <a:cs typeface="Apfel Grotezk"/>
              </a:rPr>
              <a:t>Practise with the Gent SVG:</a:t>
            </a:r>
          </a:p>
        </p:txBody>
      </p:sp>
      <p:sp>
        <p:nvSpPr>
          <p:cNvPr id="24" name="">
            <a:extLst>
              <a:ext uri="{FF2B5EF4-FFF2-40B4-BE49-F238E27FC236}">
                <a16:creationId xmlns:a16="http://schemas.microsoft.com/office/drawing/2014/main" id="{484B4AAB-8B53-4AF1-B88B-BD213B1B0F9D}"/>
              </a:ext>
            </a:extLst>
          </p:cNvPr>
          <p:cNvSpPr>
            <a:spLocks noGrp="1"/>
          </p:cNvSpPr>
          <p:nvPr/>
        </p:nvSpPr>
        <p:spPr>
          <a:xfrm>
            <a:off x="7962900" y="3562350"/>
            <a:ext cx="3771900" cy="381000"/>
          </a:xfrm>
          <a:prstGeom prst="rect">
            <a:avLst/>
          </a:prstGeom>
          <a:noFill/>
          <a:ln w="0">
            <a:noFill/>
          </a:ln>
        </p:spPr>
        <p:txBody>
          <a:bodyPr>
            <a:noAutofit/>
          </a:bodyPr>
          <a:lstStyle/>
          <a:p>
            <a:pPr>
              <a:defRPr sz="2025" b="1">
                <a:solidFill>
                  <a:srgbClr val="FEF9E4"/>
                </a:solidFill>
                <a:latin typeface="Apfel Grotezk"/>
                <a:ea typeface="Apfel Grotezk"/>
                <a:cs typeface="Apfel Grotezk"/>
              </a:defRPr>
            </a:pPr>
            <a:r>
              <a:rPr sz="2025" b="1" u="sng">
                <a:solidFill>
                  <a:srgbClr val="FEF9E4"/>
                </a:solidFill>
                <a:latin typeface="Apfel Grotezk"/>
                <a:ea typeface="Apfel Grotezk"/>
                <a:cs typeface="Apfel Grotezk"/>
                <a:hlinkClick r:id="rIdDemo"/>
              </a:rPr>
              <a:t>coen.at/ghent.svg</a:t>
            </a:r>
          </a:p>
        </p:txBody>
      </p:sp>
      <p:sp>
        <p:nvSpPr>
          <p:cNvPr id="25" name="">
            <a:extLst>
              <a:ext uri="{FF2B5EF4-FFF2-40B4-BE49-F238E27FC236}">
                <a16:creationId xmlns:a16="http://schemas.microsoft.com/office/drawing/2014/main" id="{FB2F8BDB-D49C-4BE8-8A33-498F18F24320}"/>
              </a:ext>
            </a:extLst>
          </p:cNvPr>
          <p:cNvSpPr>
            <a:spLocks noGrp="1"/>
          </p:cNvSpPr>
          <p:nvPr/>
        </p:nvSpPr>
        <p:spPr>
          <a:xfrm>
            <a:off x="7962900" y="4124325"/>
            <a:ext cx="3771900" cy="381000"/>
          </a:xfrm>
          <a:prstGeom prst="rect">
            <a:avLst/>
          </a:prstGeom>
          <a:noFill/>
          <a:ln w="0">
            <a:noFill/>
          </a:ln>
        </p:spPr>
        <p:txBody>
          <a:bodyPr>
            <a:noAutofit/>
          </a:bodyPr>
          <a:lstStyle/>
          <a:p>
            <a:pPr>
              <a:defRPr sz="1950" b="1">
                <a:solidFill>
                  <a:srgbClr val="FEF9E4"/>
                </a:solidFill>
                <a:latin typeface="Apfel Grotezk"/>
                <a:ea typeface="Apfel Grotezk"/>
                <a:cs typeface="Apfel Grotezk"/>
              </a:defRPr>
            </a:pPr>
            <a:r>
              <a:rPr sz="1950" b="1">
                <a:solidFill>
                  <a:srgbClr val="FEF9E4"/>
                </a:solidFill>
                <a:latin typeface="Apfel Grotezk"/>
                <a:ea typeface="Apfel Grotezk"/>
                <a:cs typeface="Apfel Grotezk"/>
              </a:rPr>
              <a:t>File looks unexpected?</a:t>
            </a:r>
          </a:p>
        </p:txBody>
      </p:sp>
      <p:sp>
        <p:nvSpPr>
          <p:cNvPr id="26" name="">
            <a:extLst>
              <a:ext uri="{FF2B5EF4-FFF2-40B4-BE49-F238E27FC236}">
                <a16:creationId xmlns:a16="http://schemas.microsoft.com/office/drawing/2014/main" id="{E263B122-C310-4A66-814C-3589E04AC66D}"/>
              </a:ext>
            </a:extLst>
          </p:cNvPr>
          <p:cNvSpPr>
            <a:spLocks noGrp="1"/>
          </p:cNvSpPr>
          <p:nvPr/>
        </p:nvSpPr>
        <p:spPr>
          <a:xfrm>
            <a:off x="7962900" y="4514850"/>
            <a:ext cx="3771900" cy="666750"/>
          </a:xfrm>
          <a:prstGeom prst="rect">
            <a:avLst/>
          </a:prstGeom>
          <a:noFill/>
          <a:ln w="0">
            <a:noFill/>
          </a:ln>
        </p:spPr>
        <p:txBody>
          <a:bodyPr>
            <a:noAutofit/>
          </a:bodyPr>
          <a:lstStyle/>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Check SVG format, fonts and</a:t>
            </a:r>
          </a:p>
          <a:p>
            <a:pPr>
              <a:defRPr sz="1725" b="0">
                <a:solidFill>
                  <a:srgbClr val="FEF9E4"/>
                </a:solidFill>
                <a:latin typeface="Apfel Grotezk"/>
                <a:ea typeface="Apfel Grotezk"/>
                <a:cs typeface="Apfel Grotezk"/>
              </a:defRPr>
            </a:pPr>
            <a:r>
              <a:rPr sz="1725" b="0">
                <a:solidFill>
                  <a:srgbClr val="FEF9E4"/>
                </a:solidFill>
                <a:latin typeface="Apfel Grotezk"/>
                <a:ea typeface="Apfel Grotezk"/>
                <a:cs typeface="Apfel Grotezk"/>
              </a:rPr>
              <a:t>layer visibility.</a:t>
            </a:r>
          </a:p>
        </p:txBody>
      </p:sp>
      <p:sp>
        <p:nvSpPr>
          <p:cNvPr id="27" name="">
            <a:extLst>
              <a:ext uri="{FF2B5EF4-FFF2-40B4-BE49-F238E27FC236}">
                <a16:creationId xmlns:a16="http://schemas.microsoft.com/office/drawing/2014/main" id="{11812290-469F-4702-947F-9FBCB0D7436D}"/>
              </a:ext>
            </a:extLst>
          </p:cNvPr>
          <p:cNvSpPr>
            <a:spLocks noGrp="1"/>
          </p:cNvSpPr>
          <p:nvPr/>
        </p:nvSpPr>
        <p:spPr>
          <a:xfrm>
            <a:off x="7962900" y="5200650"/>
            <a:ext cx="3771900" cy="552450"/>
          </a:xfrm>
          <a:prstGeom prst="rect">
            <a:avLst/>
          </a:prstGeom>
          <a:noFill/>
          <a:ln w="0">
            <a:noFill/>
          </a:ln>
        </p:spPr>
        <p:txBody>
          <a:bodyPr>
            <a:noAutofit/>
          </a:bodyPr>
          <a:lstStyle/>
          <a:p>
            <a:pPr>
              <a:defRPr sz="1575" b="0">
                <a:solidFill>
                  <a:srgbClr val="FEF9E4"/>
                </a:solidFill>
                <a:latin typeface="Apfel Grotezk"/>
                <a:ea typeface="Apfel Grotezk"/>
                <a:cs typeface="Apfel Grotezk"/>
              </a:defRPr>
            </a:pPr>
            <a:r>
              <a:rPr sz="1575" b="0">
                <a:solidFill>
                  <a:srgbClr val="FEF9E4"/>
                </a:solidFill>
                <a:latin typeface="Apfel Grotezk"/>
                <a:ea typeface="Apfel Grotezk"/>
                <a:cs typeface="Apfel Grotezk"/>
              </a:rPr>
              <a:t>Bug report: city + selected area</a:t>
            </a:r>
          </a:p>
          <a:p>
            <a:pPr>
              <a:defRPr sz="1575" b="0">
                <a:solidFill>
                  <a:srgbClr val="FEF9E4"/>
                </a:solidFill>
                <a:latin typeface="Apfel Grotezk"/>
                <a:ea typeface="Apfel Grotezk"/>
                <a:cs typeface="Apfel Grotezk"/>
              </a:defRPr>
            </a:pPr>
            <a:r>
              <a:rPr sz="1575" b="0">
                <a:solidFill>
                  <a:srgbClr val="FEF9E4"/>
                </a:solidFill>
                <a:latin typeface="Apfel Grotezk"/>
                <a:ea typeface="Apfel Grotezk"/>
                <a:cs typeface="Apfel Grotezk"/>
              </a:rPr>
              <a:t>+ editor + what you expected.</a:t>
            </a:r>
          </a:p>
        </p:txBody>
      </p:sp>
      <p:sp>
        <p:nvSpPr>
          <p:cNvPr id="28" name="">
            <a:extLst>
              <a:ext uri="{FF2B5EF4-FFF2-40B4-BE49-F238E27FC236}">
                <a16:creationId xmlns:a16="http://schemas.microsoft.com/office/drawing/2014/main" id="{CB16CD9F-60A2-47CE-9104-80F737F48B37}"/>
              </a:ext>
            </a:extLst>
          </p:cNvPr>
          <p:cNvSpPr>
            <a:spLocks noGrp="1"/>
          </p:cNvSpPr>
          <p:nvPr/>
        </p:nvSpPr>
        <p:spPr>
          <a:xfrm>
            <a:off x="457200" y="5838825"/>
            <a:ext cx="11277600" cy="428625"/>
          </a:xfrm>
          <a:prstGeom prst="rect">
            <a:avLst/>
          </a:prstGeom>
          <a:solidFill>
            <a:srgbClr val="FEF9E4"/>
          </a:solidFill>
          <a:ln w="0">
            <a:noFill/>
          </a:ln>
        </p:spPr>
      </p:sp>
      <p:sp>
        <p:nvSpPr>
          <p:cNvPr id="29" name="">
            <a:extLst>
              <a:ext uri="{FF2B5EF4-FFF2-40B4-BE49-F238E27FC236}">
                <a16:creationId xmlns:a16="http://schemas.microsoft.com/office/drawing/2014/main" id="{352BC211-499B-419D-A6C6-9C74B01A0E07}"/>
              </a:ext>
            </a:extLst>
          </p:cNvPr>
          <p:cNvSpPr>
            <a:spLocks noGrp="1"/>
          </p:cNvSpPr>
          <p:nvPr/>
        </p:nvSpPr>
        <p:spPr>
          <a:xfrm>
            <a:off x="600075" y="5876925"/>
            <a:ext cx="10915650" cy="371475"/>
          </a:xfrm>
          <a:prstGeom prst="rect">
            <a:avLst/>
          </a:prstGeom>
          <a:noFill/>
          <a:ln w="0">
            <a:noFill/>
          </a:ln>
        </p:spPr>
        <p:txBody>
          <a:bodyPr>
            <a:noAutofit/>
          </a:bodyPr>
          <a:lstStyle/>
          <a:p>
            <a:pPr>
              <a:defRPr sz="1950" b="1">
                <a:solidFill>
                  <a:srgbClr val="18180F"/>
                </a:solidFill>
                <a:latin typeface="Apfel Grotezk"/>
                <a:ea typeface="Apfel Grotezk"/>
                <a:cs typeface="Apfel Grotezk"/>
              </a:defRPr>
            </a:pPr>
            <a:r>
              <a:rPr sz="1950" b="1">
                <a:solidFill>
                  <a:srgbClr val="18180F"/>
                </a:solidFill>
                <a:latin typeface="Apfel Grotezk"/>
                <a:ea typeface="Apfel Grotezk"/>
                <a:cs typeface="Apfel Grotezk"/>
              </a:rPr>
              <a:t>Done early? Compare the result with a place you know well.</a:t>
            </a:r>
          </a:p>
        </p:txBody>
      </p:sp>
    </p:spTree>
    <p:extLst>
      <p:ext uri="{BB962C8B-B14F-4D97-AF65-F5344CB8AC3E}">
        <p14:creationId xmlns:p14="http://schemas.microsoft.com/office/powerpoint/2010/main" val="1668963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ECAB6"/>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DB1EC9D-2F6B-4AE2-8D01-C96620B51184}"/>
              </a:ext>
            </a:extLst>
          </p:cNvPr>
          <p:cNvSpPr>
            <a:spLocks noGrp="1"/>
          </p:cNvSpPr>
          <p:nvPr/>
        </p:nvSpPr>
        <p:spPr>
          <a:xfrm>
            <a:off x="457200" y="238125"/>
            <a:ext cx="10820400" cy="285750"/>
          </a:xfrm>
          <a:prstGeom prst="rect">
            <a:avLst/>
          </a:prstGeom>
          <a:noFill/>
          <a:ln w="0">
            <a:noFill/>
          </a:ln>
        </p:spPr>
        <p:txBody>
          <a:bodyPr>
            <a:noAutofit/>
          </a:bodyPr>
          <a:lstStyle/>
          <a:p>
            <a:pPr>
              <a:defRPr sz="1275" b="1">
                <a:solidFill>
                  <a:srgbClr val="F4501E"/>
                </a:solidFill>
                <a:latin typeface="Apfel Grotezk"/>
                <a:ea typeface="Apfel Grotezk"/>
                <a:cs typeface="Apfel Grotezk"/>
              </a:defRPr>
            </a:pPr>
            <a:r>
              <a:rPr sz="1275" b="1">
                <a:solidFill>
                  <a:srgbClr val="F4501E"/>
                </a:solidFill>
                <a:latin typeface="Apfel Grotezk"/>
                <a:ea typeface="Apfel Grotezk"/>
                <a:cs typeface="Apfel Grotezk"/>
              </a:rPr>
              <a:t>OPEN DISCUSSION</a:t>
            </a:r>
          </a:p>
        </p:txBody>
      </p:sp>
      <p:sp>
        <p:nvSpPr>
          <p:cNvPr id="2" name="Rectangle 1">
            <a:extLst>
              <a:ext uri="{FF2B5EF4-FFF2-40B4-BE49-F238E27FC236}">
                <a16:creationId xmlns:a16="http://schemas.microsoft.com/office/drawing/2014/main" id="{15BEB37E-D31B-439D-A6DC-2D8ABD135353}"/>
              </a:ext>
            </a:extLst>
          </p:cNvPr>
          <p:cNvSpPr>
            <a:spLocks noGrp="1"/>
          </p:cNvSpPr>
          <p:nvPr/>
        </p:nvSpPr>
        <p:spPr>
          <a:xfrm>
            <a:off x="457200" y="638175"/>
            <a:ext cx="11239500" cy="1066800"/>
          </a:xfrm>
          <a:prstGeom prst="rect">
            <a:avLst/>
          </a:prstGeom>
          <a:noFill/>
          <a:ln w="0">
            <a:noFill/>
          </a:ln>
        </p:spPr>
        <p:txBody>
          <a:bodyPr>
            <a:noAutofit/>
          </a:bodyPr>
          <a:lstStyle/>
          <a:p>
            <a:pPr>
              <a:defRPr sz="4125" b="0">
                <a:solidFill>
                  <a:srgbClr val="18180F"/>
                </a:solidFill>
                <a:latin typeface="Mayonnaise Black"/>
                <a:ea typeface="Mayonnaise Black"/>
                <a:cs typeface="Mayonnaise Black"/>
              </a:defRPr>
            </a:pPr>
            <a:r>
              <a:rPr sz="4125" b="0">
                <a:solidFill>
                  <a:srgbClr val="18180F"/>
                </a:solidFill>
                <a:latin typeface="Mayonnaise Black"/>
                <a:ea typeface="Mayonnaise Black"/>
                <a:cs typeface="Mayonnaise Black"/>
              </a:rPr>
              <a:t>WHAT SHOULD MAPEXPORT DO BETTER?</a:t>
            </a:r>
          </a:p>
        </p:txBody>
      </p:sp>
      <p:sp>
        <p:nvSpPr>
          <p:cNvPr id="3" name="Rectangle 2">
            <a:extLst>
              <a:ext uri="{FF2B5EF4-FFF2-40B4-BE49-F238E27FC236}">
                <a16:creationId xmlns:a16="http://schemas.microsoft.com/office/drawing/2014/main" id="{41915351-19E1-4606-8439-2FCCC45464D8}"/>
              </a:ext>
            </a:extLst>
          </p:cNvPr>
          <p:cNvSpPr>
            <a:spLocks noGrp="1"/>
          </p:cNvSpPr>
          <p:nvPr/>
        </p:nvSpPr>
        <p:spPr>
          <a:xfrm>
            <a:off x="457200" y="6429375"/>
            <a:ext cx="100012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MAPEXPORT  /  USE-IT     ·     Map data © OpenStreetMap contributors</a:t>
            </a:r>
          </a:p>
        </p:txBody>
      </p:sp>
      <p:sp>
        <p:nvSpPr>
          <p:cNvPr id="4" name="Rectangle 3">
            <a:extLst>
              <a:ext uri="{FF2B5EF4-FFF2-40B4-BE49-F238E27FC236}">
                <a16:creationId xmlns:a16="http://schemas.microsoft.com/office/drawing/2014/main" id="{928B265D-BBC9-4F64-808A-992D26085A3F}"/>
              </a:ext>
            </a:extLst>
          </p:cNvPr>
          <p:cNvSpPr>
            <a:spLocks noGrp="1"/>
          </p:cNvSpPr>
          <p:nvPr/>
        </p:nvSpPr>
        <p:spPr>
          <a:xfrm>
            <a:off x="11144250" y="6429375"/>
            <a:ext cx="590550" cy="238125"/>
          </a:xfrm>
          <a:prstGeom prst="rect">
            <a:avLst/>
          </a:prstGeom>
          <a:noFill/>
          <a:ln w="0">
            <a:noFill/>
          </a:ln>
        </p:spPr>
        <p:txBody>
          <a:bodyPr>
            <a:noAutofit/>
          </a:bodyPr>
          <a:lstStyle/>
          <a:p>
            <a:pPr>
              <a:defRPr sz="1125" b="0">
                <a:solidFill>
                  <a:srgbClr val="18180F"/>
                </a:solidFill>
                <a:latin typeface="Apfel Grotezk"/>
                <a:ea typeface="Apfel Grotezk"/>
                <a:cs typeface="Apfel Grotezk"/>
              </a:defRPr>
            </a:pPr>
            <a:r>
              <a:rPr sz="1125" b="0">
                <a:solidFill>
                  <a:srgbClr val="18180F"/>
                </a:solidFill>
                <a:latin typeface="Apfel Grotezk"/>
                <a:ea typeface="Apfel Grotezk"/>
                <a:cs typeface="Apfel Grotezk"/>
              </a:rPr>
              <a:t>12</a:t>
            </a:r>
          </a:p>
        </p:txBody>
      </p:sp>
      <p:sp>
        <p:nvSpPr>
          <p:cNvPr id="5" name="Rectangle 4">
            <a:extLst>
              <a:ext uri="{FF2B5EF4-FFF2-40B4-BE49-F238E27FC236}">
                <a16:creationId xmlns:a16="http://schemas.microsoft.com/office/drawing/2014/main" id="{DD8A6C38-4C4C-40D4-A701-6E487676A0F4}"/>
              </a:ext>
            </a:extLst>
          </p:cNvPr>
          <p:cNvSpPr>
            <a:spLocks noGrp="1"/>
          </p:cNvSpPr>
          <p:nvPr/>
        </p:nvSpPr>
        <p:spPr>
          <a:xfrm>
            <a:off x="457200" y="1952625"/>
            <a:ext cx="7381875" cy="3429000"/>
          </a:xfrm>
          <a:prstGeom prst="rect">
            <a:avLst/>
          </a:prstGeom>
          <a:noFill/>
          <a:ln w="0">
            <a:noFill/>
          </a:ln>
        </p:spPr>
        <p:txBody>
          <a:bodyPr>
            <a:noAutofit/>
          </a:bodyPr>
          <a:lstStyle/>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saved you work?</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was confusing?</a:t>
            </a:r>
          </a:p>
          <a:p>
            <a:endParaRPr sz="3225" b="0">
              <a:solidFill>
                <a:srgbClr val="18180F"/>
              </a:solidFill>
              <a:latin typeface="Mayonnaise Black"/>
              <a:ea typeface="Mayonnaise Black"/>
              <a:cs typeface="Mayonnaise Black"/>
            </a:endParaRPr>
          </a:p>
          <a:p>
            <a:pPr>
              <a:defRPr sz="3225" b="0">
                <a:solidFill>
                  <a:srgbClr val="18180F"/>
                </a:solidFill>
                <a:latin typeface="Mayonnaise Black"/>
                <a:ea typeface="Mayonnaise Black"/>
                <a:cs typeface="Mayonnaise Black"/>
              </a:defRPr>
            </a:pPr>
            <a:r>
              <a:rPr sz="3225" b="0">
                <a:solidFill>
                  <a:srgbClr val="18180F"/>
                </a:solidFill>
                <a:latin typeface="Mayonnaise Black"/>
                <a:ea typeface="Mayonnaise Black"/>
                <a:cs typeface="Mayonnaise Black"/>
              </a:rPr>
              <a:t>What is missing for your city?</a:t>
            </a:r>
          </a:p>
        </p:txBody>
      </p:sp>
      <p:sp>
        <p:nvSpPr>
          <p:cNvPr id="6" name="Rectangle 5">
            <a:extLst>
              <a:ext uri="{FF2B5EF4-FFF2-40B4-BE49-F238E27FC236}">
                <a16:creationId xmlns:a16="http://schemas.microsoft.com/office/drawing/2014/main" id="{5971E17E-9A2B-4FE1-8DD4-C2974EC9FFF3}"/>
              </a:ext>
            </a:extLst>
          </p:cNvPr>
          <p:cNvSpPr>
            <a:spLocks noGrp="1"/>
          </p:cNvSpPr>
          <p:nvPr/>
        </p:nvSpPr>
        <p:spPr>
          <a:xfrm>
            <a:off x="8382000" y="1924050"/>
            <a:ext cx="3352800" cy="3524250"/>
          </a:xfrm>
          <a:prstGeom prst="rect">
            <a:avLst/>
          </a:prstGeom>
          <a:solidFill>
            <a:srgbClr val="FEF9E4"/>
          </a:solidFill>
          <a:ln w="0">
            <a:noFill/>
          </a:ln>
        </p:spPr>
        <p:txBody>
          <a:bodyPr/>
          <a:lstStyle/>
          <a:p>
            <a:endParaRPr lang="en-US"/>
          </a:p>
        </p:txBody>
      </p:sp>
      <p:sp>
        <p:nvSpPr>
          <p:cNvPr id="7" name="Rectangle 6">
            <a:extLst>
              <a:ext uri="{FF2B5EF4-FFF2-40B4-BE49-F238E27FC236}">
                <a16:creationId xmlns:a16="http://schemas.microsoft.com/office/drawing/2014/main" id="{2DEDA5E6-0FB8-44AE-9684-3BC8FA5AFF38}"/>
              </a:ext>
            </a:extLst>
          </p:cNvPr>
          <p:cNvSpPr>
            <a:spLocks noGrp="1"/>
          </p:cNvSpPr>
          <p:nvPr/>
        </p:nvSpPr>
        <p:spPr>
          <a:xfrm>
            <a:off x="8639175" y="2238375"/>
            <a:ext cx="2809875" cy="1409700"/>
          </a:xfrm>
          <a:prstGeom prst="rect">
            <a:avLst/>
          </a:prstGeom>
          <a:noFill/>
          <a:ln w="0">
            <a:noFill/>
          </a:ln>
        </p:spPr>
        <p:txBody>
          <a:bodyPr>
            <a:noAutofit/>
          </a:bodyPr>
          <a:lstStyle/>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SHOW ONE</a:t>
            </a:r>
          </a:p>
          <a:p>
            <a:pPr>
              <a:defRPr sz="3900" b="0">
                <a:solidFill>
                  <a:srgbClr val="F4501E"/>
                </a:solidFill>
                <a:latin typeface="Mayonnaise Black"/>
                <a:ea typeface="Mayonnaise Black"/>
                <a:cs typeface="Mayonnaise Black"/>
              </a:defRPr>
            </a:pPr>
            <a:r>
              <a:rPr sz="3900" b="0">
                <a:solidFill>
                  <a:srgbClr val="F4501E"/>
                </a:solidFill>
                <a:latin typeface="Mayonnaise Black"/>
                <a:ea typeface="Mayonnaise Black"/>
                <a:cs typeface="Mayonnaise Black"/>
              </a:rPr>
              <a:t>EXAMPLE.</a:t>
            </a:r>
          </a:p>
        </p:txBody>
      </p:sp>
      <p:sp>
        <p:nvSpPr>
          <p:cNvPr id="8" name="Rectangle 7">
            <a:extLst>
              <a:ext uri="{FF2B5EF4-FFF2-40B4-BE49-F238E27FC236}">
                <a16:creationId xmlns:a16="http://schemas.microsoft.com/office/drawing/2014/main" id="{3D05ED2B-F613-44F5-925D-FE7632814B00}"/>
              </a:ext>
            </a:extLst>
          </p:cNvPr>
          <p:cNvSpPr>
            <a:spLocks noGrp="1"/>
          </p:cNvSpPr>
          <p:nvPr/>
        </p:nvSpPr>
        <p:spPr>
          <a:xfrm>
            <a:off x="8639175" y="4048125"/>
            <a:ext cx="2705100" cy="1133475"/>
          </a:xfrm>
          <a:prstGeom prst="rect">
            <a:avLst/>
          </a:prstGeom>
          <a:noFill/>
          <a:ln w="0">
            <a:noFill/>
          </a:ln>
        </p:spPr>
        <p:txBody>
          <a:bodyPr>
            <a:noAutofit/>
          </a:bodyPr>
          <a:lstStyle/>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Then tell us the one</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change that would</a:t>
            </a:r>
          </a:p>
          <a:p>
            <a:pPr>
              <a:defRPr sz="2025" b="0">
                <a:solidFill>
                  <a:srgbClr val="18180F"/>
                </a:solidFill>
                <a:latin typeface="Apfel Grotezk"/>
                <a:ea typeface="Apfel Grotezk"/>
                <a:cs typeface="Apfel Grotezk"/>
              </a:defRPr>
            </a:pPr>
            <a:r>
              <a:rPr sz="2025" b="0">
                <a:solidFill>
                  <a:srgbClr val="18180F"/>
                </a:solidFill>
                <a:latin typeface="Apfel Grotezk"/>
                <a:ea typeface="Apfel Grotezk"/>
                <a:cs typeface="Apfel Grotezk"/>
              </a:rPr>
              <a:t>help you most.</a:t>
            </a:r>
          </a:p>
        </p:txBody>
      </p:sp>
      <p:sp>
        <p:nvSpPr>
          <p:cNvPr id="9" name="Rectangle 8">
            <a:extLst>
              <a:ext uri="{FF2B5EF4-FFF2-40B4-BE49-F238E27FC236}">
                <a16:creationId xmlns:a16="http://schemas.microsoft.com/office/drawing/2014/main" id="{346DF57E-71A9-46C0-BE6C-FCCA21EC1DB1}"/>
              </a:ext>
            </a:extLst>
          </p:cNvPr>
          <p:cNvSpPr>
            <a:spLocks noGrp="1"/>
          </p:cNvSpPr>
          <p:nvPr/>
        </p:nvSpPr>
        <p:spPr>
          <a:xfrm>
            <a:off x="457200" y="5810250"/>
            <a:ext cx="11334750" cy="381000"/>
          </a:xfrm>
          <a:prstGeom prst="rect">
            <a:avLst/>
          </a:prstGeom>
          <a:noFill/>
          <a:ln w="0">
            <a:noFill/>
          </a:ln>
        </p:spPr>
        <p:txBody>
          <a:bodyPr>
            <a:noAutofit/>
          </a:bodyPr>
          <a:lstStyle/>
          <a:p>
            <a:pPr>
              <a:defRPr sz="1875" b="0">
                <a:solidFill>
                  <a:srgbClr val="18180F"/>
                </a:solidFill>
                <a:latin typeface="Apfel Grotezk"/>
                <a:ea typeface="Apfel Grotezk"/>
                <a:cs typeface="Apfel Grotezk"/>
              </a:defRPr>
            </a:pPr>
            <a:r>
              <a:rPr sz="1875" b="0">
                <a:solidFill>
                  <a:srgbClr val="18180F"/>
                </a:solidFill>
                <a:latin typeface="Apfel Grotezk"/>
                <a:ea typeface="Apfel Grotezk"/>
                <a:cs typeface="Apfel Grotezk"/>
              </a:rPr>
              <a:t>Collect: observation → impact on your workflow → suggested improvement</a:t>
            </a:r>
          </a:p>
        </p:txBody>
      </p:sp>
    </p:spTree>
    <p:extLst>
      <p:ext uri="{BB962C8B-B14F-4D97-AF65-F5344CB8AC3E}">
        <p14:creationId xmlns:p14="http://schemas.microsoft.com/office/powerpoint/2010/main" val="84747886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TotalTime>
  <Words>2434</Words>
  <Application>Microsoft Macintosh PowerPoint</Application>
  <DocSecurity>0</DocSecurity>
  <PresentationFormat>Widescreen</PresentationFormat>
  <Paragraphs>195</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Apfel Grotezk</vt:lpstr>
      <vt:lpstr>Arial</vt:lpstr>
      <vt:lpstr>Calibri</vt:lpstr>
      <vt:lpstr>Mayonnaise Black</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Coen de Jong</cp:lastModifiedBy>
  <cp:revision>5</cp:revision>
  <dcterms:created xsi:type="dcterms:W3CDTF">2026-09-13T19:32:27Z</dcterms:created>
  <dcterms:modified xsi:type="dcterms:W3CDTF">2026-09-13T20:55:22Z</dcterms:modified>
</cp:coreProperties>
</file>