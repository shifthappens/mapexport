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3a4de2627e64063" /><Relationship Type="http://schemas.openxmlformats.org/officeDocument/2006/relationships/extended-properties" Target="/docProps/app.xml" Id="R54db36948a984189" /><Relationship Type="http://schemas.openxmlformats.org/officeDocument/2006/relationships/officeDocument" Target="/ppt/presentation.xml" Id="R599f1772af7c4f51" /></Relationships>
</file>

<file path=ppt/presentation.xml><?xml version="1.0" encoding="utf-8"?>
<p:presentation xmlns:p="http://schemas.openxmlformats.org/presentationml/2006/main">
  <p:sldMasterIdLst>
    <p:sldMasterId xmlns:r="http://schemas.openxmlformats.org/officeDocument/2006/relationships" id="2147483648" r:id="R36795704be0844d1"/>
  </p:sldMasterIdLst>
  <p:notesMasterIdLst>
    <p:notesMasterId xmlns:r="http://schemas.openxmlformats.org/officeDocument/2006/relationships" r:id="R7e2250f64567493e"/>
  </p:notesMasterIdLst>
  <p:sldIdLst>
    <p:sldId xmlns:r="http://schemas.openxmlformats.org/officeDocument/2006/relationships" id="256" r:id="R2256aad0846d47db"/>
    <p:sldId xmlns:r="http://schemas.openxmlformats.org/officeDocument/2006/relationships" id="257" r:id="R664e9e908c464b3e"/>
    <p:sldId xmlns:r="http://schemas.openxmlformats.org/officeDocument/2006/relationships" id="258" r:id="Rbba1014328dd4830"/>
    <p:sldId xmlns:r="http://schemas.openxmlformats.org/officeDocument/2006/relationships" id="259" r:id="R545aaacc8e144ab7"/>
    <p:sldId xmlns:r="http://schemas.openxmlformats.org/officeDocument/2006/relationships" id="260" r:id="R8d08d80dac0d457a"/>
    <p:sldId xmlns:r="http://schemas.openxmlformats.org/officeDocument/2006/relationships" id="261" r:id="Re9e6f1e5543743fe"/>
    <p:sldId xmlns:r="http://schemas.openxmlformats.org/officeDocument/2006/relationships" id="262" r:id="Rf9ac71d5d4de41dd"/>
    <p:sldId xmlns:r="http://schemas.openxmlformats.org/officeDocument/2006/relationships" id="263" r:id="R7ee3df93818f408c"/>
    <p:sldId xmlns:r="http://schemas.openxmlformats.org/officeDocument/2006/relationships" id="264" r:id="R22572babf06c4f45"/>
    <p:sldId xmlns:r="http://schemas.openxmlformats.org/officeDocument/2006/relationships" id="265" r:id="R4f623d4c56f04a34"/>
    <p:sldId xmlns:r="http://schemas.openxmlformats.org/officeDocument/2006/relationships" id="266" r:id="Rd3bba54b1e0a4f69"/>
    <p:sldId xmlns:r="http://schemas.openxmlformats.org/officeDocument/2006/relationships" id="267" r:id="R96e65611b7794c10"/>
    <p:sldId xmlns:r="http://schemas.openxmlformats.org/officeDocument/2006/relationships" id="268" r:id="R20ef98d4340b4ec2"/>
    <p:sldId xmlns:r="http://schemas.openxmlformats.org/officeDocument/2006/relationships" id="269" r:id="R09c863afc7a34296"/>
    <p:sldId xmlns:r="http://schemas.openxmlformats.org/officeDocument/2006/relationships" id="270" r:id="Rc32d6b2b4f1840ab"/>
    <p:sldId xmlns:r="http://schemas.openxmlformats.org/officeDocument/2006/relationships" id="271" r:id="Rad6979a9ee3b438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66401c1207b432a" /><Relationship Type="http://schemas.openxmlformats.org/officeDocument/2006/relationships/slideMaster" Target="/ppt/slideMasters/slideMaster1.xml" Id="R36795704be0844d1" /><Relationship Type="http://schemas.openxmlformats.org/officeDocument/2006/relationships/notesMaster" Target="/ppt/notesMasters/notesMaster1.xml" Id="R7e2250f64567493e" /><Relationship Type="http://schemas.openxmlformats.org/officeDocument/2006/relationships/presProps" Target="/ppt/presProps.xml" Id="Rb3bde5741fa34935" /><Relationship Type="http://schemas.openxmlformats.org/officeDocument/2006/relationships/tableStyles" Target="/ppt/tableStyles.xml" Id="R8836cd6ca73143c5" /><Relationship Type="http://schemas.openxmlformats.org/officeDocument/2006/relationships/slide" Target="/ppt/slides/slide1.xml" Id="R2256aad0846d47db" /><Relationship Type="http://schemas.openxmlformats.org/officeDocument/2006/relationships/slide" Target="/ppt/slides/slide2.xml" Id="R664e9e908c464b3e" /><Relationship Type="http://schemas.openxmlformats.org/officeDocument/2006/relationships/slide" Target="/ppt/slides/slide3.xml" Id="Rbba1014328dd4830" /><Relationship Type="http://schemas.openxmlformats.org/officeDocument/2006/relationships/slide" Target="/ppt/slides/slide4.xml" Id="R545aaacc8e144ab7" /><Relationship Type="http://schemas.openxmlformats.org/officeDocument/2006/relationships/slide" Target="/ppt/slides/slide5.xml" Id="R8d08d80dac0d457a" /><Relationship Type="http://schemas.openxmlformats.org/officeDocument/2006/relationships/slide" Target="/ppt/slides/slide6.xml" Id="Re9e6f1e5543743fe" /><Relationship Type="http://schemas.openxmlformats.org/officeDocument/2006/relationships/slide" Target="/ppt/slides/slide7.xml" Id="Rf9ac71d5d4de41dd" /><Relationship Type="http://schemas.openxmlformats.org/officeDocument/2006/relationships/slide" Target="/ppt/slides/slide8.xml" Id="R7ee3df93818f408c" /><Relationship Type="http://schemas.openxmlformats.org/officeDocument/2006/relationships/slide" Target="/ppt/slides/slide9.xml" Id="R22572babf06c4f45" /><Relationship Type="http://schemas.openxmlformats.org/officeDocument/2006/relationships/slide" Target="/ppt/slides/slide10.xml" Id="R4f623d4c56f04a34" /><Relationship Type="http://schemas.openxmlformats.org/officeDocument/2006/relationships/slide" Target="/ppt/slides/slide11.xml" Id="Rd3bba54b1e0a4f69" /><Relationship Type="http://schemas.openxmlformats.org/officeDocument/2006/relationships/slide" Target="/ppt/slides/slide12.xml" Id="R96e65611b7794c10" /><Relationship Type="http://schemas.openxmlformats.org/officeDocument/2006/relationships/slide" Target="/ppt/slides/slide13.xml" Id="R20ef98d4340b4ec2" /><Relationship Type="http://schemas.openxmlformats.org/officeDocument/2006/relationships/slide" Target="/ppt/slides/slide14.xml" Id="R09c863afc7a34296" /><Relationship Type="http://schemas.openxmlformats.org/officeDocument/2006/relationships/slide" Target="/ppt/slides/slide15.xml" Id="Rc32d6b2b4f1840ab" /><Relationship Type="http://schemas.openxmlformats.org/officeDocument/2006/relationships/slide" Target="/ppt/slides/slide16.xml" Id="Rad6979a9ee3b438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8eb9cca790349b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4964f01e7dc4189" /><Relationship Type="http://schemas.openxmlformats.org/officeDocument/2006/relationships/notesMaster" Target="/ppt/notesMasters/notesMaster1.xml" Id="R9e5075cdf01a4369" /></Relationships>
</file>

<file path=ppt/notesSlides/_rels/notesSlide2.xml.rels>&#65279;<?xml version="1.0" encoding="utf-8"?><Relationships xmlns="http://schemas.openxmlformats.org/package/2006/relationships"><Relationship Type="http://schemas.openxmlformats.org/officeDocument/2006/relationships/slide" Target="/ppt/slides/slide2.xml" Id="R0953a081e6ee4825" /><Relationship Type="http://schemas.openxmlformats.org/officeDocument/2006/relationships/notesMaster" Target="/ppt/notesMasters/notesMaster1.xml" Id="R851681bd7a5a44dd" /></Relationships>
</file>

<file path=ppt/notesSlides/_rels/notesSlide3.xml.rels>&#65279;<?xml version="1.0" encoding="utf-8"?><Relationships xmlns="http://schemas.openxmlformats.org/package/2006/relationships"><Relationship Type="http://schemas.openxmlformats.org/officeDocument/2006/relationships/slide" Target="/ppt/slides/slide3.xml" Id="R1e3b8660d13f479b" /><Relationship Type="http://schemas.openxmlformats.org/officeDocument/2006/relationships/notesMaster" Target="/ppt/notesMasters/notesMaster1.xml" Id="Rcbc58a6495e04473" /></Relationships>
</file>

<file path=ppt/notesSlides/_rels/notesSlide4.xml.rels>&#65279;<?xml version="1.0" encoding="utf-8"?><Relationships xmlns="http://schemas.openxmlformats.org/package/2006/relationships"><Relationship Type="http://schemas.openxmlformats.org/officeDocument/2006/relationships/slide" Target="/ppt/slides/slide4.xml" Id="Ra6a170d460544b8e" /><Relationship Type="http://schemas.openxmlformats.org/officeDocument/2006/relationships/notesMaster" Target="/ppt/notesMasters/notesMaster1.xml" Id="R31953a9eb297433f" /></Relationships>
</file>

<file path=ppt/notesSlides/_rels/notesSlide5.xml.rels>&#65279;<?xml version="1.0" encoding="utf-8"?><Relationships xmlns="http://schemas.openxmlformats.org/package/2006/relationships"><Relationship Type="http://schemas.openxmlformats.org/officeDocument/2006/relationships/slide" Target="/ppt/slides/slide5.xml" Id="R2b94a9dc3a1b4e0a" /><Relationship Type="http://schemas.openxmlformats.org/officeDocument/2006/relationships/notesMaster" Target="/ppt/notesMasters/notesMaster1.xml" Id="R8a82fbc78d274759" /></Relationships>
</file>

<file path=ppt/notesSlides/_rels/notesSlide6.xml.rels>&#65279;<?xml version="1.0" encoding="utf-8"?><Relationships xmlns="http://schemas.openxmlformats.org/package/2006/relationships"><Relationship Type="http://schemas.openxmlformats.org/officeDocument/2006/relationships/slide" Target="/ppt/slides/slide6.xml" Id="R42ef63f642d84d11" /><Relationship Type="http://schemas.openxmlformats.org/officeDocument/2006/relationships/notesMaster" Target="/ppt/notesMasters/notesMaster1.xml" Id="R28d098b20a004985" /></Relationships>
</file>

<file path=ppt/notesSlides/_rels/notesSlide7.xml.rels>&#65279;<?xml version="1.0" encoding="utf-8"?><Relationships xmlns="http://schemas.openxmlformats.org/package/2006/relationships"><Relationship Type="http://schemas.openxmlformats.org/officeDocument/2006/relationships/slide" Target="/ppt/slides/slide7.xml" Id="Ra5fabf8f3a0247e4" /><Relationship Type="http://schemas.openxmlformats.org/officeDocument/2006/relationships/notesMaster" Target="/ppt/notesMasters/notesMaster1.xml" Id="Rfd30b72c9dfe4bf6" /></Relationships>
</file>

<file path=ppt/notesSlides/_rels/notesSlide8.xml.rels>&#65279;<?xml version="1.0" encoding="utf-8"?><Relationships xmlns="http://schemas.openxmlformats.org/package/2006/relationships"><Relationship Type="http://schemas.openxmlformats.org/officeDocument/2006/relationships/slide" Target="/ppt/slides/slide8.xml" Id="Rc0f61c4ff8b64b29" /><Relationship Type="http://schemas.openxmlformats.org/officeDocument/2006/relationships/notesMaster" Target="/ppt/notesMasters/notesMaster1.xml" Id="R14d673783303417b" /></Relationships>
</file>

<file path=ppt/notesSlides/_rels/notesSlide9.xml.rels>&#65279;<?xml version="1.0" encoding="utf-8"?><Relationships xmlns="http://schemas.openxmlformats.org/package/2006/relationships"><Relationship Type="http://schemas.openxmlformats.org/officeDocument/2006/relationships/slide" Target="/ppt/slides/slide9.xml" Id="Rb4246929e0d74f6c" /><Relationship Type="http://schemas.openxmlformats.org/officeDocument/2006/relationships/notesMaster" Target="/ppt/notesMasters/notesMaster1.xml" Id="R525d3f25d2bf4b8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c31c1c6f0ad472d" /><Relationship Type="http://schemas.openxmlformats.org/officeDocument/2006/relationships/notesMaster" Target="/ppt/notesMasters/notesMaster1.xml" Id="R1ecc71ffd463458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fac0b9ab5804da0" /><Relationship Type="http://schemas.openxmlformats.org/officeDocument/2006/relationships/notesMaster" Target="/ppt/notesMasters/notesMaster1.xml" Id="R4738237e02e34b9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571309501f94fc3" /><Relationship Type="http://schemas.openxmlformats.org/officeDocument/2006/relationships/notesMaster" Target="/ppt/notesMasters/notesMaster1.xml" Id="R174c3f3753f5449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e46e31113d14a35" /><Relationship Type="http://schemas.openxmlformats.org/officeDocument/2006/relationships/notesMaster" Target="/ppt/notesMasters/notesMaster1.xml" Id="R821da7c76fc243d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e80bbac49a9408f" /><Relationship Type="http://schemas.openxmlformats.org/officeDocument/2006/relationships/notesMaster" Target="/ppt/notesMasters/notesMaster1.xml" Id="R509940596ab040b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b23caf54d8f4e25" /><Relationship Type="http://schemas.openxmlformats.org/officeDocument/2006/relationships/notesMaster" Target="/ppt/notesMasters/notesMaster1.xml" Id="Re7ec96c8fc33491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ade112a73b440b7" /><Relationship Type="http://schemas.openxmlformats.org/officeDocument/2006/relationships/notesMaster" Target="/ppt/notesMasters/notesMaster1.xml" Id="R25d90d9652824d7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Today we will turn a city area into an editable SVG, explore its layers, then export our own cities. Suggested flow: 10 minutes introduction, 5 minutes live demo, 20 minutes hands-on and 10 minutes discussion. Timings are adjustable. The map shown is the live Gent export included with this deck.</a:t>
            </a:r>
          </a:p>
          <a:p xmlns:a="http://schemas.openxmlformats.org/drawingml/2006/main">
            <a:r>
              <a:t/>
            </a:r>
          </a:p>
          <a:p xmlns:a="http://schemas.openxmlformats.org/drawingml/2006/main">
            <a:r>
              <a:t>Sources: live https://coen.at/mapexport/ inspected and exported 13 September 2026; repository README.md, script.js and references/How to draw a good street map.md. Map data © OpenStreetMap contributors (ODbL), https://www.openstreetmap.org/copyright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Ask for a quick show of hands: who has traced a base map manually? MapExport tackles repetitive groundwork: streets, blocks and street labels. Do not promise a measured time saving. The amount of cleanup depends on the city and the source data.</a:t>
            </a:r>
          </a:p>
          <a:p xmlns:a="http://schemas.openxmlformats.org/drawingml/2006/main">
            <a:r>
              <a:t/>
            </a:r>
          </a:p>
          <a:p xmlns:a="http://schemas.openxmlformats.org/drawingml/2006/main">
            <a:r>
              <a:t>Sources: live https://coen.at/mapexport/ inspected and exported 13 September 2026; repository README.md, script.js and references/How to draw a good street map.md. Map data © OpenStreetMap contributors (ODbL), https://www.openstreetmap.org/copyright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Point out water, roads, parks and blocks. SVG is a vector file: it can be scaled and edited in a vector editor. This is a base map, not a complete travel guide. Sample: presentations/assets/ghent-demo.svg.</a:t>
            </a:r>
          </a:p>
          <a:p xmlns:a="http://schemas.openxmlformats.org/drawingml/2006/main">
            <a:r>
              <a:t/>
            </a:r>
          </a:p>
          <a:p xmlns:a="http://schemas.openxmlformats.org/drawingml/2006/main">
            <a:r>
              <a:t>Sources: live https://coen.at/mapexport/ inspected and exported 13 September 2026; repository README.md, script.js and references/How to draw a good street map.md. Map data © OpenStreetMap contributors (ODbL), https://www.openstreetmap.org/copyright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OpenStreetMap provides geographical data. MapExport transforms those features into a designed SVG, including computed city blocks and road labels. City blocks are areas between roads, not individual building footprints. Data coverage and quality vary by location.</a:t>
            </a:r>
          </a:p>
          <a:p xmlns:a="http://schemas.openxmlformats.org/drawingml/2006/main">
            <a:r>
              <a:t/>
            </a:r>
          </a:p>
          <a:p xmlns:a="http://schemas.openxmlformats.org/drawingml/2006/main">
            <a:r>
              <a:t>Sources: live https://coen.at/mapexport/ inspected and exported 13 September 2026; repository README.md, script.js and references/How to draw a good street map.md. Map data © OpenStreetMap contributors (ODbL), https://www.openstreetmap.org/copyright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https://coen.at/mapexport/ . The controls are on the left, the map on the right. Search, pick the matching location and use Draw rectangle. Screenshot captured from the live site, 13 September 2026. Live controls may evolve.</a:t>
            </a:r>
          </a:p>
          <a:p xmlns:a="http://schemas.openxmlformats.org/drawingml/2006/main">
            <a:r>
              <a:t/>
            </a:r>
          </a:p>
          <a:p xmlns:a="http://schemas.openxmlformats.org/drawingml/2006/main">
            <a:r>
              <a:t>Sources: live https://coen.at/mapexport/ inspected and exported 13 September 2026; repository README.md, script.js and references/How to draw a good street map.md. Map data © OpenStreetMap contributors (ODbL), https://www.openstreetmap.org/copyright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the first exercise choose a manageable central neighbourhood, not an entire metropolitan area. In the sample the rectangle is roughly 2.3 × 2.9 km. The live interface shows approximate printed dimensions. Avoid implying that the website has an A3 selector. A larger export has more objects and may take longer.</a:t>
            </a:r>
          </a:p>
          <a:p xmlns:a="http://schemas.openxmlformats.org/drawingml/2006/main">
            <a:r>
              <a:t/>
            </a:r>
          </a:p>
          <a:p xmlns:a="http://schemas.openxmlformats.org/drawingml/2006/main">
            <a:r>
              <a:t>Sources: live https://coen.at/mapexport/ inspected and exported 13 September 2026; repository README.md, script.js and references/How to draw a good street map.md. Map data © OpenStreetMap contributors (ODbL), https://www.openstreetmap.org/copyright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the layer checkboxes on the live site. Available options include water bodies, waterways, city blocks, parks/green space, roads, railways and transit features. Street-name controls include road categories. Explain that all available detail does not necessarily improve a printed USE-IT map. City blocks do not represent each individual building.</a:t>
            </a:r>
          </a:p>
          <a:p xmlns:a="http://schemas.openxmlformats.org/drawingml/2006/main">
            <a:r>
              <a:t/>
            </a:r>
          </a:p>
          <a:p xmlns:a="http://schemas.openxmlformats.org/drawingml/2006/main">
            <a:r>
              <a:t>Sources: live https://coen.at/mapexport/ inspected and exported 13 September 2026; repository README.md, script.js and references/How to draw a good street map.md. Map data © OpenStreetMap contributors (ODbL), https://www.openstreetmap.org/copyright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the option labels observed on the live site. Use File &gt; Open, rather than placing the SVG as a linked image in another document. Inspect Layers or Layers and Objects after opening; group/layer presentation differs between editors. Keep the original SVG for recovery.</a:t>
            </a:r>
          </a:p>
          <a:p xmlns:a="http://schemas.openxmlformats.org/drawingml/2006/main">
            <a:r>
              <a:t/>
            </a:r>
          </a:p>
          <a:p xmlns:a="http://schemas.openxmlformats.org/drawingml/2006/main">
            <a:r>
              <a:t>Sources: live https://coen.at/mapexport/ inspected and exported 13 September 2026; repository README.md, script.js and references/How to draw a good street map.md. Map data © OpenStreetMap contributors (ODbL), https://www.openstreetmap.org/copyright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simplified layer list, not a screenshot of an editor. The actual Gent SVG has a Background layer and a clipped Map content parent. Expand Map content to find City blocks. Exact grouping can differ by export version and editor. Keep the crop/clipping group intact: ungrouping everything can expose geometry outside the selected area.</a:t>
            </a:r>
          </a:p>
          <a:p xmlns:a="http://schemas.openxmlformats.org/drawingml/2006/main">
            <a:r>
              <a:t/>
            </a:r>
          </a:p>
          <a:p xmlns:a="http://schemas.openxmlformats.org/drawingml/2006/main">
            <a:r>
              <a:t>Sources: live https://coen.at/mapexport/ inspected and exported 13 September 2026; repository README.md, script.js and references/How to draw a good street map.md. Map data © OpenStreetMap contributors (ODbL), https://www.openstreetmap.org/copyright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 SCRIPT</a:t>
            </a:r>
          </a:p>
          <a:p xmlns:a="http://schemas.openxmlformats.org/drawingml/2006/main">
            <a:r>
              <a:t>Open presentations/assets/ghent-demo.svg in Inkscape. Fit the page to the window (5). Open Layer &gt; Layers and Objects and expand Map content. Find City blocks. Enter that layer and select its child paths, or select one block and use Edit &gt; Select Same &gt; Fill Color. Verify that only the city-block paths are selected: this sample contains 581. Lock unrelated layers first if their objects share the same fill. Click a palette colour or use Object &gt; Fill and Stroke to change Fill (do not Shift-click, which changes Stroke). Water, roads and parks should retain their colours. Undo once to show that all blocks changed together. Save a separate edited SVG.</a:t>
            </a:r>
          </a:p>
          <a:p xmlns:a="http://schemas.openxmlformats.org/drawingml/2006/main">
            <a:r>
              <a:t>The preview on the right changes every child path in city_blocks to #F2CA76 and nothing else. It was rendered by Inkscape from the actual export. This slide is a prompt to switch to a live editor, not a recording of UI clicks. Backup: ghent-recoloured.svg.</a:t>
            </a:r>
          </a:p>
          <a:p xmlns:a="http://schemas.openxmlformats.org/drawingml/2006/main">
            <a:r>
              <a:t>Inkscape Select Same documentation: https://inkscape.org/en/doc/tutorials/basic/tutorial-basic.pt_BR.html/ .</a:t>
            </a:r>
          </a:p>
          <a:p xmlns:a="http://schemas.openxmlformats.org/drawingml/2006/main">
            <a:r>
              <a:t/>
            </a:r>
          </a:p>
          <a:p xmlns:a="http://schemas.openxmlformats.org/drawingml/2006/main">
            <a:r>
              <a:t>Sources: live https://coen.at/mapexport/ inspected and exported 13 September 2026; repository README.md, script.js and references/How to draw a good street map.md. Map data © OpenStreetMap contributors (ODbL), https://www.openstreetmap.org/copyright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tool does not choose the local tips, judge every label or make the final page composition. Designers still simplify, edit and proof. Before publication, check that the map is readable at the intended size, including labels and contrast. The SVG contains OSM attribution metadata, but that is not a substitute for visible attribution in the finished publication. Attribution guidance: https://www.openstreetmap.org/copyright .</a:t>
            </a:r>
          </a:p>
          <a:p xmlns:a="http://schemas.openxmlformats.org/drawingml/2006/main">
            <a:r>
              <a:t/>
            </a:r>
          </a:p>
          <a:p xmlns:a="http://schemas.openxmlformats.org/drawingml/2006/main">
            <a:r>
              <a:t>Sources: live https://coen.at/mapexport/ inspected and exported 13 September 2026; repository README.md, script.js and references/How to draw a good street map.md. Map data © OpenStreetMap contributors (ODbL), https://www.openstreetmap.org/copyright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Invite participants to work individually or in pairs. Allow about 20 minutes, adjusting for the group. Everyone should have Illustrator or Inkscape available. Have ghent-demo.svg ready for anyone whose export is delayed so they can still practise editing.</a:t>
            </a:r>
          </a:p>
          <a:p xmlns:a="http://schemas.openxmlformats.org/drawingml/2006/main">
            <a:r>
              <a:t/>
            </a:r>
          </a:p>
          <a:p xmlns:a="http://schemas.openxmlformats.org/drawingml/2006/main">
            <a:r>
              <a:t>Sources: live https://coen.at/mapexport/ inspected and exported 13 September 2026; repository README.md, script.js and references/How to draw a good street map.md. Map data © OpenStreetMap contributors (ODbL), https://www.openstreetmap.org/copyright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around and help participants with the boundary, format choice and opening the file. Ask them to keep the original download. A successful first export matters more than choosing the perfect final map extent.</a:t>
            </a:r>
          </a:p>
          <a:p xmlns:a="http://schemas.openxmlformats.org/drawingml/2006/main">
            <a:r>
              <a:t/>
            </a:r>
          </a:p>
          <a:p xmlns:a="http://schemas.openxmlformats.org/drawingml/2006/main">
            <a:r>
              <a:t>Sources: live https://coen.at/mapexport/ inspected and exported 13 September 2026; repository README.md, script.js and references/How to draw a good street map.md. Map data © OpenStreetMap contributors (ODbL), https://www.openstreetmap.org/copyright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Participants can use either editor. Inkscape: use the demo workflow. Illustrator: expand the relevant group in Layers, select its child block paths and change Fill; Select &gt; Same &gt; Fill Color can help if only the intended objects use that colour. Check the selection before recolouring. Ask participants to note one concrete issue or useful feature for discussion.</a:t>
            </a:r>
          </a:p>
          <a:p xmlns:a="http://schemas.openxmlformats.org/drawingml/2006/main">
            <a:r>
              <a:t/>
            </a:r>
          </a:p>
          <a:p xmlns:a="http://schemas.openxmlformats.org/drawingml/2006/main">
            <a:r>
              <a:t>Sources: live https://coen.at/mapexport/ inspected and exported 13 September 2026; repository README.md, script.js and references/How to draw a good street map.md. Map data © OpenStreetMap contributors (ODbL), https://www.openstreetmap.org/copyright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MapExport relies on public map-data services, which can be slow or temporarily unavailable. Do not have everyone repeatedly click export at once. For workshop continuity, use presentations/assets/ghent-demo.svg. If text looks different, inspect any missing-font warning and compare with the browser preview. Record precise reproduction steps and, where useful, a screenshot.</a:t>
            </a:r>
          </a:p>
          <a:p xmlns:a="http://schemas.openxmlformats.org/drawingml/2006/main">
            <a:r>
              <a:t/>
            </a:r>
          </a:p>
          <a:p xmlns:a="http://schemas.openxmlformats.org/drawingml/2006/main">
            <a:r>
              <a:t>Sources: live https://coen.at/mapexport/ inspected and exported 13 September 2026; repository README.md, script.js and references/How to draw a good street map.md. Map data © OpenStreetMap contributors (ODbL), https://www.openstreetmap.org/copyright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End here and invite an open discussion. Collect feedback in three columns on a board or shared document: observation, impact and desired change. Capture the city, area and editor for reproducible problems. Ask for concrete examples and let other participants add their experience before prioritising. Distinguish bugs, usability issues and feature wishes. Finish by asking each person for the one improvement that matters most; do not promise delivery dates.</a:t>
            </a:r>
          </a:p>
          <a:p xmlns:a="http://schemas.openxmlformats.org/drawingml/2006/main">
            <a:r>
              <a:t/>
            </a:r>
          </a:p>
          <a:p xmlns:a="http://schemas.openxmlformats.org/drawingml/2006/main">
            <a:r>
              <a:t>Sources: live https://coen.at/mapexport/ inspected and exported 13 September 2026; repository README.md, script.js and references/How to draw a good street map.md. Map data © OpenStreetMap contributors (ODbL), https://www.openstreetmap.org/copyright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881750b9e5f467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50dad7eeeb943d4" /><Relationship Type="http://schemas.openxmlformats.org/officeDocument/2006/relationships/slideLayout" Target="/ppt/slideLayouts/slideLayout1.xml" Id="R2305c005a47349c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305c005a47349c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8dc34f2651944b6" /><Relationship Type="http://schemas.openxmlformats.org/officeDocument/2006/relationships/image" Target="/ppt/media/image.png" Id="R842cad456097480e" /><Relationship Type="http://schemas.openxmlformats.org/officeDocument/2006/relationships/notesSlide" Target="/ppt/notesSlides/notesSlide1.xml" Id="R65190f935a0a4ea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4e6b27312104c6a" /><Relationship Type="http://schemas.openxmlformats.org/officeDocument/2006/relationships/notesSlide" Target="/ppt/notesSlides/notesSlide2.xml" Id="R3a52160f506d41e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c806f37d0be4053" /><Relationship Type="http://schemas.openxmlformats.org/officeDocument/2006/relationships/image" Target="/ppt/media/image2.png" Id="R50904ce3f8014ca5" /><Relationship Type="http://schemas.openxmlformats.org/officeDocument/2006/relationships/notesSlide" Target="/ppt/notesSlides/notesSlide3.xml" Id="R7bc89634acc94a8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ff1002972704e86" /><Relationship Type="http://schemas.openxmlformats.org/officeDocument/2006/relationships/notesSlide" Target="/ppt/notesSlides/notesSlide4.xml" Id="Rc53c083769eb484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02873f958924cf8" /><Relationship Type="http://schemas.openxmlformats.org/officeDocument/2006/relationships/image" Target="/ppt/media/image.jpeg" Id="R9d016b35e3e44204" /><Relationship Type="http://schemas.openxmlformats.org/officeDocument/2006/relationships/notesSlide" Target="/ppt/notesSlides/notesSlide5.xml" Id="R7201131f304c498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daeed66cebe4721" /><Relationship Type="http://schemas.openxmlformats.org/officeDocument/2006/relationships/image" Target="/ppt/media/image2.jpeg" Id="R598cb296512e4864" /><Relationship Type="http://schemas.openxmlformats.org/officeDocument/2006/relationships/notesSlide" Target="/ppt/notesSlides/notesSlide6.xml" Id="R7da9019d13e74c8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99cdefeae094a11" /><Relationship Type="http://schemas.openxmlformats.org/officeDocument/2006/relationships/image" Target="/ppt/media/image3.png" Id="R6b2dfde0d08e42ac" /><Relationship Type="http://schemas.openxmlformats.org/officeDocument/2006/relationships/notesSlide" Target="/ppt/notesSlides/notesSlide7.xml" Id="R84bd0c9d00714ff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5298443a2804618" /><Relationship Type="http://schemas.openxmlformats.org/officeDocument/2006/relationships/notesSlide" Target="/ppt/notesSlides/notesSlide8.xml" Id="Rc181873b0d1045e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302f77b6e824c3a" /><Relationship Type="http://schemas.openxmlformats.org/officeDocument/2006/relationships/notesSlide" Target="/ppt/notesSlides/notesSlide9.xml" Id="Reec1e22ee562446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1804dacf00b4c1b" /><Relationship Type="http://schemas.openxmlformats.org/officeDocument/2006/relationships/image" Target="/ppt/media/image4.png" Id="R0412b00c491a4088" /><Relationship Type="http://schemas.openxmlformats.org/officeDocument/2006/relationships/image" Target="/ppt/media/image5.png" Id="R3d799b6cdf294743" /><Relationship Type="http://schemas.openxmlformats.org/officeDocument/2006/relationships/notesSlide" Target="/ppt/notesSlides/notesSlide10.xml" Id="Rd04f3960cef94ac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29864f3a1384d3a" /><Relationship Type="http://schemas.openxmlformats.org/officeDocument/2006/relationships/notesSlide" Target="/ppt/notesSlides/notesSlide11.xml" Id="R650a855a828c440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c016ceec94b7439f" /><Relationship Type="http://schemas.openxmlformats.org/officeDocument/2006/relationships/notesSlide" Target="/ppt/notesSlides/notesSlide12.xml" Id="R101432a1449a403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efb1ea0b93344390" /><Relationship Type="http://schemas.openxmlformats.org/officeDocument/2006/relationships/notesSlide" Target="/ppt/notesSlides/notesSlide13.xml" Id="R7586ba0880d048f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8b3fbba08e564429" /><Relationship Type="http://schemas.openxmlformats.org/officeDocument/2006/relationships/notesSlide" Target="/ppt/notesSlides/notesSlide14.xml" Id="R4aee263dfeab4ac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40dfbe12c4c945b7" /><Relationship Type="http://schemas.openxmlformats.org/officeDocument/2006/relationships/notesSlide" Target="/ppt/notesSlides/notesSlide15.xml" Id="R5a26f0ad6db240e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fe0fe69881494f61" /><Relationship Type="http://schemas.openxmlformats.org/officeDocument/2006/relationships/notesSlide" Target="/ppt/notesSlides/notesSlide16.xml" Id="R8c6b0237b9e44c0f" /></Relationships>
</file>

<file path=ppt/slides/slide1.xml><?xml version="1.0" encoding="utf-8"?>
<p:sld xmlns:p="http://schemas.openxmlformats.org/presentationml/2006/main">
  <p:cSld>
    <p:bg>
      <p:bgPr>
        <a:solidFill xmlns:a="http://schemas.openxmlformats.org/drawingml/2006/main">
          <a:srgbClr val="F4501E"/>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842cad456097480e"/>
          <a:srcRect xmlns:a="http://schemas.openxmlformats.org/drawingml/2006/main" l="17375" t="0" r="17375" b="0"/>
          <a:stretch xmlns:a="http://schemas.openxmlformats.org/drawingml/2006/main">
            <a:fillRect l="0" t="0" r="0" b="0"/>
          </a:stretch>
        </p:blipFill>
        <p:spPr>
          <a:xfrm xmlns:a="http://schemas.openxmlformats.org/drawingml/2006/main">
            <a:off x="6667500" y="0"/>
            <a:ext cx="55245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B9A9E26-F7CB-4565-BD78-F5972A80B259}"/>
              </a:ext>
            </a:extLst>
          </p:cNvPr>
          <p:cNvSpPr>
            <a:spLocks xmlns:a="http://schemas.openxmlformats.org/drawingml/2006/main" noGrp="1"/>
          </p:cNvSpPr>
          <p:nvPr/>
        </p:nvSpPr>
        <p:spPr>
          <a:xfrm xmlns:a="http://schemas.openxmlformats.org/drawingml/2006/main">
            <a:off x="457200" y="381000"/>
            <a:ext cx="619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FEF9E4"/>
                </a:solidFill>
                <a:latin typeface="Apfel Grotezk"/>
                <a:ea typeface="Apfel Grotezk"/>
                <a:cs typeface="Apfel Grotezk"/>
              </a:defRPr>
            </a:pPr>
            <a:r>
              <a:rPr sz="1575" b="1">
                <a:solidFill>
                  <a:srgbClr val="FEF9E4"/>
                </a:solidFill>
                <a:latin typeface="Apfel Grotezk"/>
                <a:ea typeface="Apfel Grotezk"/>
                <a:cs typeface="Apfel Grotezk"/>
              </a:rPr>
              <a:t>USE-IT DESIGN WORKSHOP</a:t>
            </a:r>
          </a:p>
        </p:txBody>
      </p:sp>
      <p:sp>
        <p:nvSpPr>
          <p:cNvPr id="3" name="">
            <a:extLst xmlns:a="http://schemas.openxmlformats.org/drawingml/2006/main">
              <a:ext uri="{FF2B5EF4-FFF2-40B4-BE49-F238E27FC236}">
                <a16:creationId xmlns:a16="http://schemas.microsoft.com/office/drawing/2014/main" id="{DC8705F0-DFC6-4F1C-B3E2-5C58C3A02714}"/>
              </a:ext>
            </a:extLst>
          </p:cNvPr>
          <p:cNvSpPr>
            <a:spLocks xmlns:a="http://schemas.openxmlformats.org/drawingml/2006/main" noGrp="1"/>
          </p:cNvSpPr>
          <p:nvPr/>
        </p:nvSpPr>
        <p:spPr>
          <a:xfrm xmlns:a="http://schemas.openxmlformats.org/drawingml/2006/main">
            <a:off x="381000" y="1285875"/>
            <a:ext cx="64770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300" b="0">
                <a:solidFill>
                  <a:srgbClr val="FEF9E4"/>
                </a:solidFill>
                <a:latin typeface="Mayonnaise Black"/>
                <a:ea typeface="Mayonnaise Black"/>
                <a:cs typeface="Mayonnaise Black"/>
              </a:defRPr>
            </a:pPr>
            <a:r>
              <a:rPr sz="9300" b="0">
                <a:solidFill>
                  <a:srgbClr val="FEF9E4"/>
                </a:solidFill>
                <a:latin typeface="Mayonnaise Black"/>
                <a:ea typeface="Mayonnaise Black"/>
                <a:cs typeface="Mayonnaise Black"/>
              </a:rPr>
              <a:t>MAP</a:t>
            </a:r>
          </a:p>
          <a:p xmlns:a="http://schemas.openxmlformats.org/drawingml/2006/main">
            <a:pPr>
              <a:defRPr sz="9300" b="0">
                <a:solidFill>
                  <a:srgbClr val="FEF9E4"/>
                </a:solidFill>
                <a:latin typeface="Mayonnaise Black"/>
                <a:ea typeface="Mayonnaise Black"/>
                <a:cs typeface="Mayonnaise Black"/>
              </a:defRPr>
            </a:pPr>
            <a:r>
              <a:rPr sz="9300" b="0">
                <a:solidFill>
                  <a:srgbClr val="FEF9E4"/>
                </a:solidFill>
                <a:latin typeface="Mayonnaise Black"/>
                <a:ea typeface="Mayonnaise Black"/>
                <a:cs typeface="Mayonnaise Black"/>
              </a:rPr>
              <a:t>EXPORT</a:t>
            </a:r>
          </a:p>
        </p:txBody>
      </p:sp>
      <p:sp>
        <p:nvSpPr>
          <p:cNvPr id="4" name="">
            <a:extLst xmlns:a="http://schemas.openxmlformats.org/drawingml/2006/main">
              <a:ext uri="{FF2B5EF4-FFF2-40B4-BE49-F238E27FC236}">
                <a16:creationId xmlns:a16="http://schemas.microsoft.com/office/drawing/2014/main" id="{6F570A06-435D-4977-B174-6C0D68FC0BA8}"/>
              </a:ext>
            </a:extLst>
          </p:cNvPr>
          <p:cNvSpPr>
            <a:spLocks xmlns:a="http://schemas.openxmlformats.org/drawingml/2006/main" noGrp="1"/>
          </p:cNvSpPr>
          <p:nvPr/>
        </p:nvSpPr>
        <p:spPr>
          <a:xfrm xmlns:a="http://schemas.openxmlformats.org/drawingml/2006/main">
            <a:off x="457200" y="4333875"/>
            <a:ext cx="58578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0">
                <a:solidFill>
                  <a:srgbClr val="FEF9E4"/>
                </a:solidFill>
                <a:latin typeface="Apfel Grotezk"/>
                <a:ea typeface="Apfel Grotezk"/>
                <a:cs typeface="Apfel Grotezk"/>
              </a:defRPr>
            </a:pPr>
            <a:r>
              <a:rPr sz="3225" b="0">
                <a:solidFill>
                  <a:srgbClr val="FEF9E4"/>
                </a:solidFill>
                <a:latin typeface="Apfel Grotezk"/>
                <a:ea typeface="Apfel Grotezk"/>
                <a:cs typeface="Apfel Grotezk"/>
              </a:rPr>
              <a:t>Your city.</a:t>
            </a:r>
          </a:p>
          <a:p xmlns:a="http://schemas.openxmlformats.org/drawingml/2006/main">
            <a:pPr>
              <a:defRPr sz="3225" b="0">
                <a:solidFill>
                  <a:srgbClr val="FEF9E4"/>
                </a:solidFill>
                <a:latin typeface="Apfel Grotezk"/>
                <a:ea typeface="Apfel Grotezk"/>
                <a:cs typeface="Apfel Grotezk"/>
              </a:defRPr>
            </a:pPr>
            <a:r>
              <a:rPr sz="3225" b="0">
                <a:solidFill>
                  <a:srgbClr val="FEF9E4"/>
                </a:solidFill>
                <a:latin typeface="Apfel Grotezk"/>
                <a:ea typeface="Apfel Grotezk"/>
                <a:cs typeface="Apfel Grotezk"/>
              </a:rPr>
              <a:t>An editable map.</a:t>
            </a:r>
          </a:p>
        </p:txBody>
      </p:sp>
      <p:sp>
        <p:nvSpPr>
          <p:cNvPr id="5" name="">
            <a:extLst xmlns:a="http://schemas.openxmlformats.org/drawingml/2006/main">
              <a:ext uri="{FF2B5EF4-FFF2-40B4-BE49-F238E27FC236}">
                <a16:creationId xmlns:a16="http://schemas.microsoft.com/office/drawing/2014/main" id="{8C29E529-F3E6-449D-A486-367F30B09189}"/>
              </a:ext>
            </a:extLst>
          </p:cNvPr>
          <p:cNvSpPr>
            <a:spLocks xmlns:a="http://schemas.openxmlformats.org/drawingml/2006/main" noGrp="1"/>
          </p:cNvSpPr>
          <p:nvPr/>
        </p:nvSpPr>
        <p:spPr>
          <a:xfrm xmlns:a="http://schemas.openxmlformats.org/drawingml/2006/main">
            <a:off x="457200" y="6048375"/>
            <a:ext cx="571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FEF9E4"/>
                </a:solidFill>
                <a:latin typeface="Apfel Grotezk"/>
                <a:ea typeface="Apfel Grotezk"/>
                <a:cs typeface="Apfel Grotezk"/>
              </a:defRPr>
            </a:pPr>
            <a:r>
              <a:rPr sz="1800" b="0">
                <a:solidFill>
                  <a:srgbClr val="FEF9E4"/>
                </a:solidFill>
                <a:latin typeface="Apfel Grotezk"/>
                <a:ea typeface="Apfel Grotezk"/>
                <a:cs typeface="Apfel Grotezk"/>
              </a:rPr>
              <a:t>coen.at/mapexport</a:t>
            </a:r>
          </a:p>
        </p:txBody>
      </p:sp>
      <p:sp>
        <p:nvSpPr>
          <p:cNvPr id="6" name="">
            <a:extLst xmlns:a="http://schemas.openxmlformats.org/drawingml/2006/main">
              <a:ext uri="{FF2B5EF4-FFF2-40B4-BE49-F238E27FC236}">
                <a16:creationId xmlns:a16="http://schemas.microsoft.com/office/drawing/2014/main" id="{DD95FBC6-55DF-49BA-996B-D438BE5ADB1B}"/>
              </a:ext>
            </a:extLst>
          </p:cNvPr>
          <p:cNvSpPr>
            <a:spLocks xmlns:a="http://schemas.openxmlformats.org/drawingml/2006/main" noGrp="1"/>
          </p:cNvSpPr>
          <p:nvPr/>
        </p:nvSpPr>
        <p:spPr>
          <a:xfrm xmlns:a="http://schemas.openxmlformats.org/drawingml/2006/main">
            <a:off x="6667500" y="6534150"/>
            <a:ext cx="5524500" cy="323850"/>
          </a:xfrm>
          <a:prstGeom xmlns:a="http://schemas.openxmlformats.org/drawingml/2006/main" prst="rect">
            <a:avLst/>
          </a:prstGeom>
          <a:solidFill xmlns:a="http://schemas.openxmlformats.org/drawingml/2006/main">
            <a:srgbClr val="FEF9E4"/>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3DCBE537-CCF6-4E61-8AB6-6C2EE034DDE3}"/>
              </a:ext>
            </a:extLst>
          </p:cNvPr>
          <p:cNvSpPr>
            <a:spLocks xmlns:a="http://schemas.openxmlformats.org/drawingml/2006/main" noGrp="1"/>
          </p:cNvSpPr>
          <p:nvPr/>
        </p:nvSpPr>
        <p:spPr>
          <a:xfrm xmlns:a="http://schemas.openxmlformats.org/drawingml/2006/main">
            <a:off x="6838950" y="6553200"/>
            <a:ext cx="5238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18180F"/>
                </a:solidFill>
                <a:latin typeface="Apfel Grotezk"/>
                <a:ea typeface="Apfel Grotezk"/>
                <a:cs typeface="Apfel Grotezk"/>
              </a:defRPr>
            </a:pPr>
            <a:r>
              <a:rPr sz="1125" b="0">
                <a:solidFill>
                  <a:srgbClr val="18180F"/>
                </a:solidFill>
                <a:latin typeface="Apfel Grotezk"/>
                <a:ea typeface="Apfel Grotezk"/>
                <a:cs typeface="Apfel Grotezk"/>
              </a:rPr>
              <a:t>Map data © OpenStreetMap contributors</a:t>
            </a:r>
          </a:p>
        </p:txBody>
      </p:sp>
    </p:spTree>
    <p:extLst>
      <p:ext uri="{BB962C8B-B14F-4D97-AF65-F5344CB8AC3E}">
        <p14:creationId xmlns:p14="http://schemas.microsoft.com/office/powerpoint/2010/main" val="34517744"/>
      </p:ext>
    </p:extLst>
  </p:cSld>
</p:sld>
</file>

<file path=ppt/slides/slide2.xml><?xml version="1.0" encoding="utf-8"?>
<p:sld xmlns:p="http://schemas.openxmlformats.org/presentationml/2006/main">
  <p:cSld>
    <p:bg>
      <p:bgPr>
        <a:solidFill xmlns:a="http://schemas.openxmlformats.org/drawingml/2006/main">
          <a:srgbClr val="FEF9E4"/>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09584339-FF5D-4E08-9F98-4878E7CB69DE}"/>
              </a:ext>
            </a:extLst>
          </p:cNvPr>
          <p:cNvSpPr>
            <a:spLocks xmlns:a="http://schemas.openxmlformats.org/drawingml/2006/main" noGrp="1"/>
          </p:cNvSpPr>
          <p:nvPr/>
        </p:nvSpPr>
        <p:spPr>
          <a:xfrm xmlns:a="http://schemas.openxmlformats.org/drawingml/2006/main">
            <a:off x="457200" y="238125"/>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F4501E"/>
                </a:solidFill>
                <a:latin typeface="Apfel Grotezk"/>
                <a:ea typeface="Apfel Grotezk"/>
                <a:cs typeface="Apfel Grotezk"/>
              </a:defRPr>
            </a:pPr>
            <a:r>
              <a:rPr sz="1275" b="1">
                <a:solidFill>
                  <a:srgbClr val="F4501E"/>
                </a:solidFill>
                <a:latin typeface="Apfel Grotezk"/>
                <a:ea typeface="Apfel Grotezk"/>
                <a:cs typeface="Apfel Grotezk"/>
              </a:rPr>
              <a:t>THE PROBLEM</a:t>
            </a:r>
          </a:p>
        </p:txBody>
      </p:sp>
      <p:sp>
        <p:nvSpPr>
          <p:cNvPr id="2" name="">
            <a:extLst xmlns:a="http://schemas.openxmlformats.org/drawingml/2006/main">
              <a:ext uri="{FF2B5EF4-FFF2-40B4-BE49-F238E27FC236}">
                <a16:creationId xmlns:a16="http://schemas.microsoft.com/office/drawing/2014/main" id="{91167F96-0C3D-423A-A7F9-85B569A3AC73}"/>
              </a:ext>
            </a:extLst>
          </p:cNvPr>
          <p:cNvSpPr>
            <a:spLocks xmlns:a="http://schemas.openxmlformats.org/drawingml/2006/main" noGrp="1"/>
          </p:cNvSpPr>
          <p:nvPr/>
        </p:nvSpPr>
        <p:spPr>
          <a:xfrm xmlns:a="http://schemas.openxmlformats.org/drawingml/2006/main">
            <a:off x="457200" y="638175"/>
            <a:ext cx="11239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125" b="0">
                <a:solidFill>
                  <a:srgbClr val="18180F"/>
                </a:solidFill>
                <a:latin typeface="Mayonnaise Black"/>
                <a:ea typeface="Mayonnaise Black"/>
                <a:cs typeface="Mayonnaise Black"/>
              </a:defRPr>
            </a:pPr>
            <a:r>
              <a:rPr sz="4125" b="0">
                <a:solidFill>
                  <a:srgbClr val="18180F"/>
                </a:solidFill>
                <a:latin typeface="Mayonnaise Black"/>
                <a:ea typeface="Mayonnaise Black"/>
                <a:cs typeface="Mayonnaise Black"/>
              </a:rPr>
              <a:t>LESS REPETITION. MORE LOCAL CHARACTER.</a:t>
            </a:r>
          </a:p>
        </p:txBody>
      </p:sp>
      <p:sp>
        <p:nvSpPr>
          <p:cNvPr id="3" name="">
            <a:extLst xmlns:a="http://schemas.openxmlformats.org/drawingml/2006/main">
              <a:ext uri="{FF2B5EF4-FFF2-40B4-BE49-F238E27FC236}">
                <a16:creationId xmlns:a16="http://schemas.microsoft.com/office/drawing/2014/main" id="{9A2609B5-F6E4-4A82-95D5-8E634BABB4EA}"/>
              </a:ext>
            </a:extLst>
          </p:cNvPr>
          <p:cNvSpPr>
            <a:spLocks xmlns:a="http://schemas.openxmlformats.org/drawingml/2006/main" noGrp="1"/>
          </p:cNvSpPr>
          <p:nvPr/>
        </p:nvSpPr>
        <p:spPr>
          <a:xfrm xmlns:a="http://schemas.openxmlformats.org/drawingml/2006/main">
            <a:off x="457200" y="6429375"/>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18180F"/>
                </a:solidFill>
                <a:latin typeface="Apfel Grotezk"/>
                <a:ea typeface="Apfel Grotezk"/>
                <a:cs typeface="Apfel Grotezk"/>
              </a:defRPr>
            </a:pPr>
            <a:r>
              <a:rPr sz="1125" b="0">
                <a:solidFill>
                  <a:srgbClr val="18180F"/>
                </a:solidFill>
                <a:latin typeface="Apfel Grotezk"/>
                <a:ea typeface="Apfel Grotezk"/>
                <a:cs typeface="Apfel Grotezk"/>
              </a:rPr>
              <a:t>MAPEXPORT  /  USE-IT     ·     Map data © OpenStreetMap contributors</a:t>
            </a:r>
          </a:p>
        </p:txBody>
      </p:sp>
      <p:sp>
        <p:nvSpPr>
          <p:cNvPr id="4" name="">
            <a:extLst xmlns:a="http://schemas.openxmlformats.org/drawingml/2006/main">
              <a:ext uri="{FF2B5EF4-FFF2-40B4-BE49-F238E27FC236}">
                <a16:creationId xmlns:a16="http://schemas.microsoft.com/office/drawing/2014/main" id="{0A1081FE-1B86-4190-8665-444394D70FD9}"/>
              </a:ext>
            </a:extLst>
          </p:cNvPr>
          <p:cNvSpPr>
            <a:spLocks xmlns:a="http://schemas.openxmlformats.org/drawingml/2006/main" noGrp="1"/>
          </p:cNvSpPr>
          <p:nvPr/>
        </p:nvSpPr>
        <p:spPr>
          <a:xfrm xmlns:a="http://schemas.openxmlformats.org/drawingml/2006/main">
            <a:off x="11144250" y="6429375"/>
            <a:ext cx="590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18180F"/>
                </a:solidFill>
                <a:latin typeface="Apfel Grotezk"/>
                <a:ea typeface="Apfel Grotezk"/>
                <a:cs typeface="Apfel Grotezk"/>
              </a:defRPr>
            </a:pPr>
            <a:r>
              <a:rPr sz="1125" b="0">
                <a:solidFill>
                  <a:srgbClr val="18180F"/>
                </a:solidFill>
                <a:latin typeface="Apfel Grotezk"/>
                <a:ea typeface="Apfel Grotezk"/>
                <a:cs typeface="Apfel Grotezk"/>
              </a:rPr>
              <a:t>02</a:t>
            </a:r>
          </a:p>
        </p:txBody>
      </p:sp>
      <p:sp>
        <p:nvSpPr>
          <p:cNvPr id="5" name="">
            <a:extLst xmlns:a="http://schemas.openxmlformats.org/drawingml/2006/main">
              <a:ext uri="{FF2B5EF4-FFF2-40B4-BE49-F238E27FC236}">
                <a16:creationId xmlns:a16="http://schemas.microsoft.com/office/drawing/2014/main" id="{471FFA2C-A8A2-4A7C-8909-EF33F09C080D}"/>
              </a:ext>
            </a:extLst>
          </p:cNvPr>
          <p:cNvSpPr>
            <a:spLocks xmlns:a="http://schemas.openxmlformats.org/drawingml/2006/main" noGrp="1"/>
          </p:cNvSpPr>
          <p:nvPr/>
        </p:nvSpPr>
        <p:spPr>
          <a:xfrm xmlns:a="http://schemas.openxmlformats.org/drawingml/2006/main">
            <a:off x="457200" y="1895475"/>
            <a:ext cx="5715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18180F"/>
                </a:solidFill>
                <a:latin typeface="Apfel Grotezk"/>
                <a:ea typeface="Apfel Grotezk"/>
                <a:cs typeface="Apfel Grotezk"/>
              </a:defRPr>
            </a:pPr>
            <a:r>
              <a:rPr sz="2850" b="0">
                <a:solidFill>
                  <a:srgbClr val="18180F"/>
                </a:solidFill>
                <a:latin typeface="Apfel Grotezk"/>
                <a:ea typeface="Apfel Grotezk"/>
                <a:cs typeface="Apfel Grotezk"/>
              </a:rPr>
              <a:t>Before you can tell the story</a:t>
            </a:r>
          </a:p>
          <a:p xmlns:a="http://schemas.openxmlformats.org/drawingml/2006/main">
            <a:pPr>
              <a:defRPr sz="2850" b="0">
                <a:solidFill>
                  <a:srgbClr val="18180F"/>
                </a:solidFill>
                <a:latin typeface="Apfel Grotezk"/>
                <a:ea typeface="Apfel Grotezk"/>
                <a:cs typeface="Apfel Grotezk"/>
              </a:defRPr>
            </a:pPr>
            <a:r>
              <a:rPr sz="2850" b="0">
                <a:solidFill>
                  <a:srgbClr val="18180F"/>
                </a:solidFill>
                <a:latin typeface="Apfel Grotezk"/>
                <a:ea typeface="Apfel Grotezk"/>
                <a:cs typeface="Apfel Grotezk"/>
              </a:rPr>
              <a:t>of a city, you need a base map.</a:t>
            </a:r>
          </a:p>
        </p:txBody>
      </p:sp>
      <p:sp>
        <p:nvSpPr>
          <p:cNvPr id="6" name="">
            <a:extLst xmlns:a="http://schemas.openxmlformats.org/drawingml/2006/main">
              <a:ext uri="{FF2B5EF4-FFF2-40B4-BE49-F238E27FC236}">
                <a16:creationId xmlns:a16="http://schemas.microsoft.com/office/drawing/2014/main" id="{B1D7D131-1080-486A-B492-C8D7A0048811}"/>
              </a:ext>
            </a:extLst>
          </p:cNvPr>
          <p:cNvSpPr>
            <a:spLocks xmlns:a="http://schemas.openxmlformats.org/drawingml/2006/main" noGrp="1"/>
          </p:cNvSpPr>
          <p:nvPr/>
        </p:nvSpPr>
        <p:spPr>
          <a:xfrm xmlns:a="http://schemas.openxmlformats.org/drawingml/2006/main">
            <a:off x="457200" y="3238500"/>
            <a:ext cx="685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F4501E"/>
                </a:solidFill>
                <a:latin typeface="Mayonnaise Black"/>
                <a:ea typeface="Mayonnaise Black"/>
                <a:cs typeface="Mayonnaise Black"/>
              </a:defRPr>
            </a:pPr>
            <a:r>
              <a:rPr sz="3000" b="0">
                <a:solidFill>
                  <a:srgbClr val="F4501E"/>
                </a:solidFill>
                <a:latin typeface="Mayonnaise Black"/>
                <a:ea typeface="Mayonnaise Black"/>
                <a:cs typeface="Mayonnaise Black"/>
              </a:rPr>
              <a:t>01</a:t>
            </a:r>
          </a:p>
        </p:txBody>
      </p:sp>
      <p:sp>
        <p:nvSpPr>
          <p:cNvPr id="7" name="">
            <a:extLst xmlns:a="http://schemas.openxmlformats.org/drawingml/2006/main">
              <a:ext uri="{FF2B5EF4-FFF2-40B4-BE49-F238E27FC236}">
                <a16:creationId xmlns:a16="http://schemas.microsoft.com/office/drawing/2014/main" id="{C65713E5-9F47-4FE3-89CF-430186436E6A}"/>
              </a:ext>
            </a:extLst>
          </p:cNvPr>
          <p:cNvSpPr>
            <a:spLocks xmlns:a="http://schemas.openxmlformats.org/drawingml/2006/main" noGrp="1"/>
          </p:cNvSpPr>
          <p:nvPr/>
        </p:nvSpPr>
        <p:spPr>
          <a:xfrm xmlns:a="http://schemas.openxmlformats.org/drawingml/2006/main">
            <a:off x="1257300" y="3238500"/>
            <a:ext cx="5391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8180F"/>
                </a:solidFill>
                <a:latin typeface="Apfel Grotezk"/>
                <a:ea typeface="Apfel Grotezk"/>
                <a:cs typeface="Apfel Grotezk"/>
              </a:defRPr>
            </a:pPr>
            <a:r>
              <a:rPr sz="2250" b="1">
                <a:solidFill>
                  <a:srgbClr val="18180F"/>
                </a:solidFill>
                <a:latin typeface="Apfel Grotezk"/>
                <a:ea typeface="Apfel Grotezk"/>
                <a:cs typeface="Apfel Grotezk"/>
              </a:rPr>
              <a:t>Trace streets and blocks</a:t>
            </a:r>
          </a:p>
        </p:txBody>
      </p:sp>
      <p:sp>
        <p:nvSpPr>
          <p:cNvPr id="8" name="">
            <a:extLst xmlns:a="http://schemas.openxmlformats.org/drawingml/2006/main">
              <a:ext uri="{FF2B5EF4-FFF2-40B4-BE49-F238E27FC236}">
                <a16:creationId xmlns:a16="http://schemas.microsoft.com/office/drawing/2014/main" id="{6AF78E57-883B-4BED-8C5F-7B3C406D3C29}"/>
              </a:ext>
            </a:extLst>
          </p:cNvPr>
          <p:cNvSpPr>
            <a:spLocks xmlns:a="http://schemas.openxmlformats.org/drawingml/2006/main" noGrp="1"/>
          </p:cNvSpPr>
          <p:nvPr/>
        </p:nvSpPr>
        <p:spPr>
          <a:xfrm xmlns:a="http://schemas.openxmlformats.org/drawingml/2006/main">
            <a:off x="1257300" y="3676650"/>
            <a:ext cx="53911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180F"/>
                </a:solidFill>
                <a:latin typeface="Apfel Grotezk"/>
                <a:ea typeface="Apfel Grotezk"/>
                <a:cs typeface="Apfel Grotezk"/>
              </a:defRPr>
            </a:pPr>
            <a:r>
              <a:rPr sz="1950" b="0">
                <a:solidFill>
                  <a:srgbClr val="18180F"/>
                </a:solidFill>
                <a:latin typeface="Apfel Grotezk"/>
                <a:ea typeface="Apfel Grotezk"/>
                <a:cs typeface="Apfel Grotezk"/>
              </a:rPr>
              <a:t>Build a clear street hierarchy.</a:t>
            </a:r>
          </a:p>
        </p:txBody>
      </p:sp>
      <p:sp>
        <p:nvSpPr>
          <p:cNvPr id="9" name="">
            <a:extLst xmlns:a="http://schemas.openxmlformats.org/drawingml/2006/main">
              <a:ext uri="{FF2B5EF4-FFF2-40B4-BE49-F238E27FC236}">
                <a16:creationId xmlns:a16="http://schemas.microsoft.com/office/drawing/2014/main" id="{FE0C1449-5714-47F2-9894-DCB0F566BAAA}"/>
              </a:ext>
            </a:extLst>
          </p:cNvPr>
          <p:cNvSpPr>
            <a:spLocks xmlns:a="http://schemas.openxmlformats.org/drawingml/2006/main" noGrp="1"/>
          </p:cNvSpPr>
          <p:nvPr/>
        </p:nvSpPr>
        <p:spPr>
          <a:xfrm xmlns:a="http://schemas.openxmlformats.org/drawingml/2006/main">
            <a:off x="457200" y="4619625"/>
            <a:ext cx="685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F4501E"/>
                </a:solidFill>
                <a:latin typeface="Mayonnaise Black"/>
                <a:ea typeface="Mayonnaise Black"/>
                <a:cs typeface="Mayonnaise Black"/>
              </a:defRPr>
            </a:pPr>
            <a:r>
              <a:rPr sz="3000" b="0">
                <a:solidFill>
                  <a:srgbClr val="F4501E"/>
                </a:solidFill>
                <a:latin typeface="Mayonnaise Black"/>
                <a:ea typeface="Mayonnaise Black"/>
                <a:cs typeface="Mayonnaise Black"/>
              </a:rPr>
              <a:t>02</a:t>
            </a:r>
          </a:p>
        </p:txBody>
      </p:sp>
      <p:sp>
        <p:nvSpPr>
          <p:cNvPr id="10" name="">
            <a:extLst xmlns:a="http://schemas.openxmlformats.org/drawingml/2006/main">
              <a:ext uri="{FF2B5EF4-FFF2-40B4-BE49-F238E27FC236}">
                <a16:creationId xmlns:a16="http://schemas.microsoft.com/office/drawing/2014/main" id="{E18F1B8D-F5C9-42D7-B023-D6A5597AE41B}"/>
              </a:ext>
            </a:extLst>
          </p:cNvPr>
          <p:cNvSpPr>
            <a:spLocks xmlns:a="http://schemas.openxmlformats.org/drawingml/2006/main" noGrp="1"/>
          </p:cNvSpPr>
          <p:nvPr/>
        </p:nvSpPr>
        <p:spPr>
          <a:xfrm xmlns:a="http://schemas.openxmlformats.org/drawingml/2006/main">
            <a:off x="1257300" y="4619625"/>
            <a:ext cx="5391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8180F"/>
                </a:solidFill>
                <a:latin typeface="Apfel Grotezk"/>
                <a:ea typeface="Apfel Grotezk"/>
                <a:cs typeface="Apfel Grotezk"/>
              </a:defRPr>
            </a:pPr>
            <a:r>
              <a:rPr sz="2250" b="1">
                <a:solidFill>
                  <a:srgbClr val="18180F"/>
                </a:solidFill>
                <a:latin typeface="Apfel Grotezk"/>
                <a:ea typeface="Apfel Grotezk"/>
                <a:cs typeface="Apfel Grotezk"/>
              </a:rPr>
              <a:t>Place and check names</a:t>
            </a:r>
          </a:p>
        </p:txBody>
      </p:sp>
      <p:sp>
        <p:nvSpPr>
          <p:cNvPr id="11" name="">
            <a:extLst xmlns:a="http://schemas.openxmlformats.org/drawingml/2006/main">
              <a:ext uri="{FF2B5EF4-FFF2-40B4-BE49-F238E27FC236}">
                <a16:creationId xmlns:a16="http://schemas.microsoft.com/office/drawing/2014/main" id="{313D8F55-CB56-435A-9B66-33E98916BE61}"/>
              </a:ext>
            </a:extLst>
          </p:cNvPr>
          <p:cNvSpPr>
            <a:spLocks xmlns:a="http://schemas.openxmlformats.org/drawingml/2006/main" noGrp="1"/>
          </p:cNvSpPr>
          <p:nvPr/>
        </p:nvSpPr>
        <p:spPr>
          <a:xfrm xmlns:a="http://schemas.openxmlformats.org/drawingml/2006/main">
            <a:off x="1257300" y="5057775"/>
            <a:ext cx="53911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180F"/>
                </a:solidFill>
                <a:latin typeface="Apfel Grotezk"/>
                <a:ea typeface="Apfel Grotezk"/>
                <a:cs typeface="Apfel Grotezk"/>
              </a:defRPr>
            </a:pPr>
            <a:r>
              <a:rPr sz="1950" b="0">
                <a:solidFill>
                  <a:srgbClr val="18180F"/>
                </a:solidFill>
                <a:latin typeface="Apfel Grotezk"/>
                <a:ea typeface="Apfel Grotezk"/>
                <a:cs typeface="Apfel Grotezk"/>
              </a:rPr>
              <a:t>Keep labels readable and editable.</a:t>
            </a:r>
          </a:p>
        </p:txBody>
      </p:sp>
      <p:sp>
        <p:nvSpPr>
          <p:cNvPr id="12" name="">
            <a:extLst xmlns:a="http://schemas.openxmlformats.org/drawingml/2006/main">
              <a:ext uri="{FF2B5EF4-FFF2-40B4-BE49-F238E27FC236}">
                <a16:creationId xmlns:a16="http://schemas.microsoft.com/office/drawing/2014/main" id="{88C01356-0627-45D0-B766-65C54537D9A1}"/>
              </a:ext>
            </a:extLst>
          </p:cNvPr>
          <p:cNvSpPr>
            <a:spLocks xmlns:a="http://schemas.openxmlformats.org/drawingml/2006/main" noGrp="1"/>
          </p:cNvSpPr>
          <p:nvPr/>
        </p:nvSpPr>
        <p:spPr>
          <a:xfrm xmlns:a="http://schemas.openxmlformats.org/drawingml/2006/main">
            <a:off x="7658100" y="1809750"/>
            <a:ext cx="4076700" cy="4210050"/>
          </a:xfrm>
          <a:prstGeom xmlns:a="http://schemas.openxmlformats.org/drawingml/2006/main" prst="rect">
            <a:avLst/>
          </a:prstGeom>
          <a:solidFill xmlns:a="http://schemas.openxmlformats.org/drawingml/2006/main">
            <a:srgbClr val="7ECAB6"/>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D05BE495-1C0A-4D0C-B964-B41E12622865}"/>
              </a:ext>
            </a:extLst>
          </p:cNvPr>
          <p:cNvSpPr>
            <a:spLocks xmlns:a="http://schemas.openxmlformats.org/drawingml/2006/main" noGrp="1"/>
          </p:cNvSpPr>
          <p:nvPr/>
        </p:nvSpPr>
        <p:spPr>
          <a:xfrm xmlns:a="http://schemas.openxmlformats.org/drawingml/2006/main">
            <a:off x="7934325" y="2314575"/>
            <a:ext cx="352425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0">
                <a:solidFill>
                  <a:srgbClr val="18180F"/>
                </a:solidFill>
                <a:latin typeface="Mayonnaise Black"/>
                <a:ea typeface="Mayonnaise Black"/>
                <a:cs typeface="Mayonnaise Black"/>
              </a:defRPr>
            </a:pPr>
            <a:r>
              <a:rPr sz="3900" b="0">
                <a:solidFill>
                  <a:srgbClr val="18180F"/>
                </a:solidFill>
                <a:latin typeface="Mayonnaise Black"/>
                <a:ea typeface="Mayonnaise Black"/>
                <a:cs typeface="Mayonnaise Black"/>
              </a:rPr>
              <a:t>What if the</a:t>
            </a:r>
          </a:p>
          <a:p xmlns:a="http://schemas.openxmlformats.org/drawingml/2006/main">
            <a:pPr>
              <a:defRPr sz="3900" b="0">
                <a:solidFill>
                  <a:srgbClr val="18180F"/>
                </a:solidFill>
                <a:latin typeface="Mayonnaise Black"/>
                <a:ea typeface="Mayonnaise Black"/>
                <a:cs typeface="Mayonnaise Black"/>
              </a:defRPr>
            </a:pPr>
            <a:r>
              <a:rPr sz="3900" b="0">
                <a:solidFill>
                  <a:srgbClr val="18180F"/>
                </a:solidFill>
                <a:latin typeface="Mayonnaise Black"/>
                <a:ea typeface="Mayonnaise Black"/>
                <a:cs typeface="Mayonnaise Black"/>
              </a:rPr>
              <a:t>first draft</a:t>
            </a:r>
          </a:p>
          <a:p xmlns:a="http://schemas.openxmlformats.org/drawingml/2006/main">
            <a:pPr>
              <a:defRPr sz="3900" b="0">
                <a:solidFill>
                  <a:srgbClr val="18180F"/>
                </a:solidFill>
                <a:latin typeface="Mayonnaise Black"/>
                <a:ea typeface="Mayonnaise Black"/>
                <a:cs typeface="Mayonnaise Black"/>
              </a:defRPr>
            </a:pPr>
            <a:r>
              <a:rPr sz="3900" b="0">
                <a:solidFill>
                  <a:srgbClr val="18180F"/>
                </a:solidFill>
                <a:latin typeface="Mayonnaise Black"/>
                <a:ea typeface="Mayonnaise Black"/>
                <a:cs typeface="Mayonnaise Black"/>
              </a:rPr>
              <a:t>was already</a:t>
            </a:r>
          </a:p>
          <a:p xmlns:a="http://schemas.openxmlformats.org/drawingml/2006/main">
            <a:pPr>
              <a:defRPr sz="3900" b="0">
                <a:solidFill>
                  <a:srgbClr val="18180F"/>
                </a:solidFill>
                <a:latin typeface="Mayonnaise Black"/>
                <a:ea typeface="Mayonnaise Black"/>
                <a:cs typeface="Mayonnaise Black"/>
              </a:defRPr>
            </a:pPr>
            <a:r>
              <a:rPr sz="3900" b="0">
                <a:solidFill>
                  <a:srgbClr val="18180F"/>
                </a:solidFill>
                <a:latin typeface="Mayonnaise Black"/>
                <a:ea typeface="Mayonnaise Black"/>
                <a:cs typeface="Mayonnaise Black"/>
              </a:rPr>
              <a:t>there?</a:t>
            </a:r>
          </a:p>
        </p:txBody>
      </p:sp>
    </p:spTree>
    <p:extLst>
      <p:ext uri="{BB962C8B-B14F-4D97-AF65-F5344CB8AC3E}">
        <p14:creationId xmlns:p14="http://schemas.microsoft.com/office/powerpoint/2010/main" val="392049924"/>
      </p:ext>
    </p:extLst>
  </p:cSld>
</p:sld>
</file>

<file path=ppt/slides/slide3.xml><?xml version="1.0" encoding="utf-8"?>
<p:sld xmlns:p="http://schemas.openxmlformats.org/presentationml/2006/main">
  <p:cSld>
    <p:bg>
      <p:bgPr>
        <a:solidFill xmlns:a="http://schemas.openxmlformats.org/drawingml/2006/main">
          <a:srgbClr val="FEF9E4"/>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CD556D4-4CD9-4DF9-BFA7-D0ED4A9A43C2}"/>
              </a:ext>
            </a:extLst>
          </p:cNvPr>
          <p:cNvSpPr>
            <a:spLocks xmlns:a="http://schemas.openxmlformats.org/drawingml/2006/main" noGrp="1"/>
          </p:cNvSpPr>
          <p:nvPr/>
        </p:nvSpPr>
        <p:spPr>
          <a:xfrm xmlns:a="http://schemas.openxmlformats.org/drawingml/2006/main">
            <a:off x="457200" y="238125"/>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F4501E"/>
                </a:solidFill>
                <a:latin typeface="Apfel Grotezk"/>
                <a:ea typeface="Apfel Grotezk"/>
                <a:cs typeface="Apfel Grotezk"/>
              </a:defRPr>
            </a:pPr>
            <a:r>
              <a:rPr sz="1275" b="1">
                <a:solidFill>
                  <a:srgbClr val="F4501E"/>
                </a:solidFill>
                <a:latin typeface="Apfel Grotezk"/>
                <a:ea typeface="Apfel Grotezk"/>
                <a:cs typeface="Apfel Grotezk"/>
              </a:rPr>
              <a:t>THE RESULT</a:t>
            </a:r>
          </a:p>
        </p:txBody>
      </p:sp>
      <p:sp>
        <p:nvSpPr>
          <p:cNvPr id="2" name="">
            <a:extLst xmlns:a="http://schemas.openxmlformats.org/drawingml/2006/main">
              <a:ext uri="{FF2B5EF4-FFF2-40B4-BE49-F238E27FC236}">
                <a16:creationId xmlns:a16="http://schemas.microsoft.com/office/drawing/2014/main" id="{BC94E361-F36D-45BA-ACF7-3FC954EC845B}"/>
              </a:ext>
            </a:extLst>
          </p:cNvPr>
          <p:cNvSpPr>
            <a:spLocks xmlns:a="http://schemas.openxmlformats.org/drawingml/2006/main" noGrp="1"/>
          </p:cNvSpPr>
          <p:nvPr/>
        </p:nvSpPr>
        <p:spPr>
          <a:xfrm xmlns:a="http://schemas.openxmlformats.org/drawingml/2006/main">
            <a:off x="457200" y="638175"/>
            <a:ext cx="11239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125" b="0">
                <a:solidFill>
                  <a:srgbClr val="18180F"/>
                </a:solidFill>
                <a:latin typeface="Mayonnaise Black"/>
                <a:ea typeface="Mayonnaise Black"/>
                <a:cs typeface="Mayonnaise Black"/>
              </a:defRPr>
            </a:pPr>
            <a:r>
              <a:rPr sz="4125" b="0">
                <a:solidFill>
                  <a:srgbClr val="18180F"/>
                </a:solidFill>
                <a:latin typeface="Mayonnaise Black"/>
                <a:ea typeface="Mayonnaise Black"/>
                <a:cs typeface="Mayonnaise Black"/>
              </a:rPr>
              <a:t>A BASE MAP YOU CAN MAKE YOUR OWN</a:t>
            </a:r>
          </a:p>
        </p:txBody>
      </p:sp>
      <p:sp>
        <p:nvSpPr>
          <p:cNvPr id="3" name="">
            <a:extLst xmlns:a="http://schemas.openxmlformats.org/drawingml/2006/main">
              <a:ext uri="{FF2B5EF4-FFF2-40B4-BE49-F238E27FC236}">
                <a16:creationId xmlns:a16="http://schemas.microsoft.com/office/drawing/2014/main" id="{79AA99F8-8594-46BA-BB27-CF52514896C3}"/>
              </a:ext>
            </a:extLst>
          </p:cNvPr>
          <p:cNvSpPr>
            <a:spLocks xmlns:a="http://schemas.openxmlformats.org/drawingml/2006/main" noGrp="1"/>
          </p:cNvSpPr>
          <p:nvPr/>
        </p:nvSpPr>
        <p:spPr>
          <a:xfrm xmlns:a="http://schemas.openxmlformats.org/drawingml/2006/main">
            <a:off x="457200" y="6429375"/>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18180F"/>
                </a:solidFill>
                <a:latin typeface="Apfel Grotezk"/>
                <a:ea typeface="Apfel Grotezk"/>
                <a:cs typeface="Apfel Grotezk"/>
              </a:defRPr>
            </a:pPr>
            <a:r>
              <a:rPr sz="1125" b="0">
                <a:solidFill>
                  <a:srgbClr val="18180F"/>
                </a:solidFill>
                <a:latin typeface="Apfel Grotezk"/>
                <a:ea typeface="Apfel Grotezk"/>
                <a:cs typeface="Apfel Grotezk"/>
              </a:rPr>
              <a:t>MAPEXPORT  /  USE-IT     ·     Map data © OpenStreetMap contributors</a:t>
            </a:r>
          </a:p>
        </p:txBody>
      </p:sp>
      <p:sp>
        <p:nvSpPr>
          <p:cNvPr id="4" name="">
            <a:extLst xmlns:a="http://schemas.openxmlformats.org/drawingml/2006/main">
              <a:ext uri="{FF2B5EF4-FFF2-40B4-BE49-F238E27FC236}">
                <a16:creationId xmlns:a16="http://schemas.microsoft.com/office/drawing/2014/main" id="{B7F8EEF0-EB5C-4204-B924-02B1274A1F78}"/>
              </a:ext>
            </a:extLst>
          </p:cNvPr>
          <p:cNvSpPr>
            <a:spLocks xmlns:a="http://schemas.openxmlformats.org/drawingml/2006/main" noGrp="1"/>
          </p:cNvSpPr>
          <p:nvPr/>
        </p:nvSpPr>
        <p:spPr>
          <a:xfrm xmlns:a="http://schemas.openxmlformats.org/drawingml/2006/main">
            <a:off x="11144250" y="6429375"/>
            <a:ext cx="590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18180F"/>
                </a:solidFill>
                <a:latin typeface="Apfel Grotezk"/>
                <a:ea typeface="Apfel Grotezk"/>
                <a:cs typeface="Apfel Grotezk"/>
              </a:defRPr>
            </a:pPr>
            <a:r>
              <a:rPr sz="1125" b="0">
                <a:solidFill>
                  <a:srgbClr val="18180F"/>
                </a:solidFill>
                <a:latin typeface="Apfel Grotezk"/>
                <a:ea typeface="Apfel Grotezk"/>
                <a:cs typeface="Apfel Grotezk"/>
              </a:rPr>
              <a:t>03</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50904ce3f8014ca5"/>
          <a:srcRect xmlns:a="http://schemas.openxmlformats.org/drawingml/2006/main" l="0" t="14153" r="0" b="14153"/>
          <a:stretch xmlns:a="http://schemas.openxmlformats.org/drawingml/2006/main">
            <a:fillRect l="0" t="0" r="0" b="0"/>
          </a:stretch>
        </p:blipFill>
        <p:spPr>
          <a:xfrm xmlns:a="http://schemas.openxmlformats.org/drawingml/2006/main">
            <a:off x="457200" y="1847850"/>
            <a:ext cx="7315200" cy="42481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23A2B44E-DED6-4D20-B9E1-32495980B262}"/>
              </a:ext>
            </a:extLst>
          </p:cNvPr>
          <p:cNvSpPr>
            <a:spLocks xmlns:a="http://schemas.openxmlformats.org/drawingml/2006/main" noGrp="1"/>
          </p:cNvSpPr>
          <p:nvPr/>
        </p:nvSpPr>
        <p:spPr>
          <a:xfrm xmlns:a="http://schemas.openxmlformats.org/drawingml/2006/main">
            <a:off x="8143875" y="1971675"/>
            <a:ext cx="3571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F4501E"/>
                </a:solidFill>
                <a:latin typeface="Apfel Grotezk"/>
                <a:ea typeface="Apfel Grotezk"/>
                <a:cs typeface="Apfel Grotezk"/>
              </a:defRPr>
            </a:pPr>
            <a:r>
              <a:rPr sz="2700" b="1">
                <a:solidFill>
                  <a:srgbClr val="F4501E"/>
                </a:solidFill>
                <a:latin typeface="Apfel Grotezk"/>
                <a:ea typeface="Apfel Grotezk"/>
                <a:cs typeface="Apfel Grotezk"/>
              </a:rPr>
              <a:t>Editable SVG</a:t>
            </a:r>
          </a:p>
        </p:txBody>
      </p:sp>
      <p:sp>
        <p:nvSpPr>
          <p:cNvPr id="7" name="">
            <a:extLst xmlns:a="http://schemas.openxmlformats.org/drawingml/2006/main">
              <a:ext uri="{FF2B5EF4-FFF2-40B4-BE49-F238E27FC236}">
                <a16:creationId xmlns:a16="http://schemas.microsoft.com/office/drawing/2014/main" id="{161872ED-9259-44E3-887D-7D11FDC86796}"/>
              </a:ext>
            </a:extLst>
          </p:cNvPr>
          <p:cNvSpPr>
            <a:spLocks xmlns:a="http://schemas.openxmlformats.org/drawingml/2006/main" noGrp="1"/>
          </p:cNvSpPr>
          <p:nvPr/>
        </p:nvSpPr>
        <p:spPr>
          <a:xfrm xmlns:a="http://schemas.openxmlformats.org/drawingml/2006/main">
            <a:off x="8143875" y="2628900"/>
            <a:ext cx="3562350" cy="281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180F"/>
                </a:solidFill>
                <a:latin typeface="Apfel Grotezk"/>
                <a:ea typeface="Apfel Grotezk"/>
                <a:cs typeface="Apfel Grotezk"/>
              </a:defRPr>
            </a:pPr>
            <a:r>
              <a:rPr sz="2100" b="0">
                <a:solidFill>
                  <a:srgbClr val="18180F"/>
                </a:solidFill>
                <a:latin typeface="Apfel Grotezk"/>
                <a:ea typeface="Apfel Grotezk"/>
                <a:cs typeface="Apfel Grotezk"/>
              </a:rPr>
              <a:t>Separate layers and groups</a:t>
            </a:r>
          </a:p>
          <a:p xmlns:a="http://schemas.openxmlformats.org/drawingml/2006/main">
            <a:r>
              <a:t/>
            </a:r>
          </a:p>
          <a:p xmlns:a="http://schemas.openxmlformats.org/drawingml/2006/main">
            <a:pPr>
              <a:defRPr sz="2100" b="0">
                <a:solidFill>
                  <a:srgbClr val="18180F"/>
                </a:solidFill>
                <a:latin typeface="Apfel Grotezk"/>
                <a:ea typeface="Apfel Grotezk"/>
                <a:cs typeface="Apfel Grotezk"/>
              </a:defRPr>
            </a:pPr>
            <a:r>
              <a:rPr sz="2100" b="0">
                <a:solidFill>
                  <a:srgbClr val="18180F"/>
                </a:solidFill>
                <a:latin typeface="Apfel Grotezk"/>
                <a:ea typeface="Apfel Grotezk"/>
                <a:cs typeface="Apfel Grotezk"/>
              </a:rPr>
              <a:t>Vector shapes and street labels</a:t>
            </a:r>
          </a:p>
          <a:p xmlns:a="http://schemas.openxmlformats.org/drawingml/2006/main">
            <a:r>
              <a:t/>
            </a:r>
          </a:p>
          <a:p xmlns:a="http://schemas.openxmlformats.org/drawingml/2006/main">
            <a:pPr>
              <a:defRPr sz="2100" b="0">
                <a:solidFill>
                  <a:srgbClr val="18180F"/>
                </a:solidFill>
                <a:latin typeface="Apfel Grotezk"/>
                <a:ea typeface="Apfel Grotezk"/>
                <a:cs typeface="Apfel Grotezk"/>
              </a:defRPr>
            </a:pPr>
            <a:r>
              <a:rPr sz="2100" b="0">
                <a:solidFill>
                  <a:srgbClr val="18180F"/>
                </a:solidFill>
                <a:latin typeface="Apfel Grotezk"/>
                <a:ea typeface="Apfel Grotezk"/>
                <a:cs typeface="Apfel Grotezk"/>
              </a:rPr>
              <a:t>A starting point for your</a:t>
            </a:r>
          </a:p>
          <a:p xmlns:a="http://schemas.openxmlformats.org/drawingml/2006/main">
            <a:pPr>
              <a:defRPr sz="2100" b="0">
                <a:solidFill>
                  <a:srgbClr val="18180F"/>
                </a:solidFill>
                <a:latin typeface="Apfel Grotezk"/>
                <a:ea typeface="Apfel Grotezk"/>
                <a:cs typeface="Apfel Grotezk"/>
              </a:defRPr>
            </a:pPr>
            <a:r>
              <a:rPr sz="2100" b="0">
                <a:solidFill>
                  <a:srgbClr val="18180F"/>
                </a:solidFill>
                <a:latin typeface="Apfel Grotezk"/>
                <a:ea typeface="Apfel Grotezk"/>
                <a:cs typeface="Apfel Grotezk"/>
              </a:rPr>
              <a:t>USE-IT visual language</a:t>
            </a:r>
          </a:p>
        </p:txBody>
      </p:sp>
      <p:sp>
        <p:nvSpPr>
          <p:cNvPr id="8" name="">
            <a:extLst xmlns:a="http://schemas.openxmlformats.org/drawingml/2006/main">
              <a:ext uri="{FF2B5EF4-FFF2-40B4-BE49-F238E27FC236}">
                <a16:creationId xmlns:a16="http://schemas.microsoft.com/office/drawing/2014/main" id="{CCC7D23F-0EE6-4721-AFF9-BFDC6D8AAB0E}"/>
              </a:ext>
            </a:extLst>
          </p:cNvPr>
          <p:cNvSpPr>
            <a:spLocks xmlns:a="http://schemas.openxmlformats.org/drawingml/2006/main" noGrp="1"/>
          </p:cNvSpPr>
          <p:nvPr/>
        </p:nvSpPr>
        <p:spPr>
          <a:xfrm xmlns:a="http://schemas.openxmlformats.org/drawingml/2006/main">
            <a:off x="8143875" y="5705475"/>
            <a:ext cx="3571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18180F"/>
                </a:solidFill>
                <a:latin typeface="Apfel Grotezk"/>
                <a:ea typeface="Apfel Grotezk"/>
                <a:cs typeface="Apfel Grotezk"/>
              </a:defRPr>
            </a:pPr>
            <a:r>
              <a:rPr sz="1425" b="0">
                <a:solidFill>
                  <a:srgbClr val="18180F"/>
                </a:solidFill>
                <a:latin typeface="Apfel Grotezk"/>
                <a:ea typeface="Apfel Grotezk"/>
                <a:cs typeface="Apfel Grotezk"/>
              </a:rPr>
              <a:t>Gent / live export</a:t>
            </a:r>
          </a:p>
        </p:txBody>
      </p:sp>
    </p:spTree>
    <p:extLst>
      <p:ext uri="{BB962C8B-B14F-4D97-AF65-F5344CB8AC3E}">
        <p14:creationId xmlns:p14="http://schemas.microsoft.com/office/powerpoint/2010/main" val="1400400523"/>
      </p:ext>
    </p:extLst>
  </p:cSld>
</p:sld>
</file>

<file path=ppt/slides/slide4.xml><?xml version="1.0" encoding="utf-8"?>
<p:sld xmlns:p="http://schemas.openxmlformats.org/presentationml/2006/main">
  <p:cSld>
    <p:bg>
      <p:bgPr>
        <a:solidFill xmlns:a="http://schemas.openxmlformats.org/drawingml/2006/main">
          <a:srgbClr val="FEF9E4"/>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1B0016C1-3F3D-41B2-85E7-1F565548378A}"/>
              </a:ext>
            </a:extLst>
          </p:cNvPr>
          <p:cNvSpPr>
            <a:spLocks xmlns:a="http://schemas.openxmlformats.org/drawingml/2006/main" noGrp="1"/>
          </p:cNvSpPr>
          <p:nvPr/>
        </p:nvSpPr>
        <p:spPr>
          <a:xfrm xmlns:a="http://schemas.openxmlformats.org/drawingml/2006/main">
            <a:off x="457200" y="238125"/>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F4501E"/>
                </a:solidFill>
                <a:latin typeface="Apfel Grotezk"/>
                <a:ea typeface="Apfel Grotezk"/>
                <a:cs typeface="Apfel Grotezk"/>
              </a:defRPr>
            </a:pPr>
            <a:r>
              <a:rPr sz="1275" b="1">
                <a:solidFill>
                  <a:srgbClr val="F4501E"/>
                </a:solidFill>
                <a:latin typeface="Apfel Grotezk"/>
                <a:ea typeface="Apfel Grotezk"/>
                <a:cs typeface="Apfel Grotezk"/>
              </a:rPr>
              <a:t>HOW IT WORKS</a:t>
            </a:r>
          </a:p>
        </p:txBody>
      </p:sp>
      <p:sp>
        <p:nvSpPr>
          <p:cNvPr id="2" name="">
            <a:extLst xmlns:a="http://schemas.openxmlformats.org/drawingml/2006/main">
              <a:ext uri="{FF2B5EF4-FFF2-40B4-BE49-F238E27FC236}">
                <a16:creationId xmlns:a16="http://schemas.microsoft.com/office/drawing/2014/main" id="{A58D0780-5158-48F8-9FDC-B614869E6CF4}"/>
              </a:ext>
            </a:extLst>
          </p:cNvPr>
          <p:cNvSpPr>
            <a:spLocks xmlns:a="http://schemas.openxmlformats.org/drawingml/2006/main" noGrp="1"/>
          </p:cNvSpPr>
          <p:nvPr/>
        </p:nvSpPr>
        <p:spPr>
          <a:xfrm xmlns:a="http://schemas.openxmlformats.org/drawingml/2006/main">
            <a:off x="457200" y="638175"/>
            <a:ext cx="11239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125" b="0">
                <a:solidFill>
                  <a:srgbClr val="18180F"/>
                </a:solidFill>
                <a:latin typeface="Mayonnaise Black"/>
                <a:ea typeface="Mayonnaise Black"/>
                <a:cs typeface="Mayonnaise Black"/>
              </a:defRPr>
            </a:pPr>
            <a:r>
              <a:rPr sz="4125" b="0">
                <a:solidFill>
                  <a:srgbClr val="18180F"/>
                </a:solidFill>
                <a:latin typeface="Mayonnaise Black"/>
                <a:ea typeface="Mayonnaise Black"/>
                <a:cs typeface="Mayonnaise Black"/>
              </a:rPr>
              <a:t>FROM OPEN DATA TO YOUR DESIGN</a:t>
            </a:r>
          </a:p>
        </p:txBody>
      </p:sp>
      <p:sp>
        <p:nvSpPr>
          <p:cNvPr id="3" name="">
            <a:extLst xmlns:a="http://schemas.openxmlformats.org/drawingml/2006/main">
              <a:ext uri="{FF2B5EF4-FFF2-40B4-BE49-F238E27FC236}">
                <a16:creationId xmlns:a16="http://schemas.microsoft.com/office/drawing/2014/main" id="{2EFBFF58-8D2A-4ED7-85A2-562ED0EB68A0}"/>
              </a:ext>
            </a:extLst>
          </p:cNvPr>
          <p:cNvSpPr>
            <a:spLocks xmlns:a="http://schemas.openxmlformats.org/drawingml/2006/main" noGrp="1"/>
          </p:cNvSpPr>
          <p:nvPr/>
        </p:nvSpPr>
        <p:spPr>
          <a:xfrm xmlns:a="http://schemas.openxmlformats.org/drawingml/2006/main">
            <a:off x="457200" y="6429375"/>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18180F"/>
                </a:solidFill>
                <a:latin typeface="Apfel Grotezk"/>
                <a:ea typeface="Apfel Grotezk"/>
                <a:cs typeface="Apfel Grotezk"/>
              </a:defRPr>
            </a:pPr>
            <a:r>
              <a:rPr sz="1125" b="0">
                <a:solidFill>
                  <a:srgbClr val="18180F"/>
                </a:solidFill>
                <a:latin typeface="Apfel Grotezk"/>
                <a:ea typeface="Apfel Grotezk"/>
                <a:cs typeface="Apfel Grotezk"/>
              </a:rPr>
              <a:t>MAPEXPORT  /  USE-IT     ·     Map data © OpenStreetMap contributors</a:t>
            </a:r>
          </a:p>
        </p:txBody>
      </p:sp>
      <p:sp>
        <p:nvSpPr>
          <p:cNvPr id="4" name="">
            <a:extLst xmlns:a="http://schemas.openxmlformats.org/drawingml/2006/main">
              <a:ext uri="{FF2B5EF4-FFF2-40B4-BE49-F238E27FC236}">
                <a16:creationId xmlns:a16="http://schemas.microsoft.com/office/drawing/2014/main" id="{17579817-425F-446B-AC8B-F49794882491}"/>
              </a:ext>
            </a:extLst>
          </p:cNvPr>
          <p:cNvSpPr>
            <a:spLocks xmlns:a="http://schemas.openxmlformats.org/drawingml/2006/main" noGrp="1"/>
          </p:cNvSpPr>
          <p:nvPr/>
        </p:nvSpPr>
        <p:spPr>
          <a:xfrm xmlns:a="http://schemas.openxmlformats.org/drawingml/2006/main">
            <a:off x="11144250" y="6429375"/>
            <a:ext cx="590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18180F"/>
                </a:solidFill>
                <a:latin typeface="Apfel Grotezk"/>
                <a:ea typeface="Apfel Grotezk"/>
                <a:cs typeface="Apfel Grotezk"/>
              </a:defRPr>
            </a:pPr>
            <a:r>
              <a:rPr sz="1125" b="0">
                <a:solidFill>
                  <a:srgbClr val="18180F"/>
                </a:solidFill>
                <a:latin typeface="Apfel Grotezk"/>
                <a:ea typeface="Apfel Grotezk"/>
                <a:cs typeface="Apfel Grotezk"/>
              </a:rPr>
              <a:t>04</a:t>
            </a:r>
          </a:p>
        </p:txBody>
      </p:sp>
      <p:sp>
        <p:nvSpPr>
          <p:cNvPr id="5" name="">
            <a:extLst xmlns:a="http://schemas.openxmlformats.org/drawingml/2006/main">
              <a:ext uri="{FF2B5EF4-FFF2-40B4-BE49-F238E27FC236}">
                <a16:creationId xmlns:a16="http://schemas.microsoft.com/office/drawing/2014/main" id="{416D5DD0-23B3-40E9-8E9A-12853F0C4327}"/>
              </a:ext>
            </a:extLst>
          </p:cNvPr>
          <p:cNvSpPr>
            <a:spLocks xmlns:a="http://schemas.openxmlformats.org/drawingml/2006/main" noGrp="1"/>
          </p:cNvSpPr>
          <p:nvPr/>
        </p:nvSpPr>
        <p:spPr>
          <a:xfrm xmlns:a="http://schemas.openxmlformats.org/drawingml/2006/main">
            <a:off x="457200" y="1752600"/>
            <a:ext cx="685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F4501E"/>
                </a:solidFill>
                <a:latin typeface="Mayonnaise Black"/>
                <a:ea typeface="Mayonnaise Black"/>
                <a:cs typeface="Mayonnaise Black"/>
              </a:defRPr>
            </a:pPr>
            <a:r>
              <a:rPr sz="3000" b="0">
                <a:solidFill>
                  <a:srgbClr val="F4501E"/>
                </a:solidFill>
                <a:latin typeface="Mayonnaise Black"/>
                <a:ea typeface="Mayonnaise Black"/>
                <a:cs typeface="Mayonnaise Black"/>
              </a:rPr>
              <a:t>01</a:t>
            </a:r>
          </a:p>
        </p:txBody>
      </p:sp>
      <p:sp>
        <p:nvSpPr>
          <p:cNvPr id="6" name="">
            <a:extLst xmlns:a="http://schemas.openxmlformats.org/drawingml/2006/main">
              <a:ext uri="{FF2B5EF4-FFF2-40B4-BE49-F238E27FC236}">
                <a16:creationId xmlns:a16="http://schemas.microsoft.com/office/drawing/2014/main" id="{D91E94B7-BE09-4508-A857-A643670B6EF9}"/>
              </a:ext>
            </a:extLst>
          </p:cNvPr>
          <p:cNvSpPr>
            <a:spLocks xmlns:a="http://schemas.openxmlformats.org/drawingml/2006/main" noGrp="1"/>
          </p:cNvSpPr>
          <p:nvPr/>
        </p:nvSpPr>
        <p:spPr>
          <a:xfrm xmlns:a="http://schemas.openxmlformats.org/drawingml/2006/main">
            <a:off x="1257300" y="1752600"/>
            <a:ext cx="9486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8180F"/>
                </a:solidFill>
                <a:latin typeface="Apfel Grotezk"/>
                <a:ea typeface="Apfel Grotezk"/>
                <a:cs typeface="Apfel Grotezk"/>
              </a:defRPr>
            </a:pPr>
            <a:r>
              <a:rPr sz="2250" b="1">
                <a:solidFill>
                  <a:srgbClr val="18180F"/>
                </a:solidFill>
                <a:latin typeface="Apfel Grotezk"/>
                <a:ea typeface="Apfel Grotezk"/>
                <a:cs typeface="Apfel Grotezk"/>
              </a:rPr>
              <a:t>Choose an area</a:t>
            </a:r>
          </a:p>
        </p:txBody>
      </p:sp>
      <p:sp>
        <p:nvSpPr>
          <p:cNvPr id="7" name="">
            <a:extLst xmlns:a="http://schemas.openxmlformats.org/drawingml/2006/main">
              <a:ext uri="{FF2B5EF4-FFF2-40B4-BE49-F238E27FC236}">
                <a16:creationId xmlns:a16="http://schemas.microsoft.com/office/drawing/2014/main" id="{CA996B43-699F-4054-88DB-E1AA6A53084C}"/>
              </a:ext>
            </a:extLst>
          </p:cNvPr>
          <p:cNvSpPr>
            <a:spLocks xmlns:a="http://schemas.openxmlformats.org/drawingml/2006/main" noGrp="1"/>
          </p:cNvSpPr>
          <p:nvPr/>
        </p:nvSpPr>
        <p:spPr>
          <a:xfrm xmlns:a="http://schemas.openxmlformats.org/drawingml/2006/main">
            <a:off x="1257300" y="2190750"/>
            <a:ext cx="94869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180F"/>
                </a:solidFill>
                <a:latin typeface="Apfel Grotezk"/>
                <a:ea typeface="Apfel Grotezk"/>
                <a:cs typeface="Apfel Grotezk"/>
              </a:defRPr>
            </a:pPr>
            <a:r>
              <a:rPr sz="1950" b="0">
                <a:solidFill>
                  <a:srgbClr val="18180F"/>
                </a:solidFill>
                <a:latin typeface="Apfel Grotezk"/>
                <a:ea typeface="Apfel Grotezk"/>
                <a:cs typeface="Apfel Grotezk"/>
              </a:rPr>
              <a:t>Find your city and draw a rectangle.</a:t>
            </a:r>
          </a:p>
        </p:txBody>
      </p:sp>
      <p:sp>
        <p:nvSpPr>
          <p:cNvPr id="8" name="">
            <a:extLst xmlns:a="http://schemas.openxmlformats.org/drawingml/2006/main">
              <a:ext uri="{FF2B5EF4-FFF2-40B4-BE49-F238E27FC236}">
                <a16:creationId xmlns:a16="http://schemas.microsoft.com/office/drawing/2014/main" id="{B6592AB6-C865-4172-BE26-D3DAC72F479B}"/>
              </a:ext>
            </a:extLst>
          </p:cNvPr>
          <p:cNvSpPr>
            <a:spLocks xmlns:a="http://schemas.openxmlformats.org/drawingml/2006/main" noGrp="1"/>
          </p:cNvSpPr>
          <p:nvPr/>
        </p:nvSpPr>
        <p:spPr>
          <a:xfrm xmlns:a="http://schemas.openxmlformats.org/drawingml/2006/main">
            <a:off x="457200" y="2819400"/>
            <a:ext cx="685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F4501E"/>
                </a:solidFill>
                <a:latin typeface="Mayonnaise Black"/>
                <a:ea typeface="Mayonnaise Black"/>
                <a:cs typeface="Mayonnaise Black"/>
              </a:defRPr>
            </a:pPr>
            <a:r>
              <a:rPr sz="3000" b="0">
                <a:solidFill>
                  <a:srgbClr val="F4501E"/>
                </a:solidFill>
                <a:latin typeface="Mayonnaise Black"/>
                <a:ea typeface="Mayonnaise Black"/>
                <a:cs typeface="Mayonnaise Black"/>
              </a:rPr>
              <a:t>02</a:t>
            </a:r>
          </a:p>
        </p:txBody>
      </p:sp>
      <p:sp>
        <p:nvSpPr>
          <p:cNvPr id="9" name="">
            <a:extLst xmlns:a="http://schemas.openxmlformats.org/drawingml/2006/main">
              <a:ext uri="{FF2B5EF4-FFF2-40B4-BE49-F238E27FC236}">
                <a16:creationId xmlns:a16="http://schemas.microsoft.com/office/drawing/2014/main" id="{5B7B811A-4617-4077-B697-7DA48D345B91}"/>
              </a:ext>
            </a:extLst>
          </p:cNvPr>
          <p:cNvSpPr>
            <a:spLocks xmlns:a="http://schemas.openxmlformats.org/drawingml/2006/main" noGrp="1"/>
          </p:cNvSpPr>
          <p:nvPr/>
        </p:nvSpPr>
        <p:spPr>
          <a:xfrm xmlns:a="http://schemas.openxmlformats.org/drawingml/2006/main">
            <a:off x="1257300" y="2819400"/>
            <a:ext cx="9486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8180F"/>
                </a:solidFill>
                <a:latin typeface="Apfel Grotezk"/>
                <a:ea typeface="Apfel Grotezk"/>
                <a:cs typeface="Apfel Grotezk"/>
              </a:defRPr>
            </a:pPr>
            <a:r>
              <a:rPr sz="2250" b="1">
                <a:solidFill>
                  <a:srgbClr val="18180F"/>
                </a:solidFill>
                <a:latin typeface="Apfel Grotezk"/>
                <a:ea typeface="Apfel Grotezk"/>
                <a:cs typeface="Apfel Grotezk"/>
              </a:rPr>
              <a:t>Get the map features</a:t>
            </a:r>
          </a:p>
        </p:txBody>
      </p:sp>
      <p:sp>
        <p:nvSpPr>
          <p:cNvPr id="10" name="">
            <a:extLst xmlns:a="http://schemas.openxmlformats.org/drawingml/2006/main">
              <a:ext uri="{FF2B5EF4-FFF2-40B4-BE49-F238E27FC236}">
                <a16:creationId xmlns:a16="http://schemas.microsoft.com/office/drawing/2014/main" id="{15583C15-6906-45A1-8EEE-04D40D416186}"/>
              </a:ext>
            </a:extLst>
          </p:cNvPr>
          <p:cNvSpPr>
            <a:spLocks xmlns:a="http://schemas.openxmlformats.org/drawingml/2006/main" noGrp="1"/>
          </p:cNvSpPr>
          <p:nvPr/>
        </p:nvSpPr>
        <p:spPr>
          <a:xfrm xmlns:a="http://schemas.openxmlformats.org/drawingml/2006/main">
            <a:off x="1257300" y="3257550"/>
            <a:ext cx="94869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180F"/>
                </a:solidFill>
                <a:latin typeface="Apfel Grotezk"/>
                <a:ea typeface="Apfel Grotezk"/>
                <a:cs typeface="Apfel Grotezk"/>
              </a:defRPr>
            </a:pPr>
            <a:r>
              <a:rPr sz="1950" b="0">
                <a:solidFill>
                  <a:srgbClr val="18180F"/>
                </a:solidFill>
                <a:latin typeface="Apfel Grotezk"/>
                <a:ea typeface="Apfel Grotezk"/>
                <a:cs typeface="Apfel Grotezk"/>
              </a:rPr>
              <a:t>MapExport retrieves OpenStreetMap data.</a:t>
            </a:r>
          </a:p>
        </p:txBody>
      </p:sp>
      <p:sp>
        <p:nvSpPr>
          <p:cNvPr id="11" name="">
            <a:extLst xmlns:a="http://schemas.openxmlformats.org/drawingml/2006/main">
              <a:ext uri="{FF2B5EF4-FFF2-40B4-BE49-F238E27FC236}">
                <a16:creationId xmlns:a16="http://schemas.microsoft.com/office/drawing/2014/main" id="{CA7CDA99-DB32-4C53-941F-74993C66C5C2}"/>
              </a:ext>
            </a:extLst>
          </p:cNvPr>
          <p:cNvSpPr>
            <a:spLocks xmlns:a="http://schemas.openxmlformats.org/drawingml/2006/main" noGrp="1"/>
          </p:cNvSpPr>
          <p:nvPr/>
        </p:nvSpPr>
        <p:spPr>
          <a:xfrm xmlns:a="http://schemas.openxmlformats.org/drawingml/2006/main">
            <a:off x="457200" y="3886200"/>
            <a:ext cx="685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F4501E"/>
                </a:solidFill>
                <a:latin typeface="Mayonnaise Black"/>
                <a:ea typeface="Mayonnaise Black"/>
                <a:cs typeface="Mayonnaise Black"/>
              </a:defRPr>
            </a:pPr>
            <a:r>
              <a:rPr sz="3000" b="0">
                <a:solidFill>
                  <a:srgbClr val="F4501E"/>
                </a:solidFill>
                <a:latin typeface="Mayonnaise Black"/>
                <a:ea typeface="Mayonnaise Black"/>
                <a:cs typeface="Mayonnaise Black"/>
              </a:rPr>
              <a:t>03</a:t>
            </a:r>
          </a:p>
        </p:txBody>
      </p:sp>
      <p:sp>
        <p:nvSpPr>
          <p:cNvPr id="12" name="">
            <a:extLst xmlns:a="http://schemas.openxmlformats.org/drawingml/2006/main">
              <a:ext uri="{FF2B5EF4-FFF2-40B4-BE49-F238E27FC236}">
                <a16:creationId xmlns:a16="http://schemas.microsoft.com/office/drawing/2014/main" id="{ADAD72A6-ED5C-4383-A57C-C58D8588F432}"/>
              </a:ext>
            </a:extLst>
          </p:cNvPr>
          <p:cNvSpPr>
            <a:spLocks xmlns:a="http://schemas.openxmlformats.org/drawingml/2006/main" noGrp="1"/>
          </p:cNvSpPr>
          <p:nvPr/>
        </p:nvSpPr>
        <p:spPr>
          <a:xfrm xmlns:a="http://schemas.openxmlformats.org/drawingml/2006/main">
            <a:off x="1257300" y="3886200"/>
            <a:ext cx="9486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8180F"/>
                </a:solidFill>
                <a:latin typeface="Apfel Grotezk"/>
                <a:ea typeface="Apfel Grotezk"/>
                <a:cs typeface="Apfel Grotezk"/>
              </a:defRPr>
            </a:pPr>
            <a:r>
              <a:rPr sz="2250" b="1">
                <a:solidFill>
                  <a:srgbClr val="18180F"/>
                </a:solidFill>
                <a:latin typeface="Apfel Grotezk"/>
                <a:ea typeface="Apfel Grotezk"/>
                <a:cs typeface="Apfel Grotezk"/>
              </a:rPr>
              <a:t>Build the base map</a:t>
            </a:r>
          </a:p>
        </p:txBody>
      </p:sp>
      <p:sp>
        <p:nvSpPr>
          <p:cNvPr id="13" name="">
            <a:extLst xmlns:a="http://schemas.openxmlformats.org/drawingml/2006/main">
              <a:ext uri="{FF2B5EF4-FFF2-40B4-BE49-F238E27FC236}">
                <a16:creationId xmlns:a16="http://schemas.microsoft.com/office/drawing/2014/main" id="{737B3529-4A12-45BD-8A13-ADCFE62F38E1}"/>
              </a:ext>
            </a:extLst>
          </p:cNvPr>
          <p:cNvSpPr>
            <a:spLocks xmlns:a="http://schemas.openxmlformats.org/drawingml/2006/main" noGrp="1"/>
          </p:cNvSpPr>
          <p:nvPr/>
        </p:nvSpPr>
        <p:spPr>
          <a:xfrm xmlns:a="http://schemas.openxmlformats.org/drawingml/2006/main">
            <a:off x="1257300" y="4324350"/>
            <a:ext cx="94869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180F"/>
                </a:solidFill>
                <a:latin typeface="Apfel Grotezk"/>
                <a:ea typeface="Apfel Grotezk"/>
                <a:cs typeface="Apfel Grotezk"/>
              </a:defRPr>
            </a:pPr>
            <a:r>
              <a:rPr sz="1950" b="0">
                <a:solidFill>
                  <a:srgbClr val="18180F"/>
                </a:solidFill>
                <a:latin typeface="Apfel Grotezk"/>
                <a:ea typeface="Apfel Grotezk"/>
                <a:cs typeface="Apfel Grotezk"/>
              </a:rPr>
              <a:t>It draws roads, derives blocks and places labels.</a:t>
            </a:r>
          </a:p>
        </p:txBody>
      </p:sp>
      <p:sp>
        <p:nvSpPr>
          <p:cNvPr id="14" name="">
            <a:extLst xmlns:a="http://schemas.openxmlformats.org/drawingml/2006/main">
              <a:ext uri="{FF2B5EF4-FFF2-40B4-BE49-F238E27FC236}">
                <a16:creationId xmlns:a16="http://schemas.microsoft.com/office/drawing/2014/main" id="{D00659AF-9D9B-4D23-BB94-F9D0DC3F5DAD}"/>
              </a:ext>
            </a:extLst>
          </p:cNvPr>
          <p:cNvSpPr>
            <a:spLocks xmlns:a="http://schemas.openxmlformats.org/drawingml/2006/main" noGrp="1"/>
          </p:cNvSpPr>
          <p:nvPr/>
        </p:nvSpPr>
        <p:spPr>
          <a:xfrm xmlns:a="http://schemas.openxmlformats.org/drawingml/2006/main">
            <a:off x="457200" y="4953000"/>
            <a:ext cx="685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F4501E"/>
                </a:solidFill>
                <a:latin typeface="Mayonnaise Black"/>
                <a:ea typeface="Mayonnaise Black"/>
                <a:cs typeface="Mayonnaise Black"/>
              </a:defRPr>
            </a:pPr>
            <a:r>
              <a:rPr sz="3000" b="0">
                <a:solidFill>
                  <a:srgbClr val="F4501E"/>
                </a:solidFill>
                <a:latin typeface="Mayonnaise Black"/>
                <a:ea typeface="Mayonnaise Black"/>
                <a:cs typeface="Mayonnaise Black"/>
              </a:rPr>
              <a:t>04</a:t>
            </a:r>
          </a:p>
        </p:txBody>
      </p:sp>
      <p:sp>
        <p:nvSpPr>
          <p:cNvPr id="15" name="">
            <a:extLst xmlns:a="http://schemas.openxmlformats.org/drawingml/2006/main">
              <a:ext uri="{FF2B5EF4-FFF2-40B4-BE49-F238E27FC236}">
                <a16:creationId xmlns:a16="http://schemas.microsoft.com/office/drawing/2014/main" id="{6129152D-214F-40F7-913F-09E1A29EA5CE}"/>
              </a:ext>
            </a:extLst>
          </p:cNvPr>
          <p:cNvSpPr>
            <a:spLocks xmlns:a="http://schemas.openxmlformats.org/drawingml/2006/main" noGrp="1"/>
          </p:cNvSpPr>
          <p:nvPr/>
        </p:nvSpPr>
        <p:spPr>
          <a:xfrm xmlns:a="http://schemas.openxmlformats.org/drawingml/2006/main">
            <a:off x="1257300" y="4953000"/>
            <a:ext cx="9486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8180F"/>
                </a:solidFill>
                <a:latin typeface="Apfel Grotezk"/>
                <a:ea typeface="Apfel Grotezk"/>
                <a:cs typeface="Apfel Grotezk"/>
              </a:defRPr>
            </a:pPr>
            <a:r>
              <a:rPr sz="2250" b="1">
                <a:solidFill>
                  <a:srgbClr val="18180F"/>
                </a:solidFill>
                <a:latin typeface="Apfel Grotezk"/>
                <a:ea typeface="Apfel Grotezk"/>
                <a:cs typeface="Apfel Grotezk"/>
              </a:rPr>
              <a:t>Continue in your editor</a:t>
            </a:r>
          </a:p>
        </p:txBody>
      </p:sp>
      <p:sp>
        <p:nvSpPr>
          <p:cNvPr id="16" name="">
            <a:extLst xmlns:a="http://schemas.openxmlformats.org/drawingml/2006/main">
              <a:ext uri="{FF2B5EF4-FFF2-40B4-BE49-F238E27FC236}">
                <a16:creationId xmlns:a16="http://schemas.microsoft.com/office/drawing/2014/main" id="{F0767B24-9E17-4B95-95FA-34BBC908953A}"/>
              </a:ext>
            </a:extLst>
          </p:cNvPr>
          <p:cNvSpPr>
            <a:spLocks xmlns:a="http://schemas.openxmlformats.org/drawingml/2006/main" noGrp="1"/>
          </p:cNvSpPr>
          <p:nvPr/>
        </p:nvSpPr>
        <p:spPr>
          <a:xfrm xmlns:a="http://schemas.openxmlformats.org/drawingml/2006/main">
            <a:off x="1257300" y="5391150"/>
            <a:ext cx="94869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180F"/>
                </a:solidFill>
                <a:latin typeface="Apfel Grotezk"/>
                <a:ea typeface="Apfel Grotezk"/>
                <a:cs typeface="Apfel Grotezk"/>
              </a:defRPr>
            </a:pPr>
            <a:r>
              <a:rPr sz="1950" b="0">
                <a:solidFill>
                  <a:srgbClr val="18180F"/>
                </a:solidFill>
                <a:latin typeface="Apfel Grotezk"/>
                <a:ea typeface="Apfel Grotezk"/>
                <a:cs typeface="Apfel Grotezk"/>
              </a:rPr>
              <a:t>Download an SVG and open it in Illustrator or Inkscape.</a:t>
            </a:r>
          </a:p>
        </p:txBody>
      </p:sp>
    </p:spTree>
    <p:extLst>
      <p:ext uri="{BB962C8B-B14F-4D97-AF65-F5344CB8AC3E}">
        <p14:creationId xmlns:p14="http://schemas.microsoft.com/office/powerpoint/2010/main" val="1930800493"/>
      </p:ext>
    </p:extLst>
  </p:cSld>
</p:sld>
</file>

<file path=ppt/slides/slide5.xml><?xml version="1.0" encoding="utf-8"?>
<p:sld xmlns:p="http://schemas.openxmlformats.org/presentationml/2006/main">
  <p:cSld>
    <p:bg>
      <p:bgPr>
        <a:solidFill xmlns:a="http://schemas.openxmlformats.org/drawingml/2006/main">
          <a:srgbClr val="FEF9E4"/>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73817F9-BCFE-4CF3-A149-4DA1F2A21B90}"/>
              </a:ext>
            </a:extLst>
          </p:cNvPr>
          <p:cNvSpPr>
            <a:spLocks xmlns:a="http://schemas.openxmlformats.org/drawingml/2006/main" noGrp="1"/>
          </p:cNvSpPr>
          <p:nvPr/>
        </p:nvSpPr>
        <p:spPr>
          <a:xfrm xmlns:a="http://schemas.openxmlformats.org/drawingml/2006/main">
            <a:off x="457200" y="238125"/>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F4501E"/>
                </a:solidFill>
                <a:latin typeface="Apfel Grotezk"/>
                <a:ea typeface="Apfel Grotezk"/>
                <a:cs typeface="Apfel Grotezk"/>
              </a:defRPr>
            </a:pPr>
            <a:r>
              <a:rPr sz="1275" b="1">
                <a:solidFill>
                  <a:srgbClr val="F4501E"/>
                </a:solidFill>
                <a:latin typeface="Apfel Grotezk"/>
                <a:ea typeface="Apfel Grotezk"/>
                <a:cs typeface="Apfel Grotezk"/>
              </a:rPr>
              <a:t>IN THE BROWSER</a:t>
            </a:r>
          </a:p>
        </p:txBody>
      </p:sp>
      <p:sp>
        <p:nvSpPr>
          <p:cNvPr id="2" name="">
            <a:extLst xmlns:a="http://schemas.openxmlformats.org/drawingml/2006/main">
              <a:ext uri="{FF2B5EF4-FFF2-40B4-BE49-F238E27FC236}">
                <a16:creationId xmlns:a16="http://schemas.microsoft.com/office/drawing/2014/main" id="{69E33821-DE01-4464-996D-642A047CDB96}"/>
              </a:ext>
            </a:extLst>
          </p:cNvPr>
          <p:cNvSpPr>
            <a:spLocks xmlns:a="http://schemas.openxmlformats.org/drawingml/2006/main" noGrp="1"/>
          </p:cNvSpPr>
          <p:nvPr/>
        </p:nvSpPr>
        <p:spPr>
          <a:xfrm xmlns:a="http://schemas.openxmlformats.org/drawingml/2006/main">
            <a:off x="457200" y="638175"/>
            <a:ext cx="11239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125" b="0">
                <a:solidFill>
                  <a:srgbClr val="18180F"/>
                </a:solidFill>
                <a:latin typeface="Mayonnaise Black"/>
                <a:ea typeface="Mayonnaise Black"/>
                <a:cs typeface="Mayonnaise Black"/>
              </a:defRPr>
            </a:pPr>
            <a:r>
              <a:rPr sz="4125" b="0">
                <a:solidFill>
                  <a:srgbClr val="18180F"/>
                </a:solidFill>
                <a:latin typeface="Mayonnaise Black"/>
                <a:ea typeface="Mayonnaise Black"/>
                <a:cs typeface="Mayonnaise Black"/>
              </a:rPr>
              <a:t>MEET YOUR WORKSPACE</a:t>
            </a:r>
          </a:p>
        </p:txBody>
      </p:sp>
      <p:sp>
        <p:nvSpPr>
          <p:cNvPr id="3" name="">
            <a:extLst xmlns:a="http://schemas.openxmlformats.org/drawingml/2006/main">
              <a:ext uri="{FF2B5EF4-FFF2-40B4-BE49-F238E27FC236}">
                <a16:creationId xmlns:a16="http://schemas.microsoft.com/office/drawing/2014/main" id="{D1B3A575-088A-4DB8-992C-6C750E5FD463}"/>
              </a:ext>
            </a:extLst>
          </p:cNvPr>
          <p:cNvSpPr>
            <a:spLocks xmlns:a="http://schemas.openxmlformats.org/drawingml/2006/main" noGrp="1"/>
          </p:cNvSpPr>
          <p:nvPr/>
        </p:nvSpPr>
        <p:spPr>
          <a:xfrm xmlns:a="http://schemas.openxmlformats.org/drawingml/2006/main">
            <a:off x="457200" y="6429375"/>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18180F"/>
                </a:solidFill>
                <a:latin typeface="Apfel Grotezk"/>
                <a:ea typeface="Apfel Grotezk"/>
                <a:cs typeface="Apfel Grotezk"/>
              </a:defRPr>
            </a:pPr>
            <a:r>
              <a:rPr sz="1125" b="0">
                <a:solidFill>
                  <a:srgbClr val="18180F"/>
                </a:solidFill>
                <a:latin typeface="Apfel Grotezk"/>
                <a:ea typeface="Apfel Grotezk"/>
                <a:cs typeface="Apfel Grotezk"/>
              </a:rPr>
              <a:t>MAPEXPORT  /  USE-IT     ·     Map data © OpenStreetMap contributors</a:t>
            </a:r>
          </a:p>
        </p:txBody>
      </p:sp>
      <p:sp>
        <p:nvSpPr>
          <p:cNvPr id="4" name="">
            <a:extLst xmlns:a="http://schemas.openxmlformats.org/drawingml/2006/main">
              <a:ext uri="{FF2B5EF4-FFF2-40B4-BE49-F238E27FC236}">
                <a16:creationId xmlns:a16="http://schemas.microsoft.com/office/drawing/2014/main" id="{43405EBA-A73D-4B3E-BB0E-D169FBA07ECC}"/>
              </a:ext>
            </a:extLst>
          </p:cNvPr>
          <p:cNvSpPr>
            <a:spLocks xmlns:a="http://schemas.openxmlformats.org/drawingml/2006/main" noGrp="1"/>
          </p:cNvSpPr>
          <p:nvPr/>
        </p:nvSpPr>
        <p:spPr>
          <a:xfrm xmlns:a="http://schemas.openxmlformats.org/drawingml/2006/main">
            <a:off x="11144250" y="6429375"/>
            <a:ext cx="590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18180F"/>
                </a:solidFill>
                <a:latin typeface="Apfel Grotezk"/>
                <a:ea typeface="Apfel Grotezk"/>
                <a:cs typeface="Apfel Grotezk"/>
              </a:defRPr>
            </a:pPr>
            <a:r>
              <a:rPr sz="1125" b="0">
                <a:solidFill>
                  <a:srgbClr val="18180F"/>
                </a:solidFill>
                <a:latin typeface="Apfel Grotezk"/>
                <a:ea typeface="Apfel Grotezk"/>
                <a:cs typeface="Apfel Grotezk"/>
              </a:rPr>
              <a:t>05</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9d016b35e3e44204"/>
          <a:stretch xmlns:a="http://schemas.openxmlformats.org/drawingml/2006/main"/>
        </p:blipFill>
        <p:spPr>
          <a:xfrm xmlns:a="http://schemas.openxmlformats.org/drawingml/2006/main">
            <a:off x="957792" y="1685925"/>
            <a:ext cx="8009467" cy="450532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9B2FCC1E-9D28-4A2D-AD9E-4D5E70486890}"/>
              </a:ext>
            </a:extLst>
          </p:cNvPr>
          <p:cNvSpPr>
            <a:spLocks xmlns:a="http://schemas.openxmlformats.org/drawingml/2006/main" noGrp="1"/>
          </p:cNvSpPr>
          <p:nvPr/>
        </p:nvSpPr>
        <p:spPr>
          <a:xfrm xmlns:a="http://schemas.openxmlformats.org/drawingml/2006/main">
            <a:off x="9715500" y="1990725"/>
            <a:ext cx="21717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4501E"/>
                </a:solidFill>
                <a:latin typeface="Apfel Grotezk"/>
                <a:ea typeface="Apfel Grotezk"/>
                <a:cs typeface="Apfel Grotezk"/>
              </a:defRPr>
            </a:pPr>
            <a:r>
              <a:rPr sz="1875" b="1">
                <a:solidFill>
                  <a:srgbClr val="F4501E"/>
                </a:solidFill>
                <a:latin typeface="Apfel Grotezk"/>
                <a:ea typeface="Apfel Grotezk"/>
                <a:cs typeface="Apfel Grotezk"/>
              </a:rPr>
              <a:t>1  Find a city</a:t>
            </a:r>
          </a:p>
        </p:txBody>
      </p:sp>
      <p:sp>
        <p:nvSpPr>
          <p:cNvPr id="7" name="">
            <a:extLst xmlns:a="http://schemas.openxmlformats.org/drawingml/2006/main">
              <a:ext uri="{FF2B5EF4-FFF2-40B4-BE49-F238E27FC236}">
                <a16:creationId xmlns:a16="http://schemas.microsoft.com/office/drawing/2014/main" id="{A378F516-7828-495F-8169-25975B1D506A}"/>
              </a:ext>
            </a:extLst>
          </p:cNvPr>
          <p:cNvSpPr>
            <a:spLocks xmlns:a="http://schemas.openxmlformats.org/drawingml/2006/main" noGrp="1"/>
          </p:cNvSpPr>
          <p:nvPr/>
        </p:nvSpPr>
        <p:spPr>
          <a:xfrm xmlns:a="http://schemas.openxmlformats.org/drawingml/2006/main">
            <a:off x="9715500" y="3162300"/>
            <a:ext cx="2190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4501E"/>
                </a:solidFill>
                <a:latin typeface="Apfel Grotezk"/>
                <a:ea typeface="Apfel Grotezk"/>
                <a:cs typeface="Apfel Grotezk"/>
              </a:defRPr>
            </a:pPr>
            <a:r>
              <a:rPr sz="1875" b="1">
                <a:solidFill>
                  <a:srgbClr val="F4501E"/>
                </a:solidFill>
                <a:latin typeface="Apfel Grotezk"/>
                <a:ea typeface="Apfel Grotezk"/>
                <a:cs typeface="Apfel Grotezk"/>
              </a:rPr>
              <a:t>2  Draw an area</a:t>
            </a:r>
          </a:p>
        </p:txBody>
      </p:sp>
      <p:sp>
        <p:nvSpPr>
          <p:cNvPr id="8" name="">
            <a:extLst xmlns:a="http://schemas.openxmlformats.org/drawingml/2006/main">
              <a:ext uri="{FF2B5EF4-FFF2-40B4-BE49-F238E27FC236}">
                <a16:creationId xmlns:a16="http://schemas.microsoft.com/office/drawing/2014/main" id="{59B83E10-C35D-448F-B643-E3CF82019BE3}"/>
              </a:ext>
            </a:extLst>
          </p:cNvPr>
          <p:cNvSpPr>
            <a:spLocks xmlns:a="http://schemas.openxmlformats.org/drawingml/2006/main" noGrp="1"/>
          </p:cNvSpPr>
          <p:nvPr/>
        </p:nvSpPr>
        <p:spPr>
          <a:xfrm xmlns:a="http://schemas.openxmlformats.org/drawingml/2006/main">
            <a:off x="9715500" y="4343400"/>
            <a:ext cx="2190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4501E"/>
                </a:solidFill>
                <a:latin typeface="Apfel Grotezk"/>
                <a:ea typeface="Apfel Grotezk"/>
                <a:cs typeface="Apfel Grotezk"/>
              </a:defRPr>
            </a:pPr>
            <a:r>
              <a:rPr sz="1875" b="1">
                <a:solidFill>
                  <a:srgbClr val="F4501E"/>
                </a:solidFill>
                <a:latin typeface="Apfel Grotezk"/>
                <a:ea typeface="Apfel Grotezk"/>
                <a:cs typeface="Apfel Grotezk"/>
              </a:rPr>
              <a:t>3  Choose layers</a:t>
            </a:r>
          </a:p>
        </p:txBody>
      </p:sp>
    </p:spTree>
    <p:extLst>
      <p:ext uri="{BB962C8B-B14F-4D97-AF65-F5344CB8AC3E}">
        <p14:creationId xmlns:p14="http://schemas.microsoft.com/office/powerpoint/2010/main" val="197797719"/>
      </p:ext>
    </p:extLst>
  </p:cSld>
</p:sld>
</file>

<file path=ppt/slides/slide6.xml><?xml version="1.0" encoding="utf-8"?>
<p:sld xmlns:p="http://schemas.openxmlformats.org/presentationml/2006/main">
  <p:cSld>
    <p:bg>
      <p:bgPr>
        <a:solidFill xmlns:a="http://schemas.openxmlformats.org/drawingml/2006/main">
          <a:srgbClr val="FEF9E4"/>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1F4561C-4B70-4FB2-9962-8FE85F560200}"/>
              </a:ext>
            </a:extLst>
          </p:cNvPr>
          <p:cNvSpPr>
            <a:spLocks xmlns:a="http://schemas.openxmlformats.org/drawingml/2006/main" noGrp="1"/>
          </p:cNvSpPr>
          <p:nvPr/>
        </p:nvSpPr>
        <p:spPr>
          <a:xfrm xmlns:a="http://schemas.openxmlformats.org/drawingml/2006/main">
            <a:off x="457200" y="238125"/>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F4501E"/>
                </a:solidFill>
                <a:latin typeface="Apfel Grotezk"/>
                <a:ea typeface="Apfel Grotezk"/>
                <a:cs typeface="Apfel Grotezk"/>
              </a:defRPr>
            </a:pPr>
            <a:r>
              <a:rPr sz="1275" b="1">
                <a:solidFill>
                  <a:srgbClr val="F4501E"/>
                </a:solidFill>
                <a:latin typeface="Apfel Grotezk"/>
                <a:ea typeface="Apfel Grotezk"/>
                <a:cs typeface="Apfel Grotezk"/>
              </a:rPr>
              <a:t>CHOOSE YOUR AREA</a:t>
            </a:r>
          </a:p>
        </p:txBody>
      </p:sp>
      <p:sp>
        <p:nvSpPr>
          <p:cNvPr id="2" name="">
            <a:extLst xmlns:a="http://schemas.openxmlformats.org/drawingml/2006/main">
              <a:ext uri="{FF2B5EF4-FFF2-40B4-BE49-F238E27FC236}">
                <a16:creationId xmlns:a16="http://schemas.microsoft.com/office/drawing/2014/main" id="{EDE012E3-BCF9-4038-B17C-560E16414CD9}"/>
              </a:ext>
            </a:extLst>
          </p:cNvPr>
          <p:cNvSpPr>
            <a:spLocks xmlns:a="http://schemas.openxmlformats.org/drawingml/2006/main" noGrp="1"/>
          </p:cNvSpPr>
          <p:nvPr/>
        </p:nvSpPr>
        <p:spPr>
          <a:xfrm xmlns:a="http://schemas.openxmlformats.org/drawingml/2006/main">
            <a:off x="457200" y="638175"/>
            <a:ext cx="11239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125" b="0">
                <a:solidFill>
                  <a:srgbClr val="18180F"/>
                </a:solidFill>
                <a:latin typeface="Mayonnaise Black"/>
                <a:ea typeface="Mayonnaise Black"/>
                <a:cs typeface="Mayonnaise Black"/>
              </a:defRPr>
            </a:pPr>
            <a:r>
              <a:rPr sz="4125" b="0">
                <a:solidFill>
                  <a:srgbClr val="18180F"/>
                </a:solidFill>
                <a:latin typeface="Mayonnaise Black"/>
                <a:ea typeface="Mayonnaise Black"/>
                <a:cs typeface="Mayonnaise Black"/>
              </a:rPr>
              <a:t>START WITH A WALKABLE CITY CENTRE</a:t>
            </a:r>
          </a:p>
        </p:txBody>
      </p:sp>
      <p:sp>
        <p:nvSpPr>
          <p:cNvPr id="3" name="">
            <a:extLst xmlns:a="http://schemas.openxmlformats.org/drawingml/2006/main">
              <a:ext uri="{FF2B5EF4-FFF2-40B4-BE49-F238E27FC236}">
                <a16:creationId xmlns:a16="http://schemas.microsoft.com/office/drawing/2014/main" id="{E6C3BA23-42E8-47AB-A971-AAEBBFE9341E}"/>
              </a:ext>
            </a:extLst>
          </p:cNvPr>
          <p:cNvSpPr>
            <a:spLocks xmlns:a="http://schemas.openxmlformats.org/drawingml/2006/main" noGrp="1"/>
          </p:cNvSpPr>
          <p:nvPr/>
        </p:nvSpPr>
        <p:spPr>
          <a:xfrm xmlns:a="http://schemas.openxmlformats.org/drawingml/2006/main">
            <a:off x="457200" y="6429375"/>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18180F"/>
                </a:solidFill>
                <a:latin typeface="Apfel Grotezk"/>
                <a:ea typeface="Apfel Grotezk"/>
                <a:cs typeface="Apfel Grotezk"/>
              </a:defRPr>
            </a:pPr>
            <a:r>
              <a:rPr sz="1125" b="0">
                <a:solidFill>
                  <a:srgbClr val="18180F"/>
                </a:solidFill>
                <a:latin typeface="Apfel Grotezk"/>
                <a:ea typeface="Apfel Grotezk"/>
                <a:cs typeface="Apfel Grotezk"/>
              </a:rPr>
              <a:t>MAPEXPORT  /  USE-IT     ·     Map data © OpenStreetMap contributors</a:t>
            </a:r>
          </a:p>
        </p:txBody>
      </p:sp>
      <p:sp>
        <p:nvSpPr>
          <p:cNvPr id="4" name="">
            <a:extLst xmlns:a="http://schemas.openxmlformats.org/drawingml/2006/main">
              <a:ext uri="{FF2B5EF4-FFF2-40B4-BE49-F238E27FC236}">
                <a16:creationId xmlns:a16="http://schemas.microsoft.com/office/drawing/2014/main" id="{A4582452-D2DF-4503-8399-D33C772EF234}"/>
              </a:ext>
            </a:extLst>
          </p:cNvPr>
          <p:cNvSpPr>
            <a:spLocks xmlns:a="http://schemas.openxmlformats.org/drawingml/2006/main" noGrp="1"/>
          </p:cNvSpPr>
          <p:nvPr/>
        </p:nvSpPr>
        <p:spPr>
          <a:xfrm xmlns:a="http://schemas.openxmlformats.org/drawingml/2006/main">
            <a:off x="11144250" y="6429375"/>
            <a:ext cx="590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18180F"/>
                </a:solidFill>
                <a:latin typeface="Apfel Grotezk"/>
                <a:ea typeface="Apfel Grotezk"/>
                <a:cs typeface="Apfel Grotezk"/>
              </a:defRPr>
            </a:pPr>
            <a:r>
              <a:rPr sz="1125" b="0">
                <a:solidFill>
                  <a:srgbClr val="18180F"/>
                </a:solidFill>
                <a:latin typeface="Apfel Grotezk"/>
                <a:ea typeface="Apfel Grotezk"/>
                <a:cs typeface="Apfel Grotezk"/>
              </a:rPr>
              <a:t>06</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598cb296512e4864"/>
          <a:stretch xmlns:a="http://schemas.openxmlformats.org/drawingml/2006/main"/>
        </p:blipFill>
        <p:spPr>
          <a:xfrm xmlns:a="http://schemas.openxmlformats.org/drawingml/2006/main">
            <a:off x="457200" y="1791891"/>
            <a:ext cx="7886700" cy="4436269"/>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405911ED-225D-4BFF-8E2F-46316AA1294B}"/>
              </a:ext>
            </a:extLst>
          </p:cNvPr>
          <p:cNvSpPr>
            <a:spLocks xmlns:a="http://schemas.openxmlformats.org/drawingml/2006/main" noGrp="1"/>
          </p:cNvSpPr>
          <p:nvPr/>
        </p:nvSpPr>
        <p:spPr>
          <a:xfrm xmlns:a="http://schemas.openxmlformats.org/drawingml/2006/main">
            <a:off x="8610600" y="1981200"/>
            <a:ext cx="30765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F4501E"/>
                </a:solidFill>
                <a:latin typeface="Apfel Grotezk"/>
                <a:ea typeface="Apfel Grotezk"/>
                <a:cs typeface="Apfel Grotezk"/>
              </a:defRPr>
            </a:pPr>
            <a:r>
              <a:rPr sz="2550" b="1">
                <a:solidFill>
                  <a:srgbClr val="F4501E"/>
                </a:solidFill>
                <a:latin typeface="Apfel Grotezk"/>
                <a:ea typeface="Apfel Grotezk"/>
                <a:cs typeface="Apfel Grotezk"/>
              </a:rPr>
              <a:t>Keep the first area small.</a:t>
            </a:r>
          </a:p>
        </p:txBody>
      </p:sp>
      <p:sp>
        <p:nvSpPr>
          <p:cNvPr id="7" name="">
            <a:extLst xmlns:a="http://schemas.openxmlformats.org/drawingml/2006/main">
              <a:ext uri="{FF2B5EF4-FFF2-40B4-BE49-F238E27FC236}">
                <a16:creationId xmlns:a16="http://schemas.microsoft.com/office/drawing/2014/main" id="{5F5FC0DF-6ED5-4FC7-9448-04BE1FEA8A0F}"/>
              </a:ext>
            </a:extLst>
          </p:cNvPr>
          <p:cNvSpPr>
            <a:spLocks xmlns:a="http://schemas.openxmlformats.org/drawingml/2006/main" noGrp="1"/>
          </p:cNvSpPr>
          <p:nvPr/>
        </p:nvSpPr>
        <p:spPr>
          <a:xfrm xmlns:a="http://schemas.openxmlformats.org/drawingml/2006/main">
            <a:off x="8610600" y="3162300"/>
            <a:ext cx="3105150" cy="2752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180F"/>
                </a:solidFill>
                <a:latin typeface="Apfel Grotezk"/>
                <a:ea typeface="Apfel Grotezk"/>
                <a:cs typeface="Apfel Grotezk"/>
              </a:defRPr>
            </a:pPr>
            <a:r>
              <a:rPr sz="2025" b="0">
                <a:solidFill>
                  <a:srgbClr val="18180F"/>
                </a:solidFill>
                <a:latin typeface="Apfel Grotezk"/>
                <a:ea typeface="Apfel Grotezk"/>
                <a:cs typeface="Apfel Grotezk"/>
              </a:rPr>
              <a:t>Include a recognisable landmark.</a:t>
            </a:r>
          </a:p>
          <a:p xmlns:a="http://schemas.openxmlformats.org/drawingml/2006/main">
            <a:r>
              <a:t/>
            </a:r>
          </a:p>
          <a:p xmlns:a="http://schemas.openxmlformats.org/drawingml/2006/main">
            <a:pPr>
              <a:defRPr sz="2025" b="0">
                <a:solidFill>
                  <a:srgbClr val="18180F"/>
                </a:solidFill>
                <a:latin typeface="Apfel Grotezk"/>
                <a:ea typeface="Apfel Grotezk"/>
                <a:cs typeface="Apfel Grotezk"/>
              </a:defRPr>
            </a:pPr>
            <a:r>
              <a:rPr sz="2025" b="0">
                <a:solidFill>
                  <a:srgbClr val="18180F"/>
                </a:solidFill>
                <a:latin typeface="Apfel Grotezk"/>
                <a:ea typeface="Apfel Grotezk"/>
                <a:cs typeface="Apfel Grotezk"/>
              </a:rPr>
              <a:t>Check the area and printed size.</a:t>
            </a:r>
          </a:p>
          <a:p xmlns:a="http://schemas.openxmlformats.org/drawingml/2006/main">
            <a:r>
              <a:t/>
            </a:r>
          </a:p>
          <a:p xmlns:a="http://schemas.openxmlformats.org/drawingml/2006/main">
            <a:pPr>
              <a:defRPr sz="2025" b="0">
                <a:solidFill>
                  <a:srgbClr val="18180F"/>
                </a:solidFill>
                <a:latin typeface="Apfel Grotezk"/>
                <a:ea typeface="Apfel Grotezk"/>
                <a:cs typeface="Apfel Grotezk"/>
              </a:defRPr>
            </a:pPr>
            <a:r>
              <a:rPr sz="2025" b="0">
                <a:solidFill>
                  <a:srgbClr val="18180F"/>
                </a:solidFill>
                <a:latin typeface="Apfel Grotezk"/>
                <a:ea typeface="Apfel Grotezk"/>
                <a:cs typeface="Apfel Grotezk"/>
              </a:rPr>
              <a:t>Leave room for your eventual layout.</a:t>
            </a:r>
          </a:p>
        </p:txBody>
      </p:sp>
    </p:spTree>
    <p:extLst>
      <p:ext uri="{BB962C8B-B14F-4D97-AF65-F5344CB8AC3E}">
        <p14:creationId xmlns:p14="http://schemas.microsoft.com/office/powerpoint/2010/main" val="408545216"/>
      </p:ext>
    </p:extLst>
  </p:cSld>
</p:sld>
</file>

<file path=ppt/slides/slide7.xml><?xml version="1.0" encoding="utf-8"?>
<p:sld xmlns:p="http://schemas.openxmlformats.org/presentationml/2006/main">
  <p:cSld>
    <p:bg>
      <p:bgPr>
        <a:solidFill xmlns:a="http://schemas.openxmlformats.org/drawingml/2006/main">
          <a:srgbClr val="FEF9E4"/>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4A24E38-086E-4F22-B76F-81658A59C27F}"/>
              </a:ext>
            </a:extLst>
          </p:cNvPr>
          <p:cNvSpPr>
            <a:spLocks xmlns:a="http://schemas.openxmlformats.org/drawingml/2006/main" noGrp="1"/>
          </p:cNvSpPr>
          <p:nvPr/>
        </p:nvSpPr>
        <p:spPr>
          <a:xfrm xmlns:a="http://schemas.openxmlformats.org/drawingml/2006/main">
            <a:off x="457200" y="238125"/>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F4501E"/>
                </a:solidFill>
                <a:latin typeface="Apfel Grotezk"/>
                <a:ea typeface="Apfel Grotezk"/>
                <a:cs typeface="Apfel Grotezk"/>
              </a:defRPr>
            </a:pPr>
            <a:r>
              <a:rPr sz="1275" b="1">
                <a:solidFill>
                  <a:srgbClr val="F4501E"/>
                </a:solidFill>
                <a:latin typeface="Apfel Grotezk"/>
                <a:ea typeface="Apfel Grotezk"/>
                <a:cs typeface="Apfel Grotezk"/>
              </a:rPr>
              <a:t>LAYERS</a:t>
            </a:r>
          </a:p>
        </p:txBody>
      </p:sp>
      <p:sp>
        <p:nvSpPr>
          <p:cNvPr id="2" name="">
            <a:extLst xmlns:a="http://schemas.openxmlformats.org/drawingml/2006/main">
              <a:ext uri="{FF2B5EF4-FFF2-40B4-BE49-F238E27FC236}">
                <a16:creationId xmlns:a16="http://schemas.microsoft.com/office/drawing/2014/main" id="{2D7D2686-B341-4606-8EA1-2DFDCF58070D}"/>
              </a:ext>
            </a:extLst>
          </p:cNvPr>
          <p:cNvSpPr>
            <a:spLocks xmlns:a="http://schemas.openxmlformats.org/drawingml/2006/main" noGrp="1"/>
          </p:cNvSpPr>
          <p:nvPr/>
        </p:nvSpPr>
        <p:spPr>
          <a:xfrm xmlns:a="http://schemas.openxmlformats.org/drawingml/2006/main">
            <a:off x="457200" y="638175"/>
            <a:ext cx="11239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125" b="0">
                <a:solidFill>
                  <a:srgbClr val="18180F"/>
                </a:solidFill>
                <a:latin typeface="Mayonnaise Black"/>
                <a:ea typeface="Mayonnaise Black"/>
                <a:cs typeface="Mayonnaise Black"/>
              </a:defRPr>
            </a:pPr>
            <a:r>
              <a:rPr sz="4125" b="0">
                <a:solidFill>
                  <a:srgbClr val="18180F"/>
                </a:solidFill>
                <a:latin typeface="Mayonnaise Black"/>
                <a:ea typeface="Mayonnaise Black"/>
                <a:cs typeface="Mayonnaise Black"/>
              </a:rPr>
              <a:t>CHOOSE WHAT YOUR MAP NEEDS</a:t>
            </a:r>
          </a:p>
        </p:txBody>
      </p:sp>
      <p:sp>
        <p:nvSpPr>
          <p:cNvPr id="3" name="">
            <a:extLst xmlns:a="http://schemas.openxmlformats.org/drawingml/2006/main">
              <a:ext uri="{FF2B5EF4-FFF2-40B4-BE49-F238E27FC236}">
                <a16:creationId xmlns:a16="http://schemas.microsoft.com/office/drawing/2014/main" id="{DF857A1E-1BB7-4635-96A3-2D464B5AAC9F}"/>
              </a:ext>
            </a:extLst>
          </p:cNvPr>
          <p:cNvSpPr>
            <a:spLocks xmlns:a="http://schemas.openxmlformats.org/drawingml/2006/main" noGrp="1"/>
          </p:cNvSpPr>
          <p:nvPr/>
        </p:nvSpPr>
        <p:spPr>
          <a:xfrm xmlns:a="http://schemas.openxmlformats.org/drawingml/2006/main">
            <a:off x="457200" y="6429375"/>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18180F"/>
                </a:solidFill>
                <a:latin typeface="Apfel Grotezk"/>
                <a:ea typeface="Apfel Grotezk"/>
                <a:cs typeface="Apfel Grotezk"/>
              </a:defRPr>
            </a:pPr>
            <a:r>
              <a:rPr sz="1125" b="0">
                <a:solidFill>
                  <a:srgbClr val="18180F"/>
                </a:solidFill>
                <a:latin typeface="Apfel Grotezk"/>
                <a:ea typeface="Apfel Grotezk"/>
                <a:cs typeface="Apfel Grotezk"/>
              </a:rPr>
              <a:t>MAPEXPORT  /  USE-IT     ·     Map data © OpenStreetMap contributors</a:t>
            </a:r>
          </a:p>
        </p:txBody>
      </p:sp>
      <p:sp>
        <p:nvSpPr>
          <p:cNvPr id="4" name="">
            <a:extLst xmlns:a="http://schemas.openxmlformats.org/drawingml/2006/main">
              <a:ext uri="{FF2B5EF4-FFF2-40B4-BE49-F238E27FC236}">
                <a16:creationId xmlns:a16="http://schemas.microsoft.com/office/drawing/2014/main" id="{DF0F7FA0-CD5C-4B1B-A1C1-BF8C57BD5482}"/>
              </a:ext>
            </a:extLst>
          </p:cNvPr>
          <p:cNvSpPr>
            <a:spLocks xmlns:a="http://schemas.openxmlformats.org/drawingml/2006/main" noGrp="1"/>
          </p:cNvSpPr>
          <p:nvPr/>
        </p:nvSpPr>
        <p:spPr>
          <a:xfrm xmlns:a="http://schemas.openxmlformats.org/drawingml/2006/main">
            <a:off x="11144250" y="6429375"/>
            <a:ext cx="590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18180F"/>
                </a:solidFill>
                <a:latin typeface="Apfel Grotezk"/>
                <a:ea typeface="Apfel Grotezk"/>
                <a:cs typeface="Apfel Grotezk"/>
              </a:defRPr>
            </a:pPr>
            <a:r>
              <a:rPr sz="1125" b="0">
                <a:solidFill>
                  <a:srgbClr val="18180F"/>
                </a:solidFill>
                <a:latin typeface="Apfel Grotezk"/>
                <a:ea typeface="Apfel Grotezk"/>
                <a:cs typeface="Apfel Grotezk"/>
              </a:rPr>
              <a:t>07</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6b2dfde0d08e42ac"/>
          <a:srcRect xmlns:a="http://schemas.openxmlformats.org/drawingml/2006/main" l="567" t="0" r="567" b="0"/>
          <a:stretch xmlns:a="http://schemas.openxmlformats.org/drawingml/2006/main">
            <a:fillRect l="0" t="0" r="0" b="0"/>
          </a:stretch>
        </p:blipFill>
        <p:spPr>
          <a:xfrm xmlns:a="http://schemas.openxmlformats.org/drawingml/2006/main">
            <a:off x="6305550" y="1743075"/>
            <a:ext cx="5429250" cy="444817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D7D641B2-5FC2-4911-B24B-A2D06F008203}"/>
              </a:ext>
            </a:extLst>
          </p:cNvPr>
          <p:cNvSpPr>
            <a:spLocks xmlns:a="http://schemas.openxmlformats.org/drawingml/2006/main" noGrp="1"/>
          </p:cNvSpPr>
          <p:nvPr/>
        </p:nvSpPr>
        <p:spPr>
          <a:xfrm xmlns:a="http://schemas.openxmlformats.org/drawingml/2006/main">
            <a:off x="457200" y="1838325"/>
            <a:ext cx="542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F4501E"/>
                </a:solidFill>
                <a:latin typeface="Apfel Grotezk"/>
                <a:ea typeface="Apfel Grotezk"/>
                <a:cs typeface="Apfel Grotezk"/>
              </a:defRPr>
            </a:pPr>
            <a:r>
              <a:rPr sz="2550" b="1">
                <a:solidFill>
                  <a:srgbClr val="F4501E"/>
                </a:solidFill>
                <a:latin typeface="Apfel Grotezk"/>
                <a:ea typeface="Apfel Grotezk"/>
                <a:cs typeface="Apfel Grotezk"/>
              </a:rPr>
              <a:t>The essentials</a:t>
            </a:r>
          </a:p>
        </p:txBody>
      </p:sp>
      <p:sp>
        <p:nvSpPr>
          <p:cNvPr id="7" name="">
            <a:extLst xmlns:a="http://schemas.openxmlformats.org/drawingml/2006/main">
              <a:ext uri="{FF2B5EF4-FFF2-40B4-BE49-F238E27FC236}">
                <a16:creationId xmlns:a16="http://schemas.microsoft.com/office/drawing/2014/main" id="{E3C6D910-12AB-4D99-AB1A-C1ABE34ACF7B}"/>
              </a:ext>
            </a:extLst>
          </p:cNvPr>
          <p:cNvSpPr>
            <a:spLocks xmlns:a="http://schemas.openxmlformats.org/drawingml/2006/main" noGrp="1"/>
          </p:cNvSpPr>
          <p:nvPr/>
        </p:nvSpPr>
        <p:spPr>
          <a:xfrm xmlns:a="http://schemas.openxmlformats.org/drawingml/2006/main">
            <a:off x="457200" y="2447925"/>
            <a:ext cx="532447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8180F"/>
                </a:solidFill>
                <a:latin typeface="Apfel Grotezk"/>
                <a:ea typeface="Apfel Grotezk"/>
                <a:cs typeface="Apfel Grotezk"/>
              </a:defRPr>
            </a:pPr>
            <a:r>
              <a:rPr sz="2400" b="0">
                <a:solidFill>
                  <a:srgbClr val="18180F"/>
                </a:solidFill>
                <a:latin typeface="Apfel Grotezk"/>
                <a:ea typeface="Apfel Grotezk"/>
                <a:cs typeface="Apfel Grotezk"/>
              </a:rPr>
              <a:t>Roads and city blocks</a:t>
            </a:r>
          </a:p>
          <a:p xmlns:a="http://schemas.openxmlformats.org/drawingml/2006/main">
            <a:pPr>
              <a:defRPr sz="2400" b="0">
                <a:solidFill>
                  <a:srgbClr val="18180F"/>
                </a:solidFill>
                <a:latin typeface="Apfel Grotezk"/>
                <a:ea typeface="Apfel Grotezk"/>
                <a:cs typeface="Apfel Grotezk"/>
              </a:defRPr>
            </a:pPr>
            <a:r>
              <a:rPr sz="2400" b="0">
                <a:solidFill>
                  <a:srgbClr val="18180F"/>
                </a:solidFill>
                <a:latin typeface="Apfel Grotezk"/>
                <a:ea typeface="Apfel Grotezk"/>
                <a:cs typeface="Apfel Grotezk"/>
              </a:rPr>
              <a:t>Water and green space</a:t>
            </a:r>
          </a:p>
          <a:p xmlns:a="http://schemas.openxmlformats.org/drawingml/2006/main">
            <a:pPr>
              <a:defRPr sz="2400" b="0">
                <a:solidFill>
                  <a:srgbClr val="18180F"/>
                </a:solidFill>
                <a:latin typeface="Apfel Grotezk"/>
                <a:ea typeface="Apfel Grotezk"/>
                <a:cs typeface="Apfel Grotezk"/>
              </a:defRPr>
            </a:pPr>
            <a:r>
              <a:rPr sz="2400" b="0">
                <a:solidFill>
                  <a:srgbClr val="18180F"/>
                </a:solidFill>
                <a:latin typeface="Apfel Grotezk"/>
                <a:ea typeface="Apfel Grotezk"/>
                <a:cs typeface="Apfel Grotezk"/>
              </a:rPr>
              <a:t>Street names</a:t>
            </a:r>
          </a:p>
        </p:txBody>
      </p:sp>
      <p:sp>
        <p:nvSpPr>
          <p:cNvPr id="8" name="">
            <a:extLst xmlns:a="http://schemas.openxmlformats.org/drawingml/2006/main">
              <a:ext uri="{FF2B5EF4-FFF2-40B4-BE49-F238E27FC236}">
                <a16:creationId xmlns:a16="http://schemas.microsoft.com/office/drawing/2014/main" id="{DDAAF387-09E1-4B40-B13A-3BB013024B8C}"/>
              </a:ext>
            </a:extLst>
          </p:cNvPr>
          <p:cNvSpPr>
            <a:spLocks xmlns:a="http://schemas.openxmlformats.org/drawingml/2006/main" noGrp="1"/>
          </p:cNvSpPr>
          <p:nvPr/>
        </p:nvSpPr>
        <p:spPr>
          <a:xfrm xmlns:a="http://schemas.openxmlformats.org/drawingml/2006/main">
            <a:off x="457200" y="4238625"/>
            <a:ext cx="55149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F4501E"/>
                </a:solidFill>
                <a:latin typeface="Apfel Grotezk"/>
                <a:ea typeface="Apfel Grotezk"/>
                <a:cs typeface="Apfel Grotezk"/>
              </a:defRPr>
            </a:pPr>
            <a:r>
              <a:rPr sz="2400" b="1">
                <a:solidFill>
                  <a:srgbClr val="F4501E"/>
                </a:solidFill>
                <a:latin typeface="Apfel Grotezk"/>
                <a:ea typeface="Apfel Grotezk"/>
                <a:cs typeface="Apfel Grotezk"/>
              </a:rPr>
              <a:t>Add detail with purpose</a:t>
            </a:r>
          </a:p>
        </p:txBody>
      </p:sp>
      <p:sp>
        <p:nvSpPr>
          <p:cNvPr id="9" name="">
            <a:extLst xmlns:a="http://schemas.openxmlformats.org/drawingml/2006/main">
              <a:ext uri="{FF2B5EF4-FFF2-40B4-BE49-F238E27FC236}">
                <a16:creationId xmlns:a16="http://schemas.microsoft.com/office/drawing/2014/main" id="{A83E0955-9325-4E54-9EC3-FD308B89CC2E}"/>
              </a:ext>
            </a:extLst>
          </p:cNvPr>
          <p:cNvSpPr>
            <a:spLocks xmlns:a="http://schemas.openxmlformats.org/drawingml/2006/main" noGrp="1"/>
          </p:cNvSpPr>
          <p:nvPr/>
        </p:nvSpPr>
        <p:spPr>
          <a:xfrm xmlns:a="http://schemas.openxmlformats.org/drawingml/2006/main">
            <a:off x="457200" y="4800600"/>
            <a:ext cx="5429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180F"/>
                </a:solidFill>
                <a:latin typeface="Apfel Grotezk"/>
                <a:ea typeface="Apfel Grotezk"/>
                <a:cs typeface="Apfel Grotezk"/>
              </a:defRPr>
            </a:pPr>
            <a:r>
              <a:rPr sz="2025" b="0">
                <a:solidFill>
                  <a:srgbClr val="18180F"/>
                </a:solidFill>
                <a:latin typeface="Apfel Grotezk"/>
                <a:ea typeface="Apfel Grotezk"/>
                <a:cs typeface="Apfel Grotezk"/>
              </a:rPr>
              <a:t>For example: transit or pedestrian routes.</a:t>
            </a:r>
          </a:p>
          <a:p xmlns:a="http://schemas.openxmlformats.org/drawingml/2006/main">
            <a:pPr>
              <a:defRPr sz="2025" b="0">
                <a:solidFill>
                  <a:srgbClr val="18180F"/>
                </a:solidFill>
                <a:latin typeface="Apfel Grotezk"/>
                <a:ea typeface="Apfel Grotezk"/>
                <a:cs typeface="Apfel Grotezk"/>
              </a:defRPr>
            </a:pPr>
            <a:r>
              <a:rPr sz="2025" b="0">
                <a:solidFill>
                  <a:srgbClr val="18180F"/>
                </a:solidFill>
                <a:latin typeface="Apfel Grotezk"/>
                <a:ea typeface="Apfel Grotezk"/>
                <a:cs typeface="Apfel Grotezk"/>
              </a:rPr>
              <a:t>Keep only what helps your reader.</a:t>
            </a:r>
          </a:p>
        </p:txBody>
      </p:sp>
    </p:spTree>
    <p:extLst>
      <p:ext uri="{BB962C8B-B14F-4D97-AF65-F5344CB8AC3E}">
        <p14:creationId xmlns:p14="http://schemas.microsoft.com/office/powerpoint/2010/main" val="1883505350"/>
      </p:ext>
    </p:extLst>
  </p:cSld>
</p:sld>
</file>

<file path=ppt/slides/slide8.xml><?xml version="1.0" encoding="utf-8"?>
<p:sld xmlns:p="http://schemas.openxmlformats.org/presentationml/2006/main">
  <p:cSld>
    <p:bg>
      <p:bgPr>
        <a:solidFill xmlns:a="http://schemas.openxmlformats.org/drawingml/2006/main">
          <a:srgbClr val="FEF9E4"/>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EBBA767-E2AD-493A-8AB0-6C0766F7AC63}"/>
              </a:ext>
            </a:extLst>
          </p:cNvPr>
          <p:cNvSpPr>
            <a:spLocks xmlns:a="http://schemas.openxmlformats.org/drawingml/2006/main" noGrp="1"/>
          </p:cNvSpPr>
          <p:nvPr/>
        </p:nvSpPr>
        <p:spPr>
          <a:xfrm xmlns:a="http://schemas.openxmlformats.org/drawingml/2006/main">
            <a:off x="457200" y="238125"/>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F4501E"/>
                </a:solidFill>
                <a:latin typeface="Apfel Grotezk"/>
                <a:ea typeface="Apfel Grotezk"/>
                <a:cs typeface="Apfel Grotezk"/>
              </a:defRPr>
            </a:pPr>
            <a:r>
              <a:rPr sz="1275" b="1">
                <a:solidFill>
                  <a:srgbClr val="F4501E"/>
                </a:solidFill>
                <a:latin typeface="Apfel Grotezk"/>
                <a:ea typeface="Apfel Grotezk"/>
                <a:cs typeface="Apfel Grotezk"/>
              </a:rPr>
              <a:t>DOWNLOAD</a:t>
            </a:r>
          </a:p>
        </p:txBody>
      </p:sp>
      <p:sp>
        <p:nvSpPr>
          <p:cNvPr id="2" name="">
            <a:extLst xmlns:a="http://schemas.openxmlformats.org/drawingml/2006/main">
              <a:ext uri="{FF2B5EF4-FFF2-40B4-BE49-F238E27FC236}">
                <a16:creationId xmlns:a16="http://schemas.microsoft.com/office/drawing/2014/main" id="{550D3AF0-7942-408B-825F-EF59484FBA01}"/>
              </a:ext>
            </a:extLst>
          </p:cNvPr>
          <p:cNvSpPr>
            <a:spLocks xmlns:a="http://schemas.openxmlformats.org/drawingml/2006/main" noGrp="1"/>
          </p:cNvSpPr>
          <p:nvPr/>
        </p:nvSpPr>
        <p:spPr>
          <a:xfrm xmlns:a="http://schemas.openxmlformats.org/drawingml/2006/main">
            <a:off x="457200" y="638175"/>
            <a:ext cx="11239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125" b="0">
                <a:solidFill>
                  <a:srgbClr val="18180F"/>
                </a:solidFill>
                <a:latin typeface="Mayonnaise Black"/>
                <a:ea typeface="Mayonnaise Black"/>
                <a:cs typeface="Mayonnaise Black"/>
              </a:defRPr>
            </a:pPr>
            <a:r>
              <a:rPr sz="4125" b="0">
                <a:solidFill>
                  <a:srgbClr val="18180F"/>
                </a:solidFill>
                <a:latin typeface="Mayonnaise Black"/>
                <a:ea typeface="Mayonnaise Black"/>
                <a:cs typeface="Mayonnaise Black"/>
              </a:rPr>
              <a:t>EXPORT FOR YOUR EDITOR</a:t>
            </a:r>
          </a:p>
        </p:txBody>
      </p:sp>
      <p:sp>
        <p:nvSpPr>
          <p:cNvPr id="3" name="">
            <a:extLst xmlns:a="http://schemas.openxmlformats.org/drawingml/2006/main">
              <a:ext uri="{FF2B5EF4-FFF2-40B4-BE49-F238E27FC236}">
                <a16:creationId xmlns:a16="http://schemas.microsoft.com/office/drawing/2014/main" id="{37E9B0AD-AFB4-42EC-BE20-FC650A85F99D}"/>
              </a:ext>
            </a:extLst>
          </p:cNvPr>
          <p:cNvSpPr>
            <a:spLocks xmlns:a="http://schemas.openxmlformats.org/drawingml/2006/main" noGrp="1"/>
          </p:cNvSpPr>
          <p:nvPr/>
        </p:nvSpPr>
        <p:spPr>
          <a:xfrm xmlns:a="http://schemas.openxmlformats.org/drawingml/2006/main">
            <a:off x="457200" y="6429375"/>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18180F"/>
                </a:solidFill>
                <a:latin typeface="Apfel Grotezk"/>
                <a:ea typeface="Apfel Grotezk"/>
                <a:cs typeface="Apfel Grotezk"/>
              </a:defRPr>
            </a:pPr>
            <a:r>
              <a:rPr sz="1125" b="0">
                <a:solidFill>
                  <a:srgbClr val="18180F"/>
                </a:solidFill>
                <a:latin typeface="Apfel Grotezk"/>
                <a:ea typeface="Apfel Grotezk"/>
                <a:cs typeface="Apfel Grotezk"/>
              </a:rPr>
              <a:t>MAPEXPORT  /  USE-IT     ·     Map data © OpenStreetMap contributors</a:t>
            </a:r>
          </a:p>
        </p:txBody>
      </p:sp>
      <p:sp>
        <p:nvSpPr>
          <p:cNvPr id="4" name="">
            <a:extLst xmlns:a="http://schemas.openxmlformats.org/drawingml/2006/main">
              <a:ext uri="{FF2B5EF4-FFF2-40B4-BE49-F238E27FC236}">
                <a16:creationId xmlns:a16="http://schemas.microsoft.com/office/drawing/2014/main" id="{1320D927-0A47-434A-AA30-B59A8EAD3209}"/>
              </a:ext>
            </a:extLst>
          </p:cNvPr>
          <p:cNvSpPr>
            <a:spLocks xmlns:a="http://schemas.openxmlformats.org/drawingml/2006/main" noGrp="1"/>
          </p:cNvSpPr>
          <p:nvPr/>
        </p:nvSpPr>
        <p:spPr>
          <a:xfrm xmlns:a="http://schemas.openxmlformats.org/drawingml/2006/main">
            <a:off x="11144250" y="6429375"/>
            <a:ext cx="590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18180F"/>
                </a:solidFill>
                <a:latin typeface="Apfel Grotezk"/>
                <a:ea typeface="Apfel Grotezk"/>
                <a:cs typeface="Apfel Grotezk"/>
              </a:defRPr>
            </a:pPr>
            <a:r>
              <a:rPr sz="1125" b="0">
                <a:solidFill>
                  <a:srgbClr val="18180F"/>
                </a:solidFill>
                <a:latin typeface="Apfel Grotezk"/>
                <a:ea typeface="Apfel Grotezk"/>
                <a:cs typeface="Apfel Grotezk"/>
              </a:rPr>
              <a:t>08</a:t>
            </a:r>
          </a:p>
        </p:txBody>
      </p:sp>
      <p:sp>
        <p:nvSpPr>
          <p:cNvPr id="5" name="">
            <a:extLst xmlns:a="http://schemas.openxmlformats.org/drawingml/2006/main">
              <a:ext uri="{FF2B5EF4-FFF2-40B4-BE49-F238E27FC236}">
                <a16:creationId xmlns:a16="http://schemas.microsoft.com/office/drawing/2014/main" id="{26EB4536-9792-4F57-B045-E34A2984F3E8}"/>
              </a:ext>
            </a:extLst>
          </p:cNvPr>
          <p:cNvSpPr>
            <a:spLocks xmlns:a="http://schemas.openxmlformats.org/drawingml/2006/main" noGrp="1"/>
          </p:cNvSpPr>
          <p:nvPr/>
        </p:nvSpPr>
        <p:spPr>
          <a:xfrm xmlns:a="http://schemas.openxmlformats.org/drawingml/2006/main">
            <a:off x="457200" y="1962150"/>
            <a:ext cx="5334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0">
                <a:solidFill>
                  <a:srgbClr val="F4501E"/>
                </a:solidFill>
                <a:latin typeface="Mayonnaise Black"/>
                <a:ea typeface="Mayonnaise Black"/>
                <a:cs typeface="Mayonnaise Black"/>
              </a:defRPr>
            </a:pPr>
            <a:r>
              <a:rPr sz="3450" b="0">
                <a:solidFill>
                  <a:srgbClr val="F4501E"/>
                </a:solidFill>
                <a:latin typeface="Mayonnaise Black"/>
                <a:ea typeface="Mayonnaise Black"/>
                <a:cs typeface="Mayonnaise Black"/>
              </a:rPr>
              <a:t>ILLUSTRATOR</a:t>
            </a:r>
          </a:p>
        </p:txBody>
      </p:sp>
      <p:sp>
        <p:nvSpPr>
          <p:cNvPr id="6" name="">
            <a:extLst xmlns:a="http://schemas.openxmlformats.org/drawingml/2006/main">
              <a:ext uri="{FF2B5EF4-FFF2-40B4-BE49-F238E27FC236}">
                <a16:creationId xmlns:a16="http://schemas.microsoft.com/office/drawing/2014/main" id="{D9905F30-56CB-4D6B-91AA-F22FADBA5CD9}"/>
              </a:ext>
            </a:extLst>
          </p:cNvPr>
          <p:cNvSpPr>
            <a:spLocks xmlns:a="http://schemas.openxmlformats.org/drawingml/2006/main" noGrp="1"/>
          </p:cNvSpPr>
          <p:nvPr/>
        </p:nvSpPr>
        <p:spPr>
          <a:xfrm xmlns:a="http://schemas.openxmlformats.org/drawingml/2006/main">
            <a:off x="457200" y="2905125"/>
            <a:ext cx="52768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8180F"/>
                </a:solidFill>
                <a:latin typeface="Apfel Grotezk"/>
                <a:ea typeface="Apfel Grotezk"/>
                <a:cs typeface="Apfel Grotezk"/>
              </a:defRPr>
            </a:pPr>
            <a:r>
              <a:rPr sz="2250" b="1">
                <a:solidFill>
                  <a:srgbClr val="18180F"/>
                </a:solidFill>
                <a:latin typeface="Apfel Grotezk"/>
                <a:ea typeface="Apfel Grotezk"/>
                <a:cs typeface="Apfel Grotezk"/>
              </a:rPr>
              <a:t>Choose “SVG (Illustrator)”</a:t>
            </a:r>
          </a:p>
        </p:txBody>
      </p:sp>
      <p:sp>
        <p:nvSpPr>
          <p:cNvPr id="7" name="">
            <a:extLst xmlns:a="http://schemas.openxmlformats.org/drawingml/2006/main">
              <a:ext uri="{FF2B5EF4-FFF2-40B4-BE49-F238E27FC236}">
                <a16:creationId xmlns:a16="http://schemas.microsoft.com/office/drawing/2014/main" id="{5978E457-02ED-47F9-89FE-385EB1FC5255}"/>
              </a:ext>
            </a:extLst>
          </p:cNvPr>
          <p:cNvSpPr>
            <a:spLocks xmlns:a="http://schemas.openxmlformats.org/drawingml/2006/main" noGrp="1"/>
          </p:cNvSpPr>
          <p:nvPr/>
        </p:nvSpPr>
        <p:spPr>
          <a:xfrm xmlns:a="http://schemas.openxmlformats.org/drawingml/2006/main">
            <a:off x="457200" y="4067175"/>
            <a:ext cx="51816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8180F"/>
                </a:solidFill>
                <a:latin typeface="Apfel Grotezk"/>
                <a:ea typeface="Apfel Grotezk"/>
                <a:cs typeface="Apfel Grotezk"/>
              </a:defRPr>
            </a:pPr>
            <a:r>
              <a:rPr sz="2400" b="0">
                <a:solidFill>
                  <a:srgbClr val="18180F"/>
                </a:solidFill>
                <a:latin typeface="Apfel Grotezk"/>
                <a:ea typeface="Apfel Grotezk"/>
                <a:cs typeface="Apfel Grotezk"/>
              </a:rPr>
              <a:t>Export SVG → Download</a:t>
            </a:r>
          </a:p>
          <a:p xmlns:a="http://schemas.openxmlformats.org/drawingml/2006/main">
            <a:pPr>
              <a:defRPr sz="2400" b="0">
                <a:solidFill>
                  <a:srgbClr val="18180F"/>
                </a:solidFill>
                <a:latin typeface="Apfel Grotezk"/>
                <a:ea typeface="Apfel Grotezk"/>
                <a:cs typeface="Apfel Grotezk"/>
              </a:defRPr>
            </a:pPr>
            <a:r>
              <a:rPr sz="2400" b="0">
                <a:solidFill>
                  <a:srgbClr val="18180F"/>
                </a:solidFill>
                <a:latin typeface="Apfel Grotezk"/>
                <a:ea typeface="Apfel Grotezk"/>
                <a:cs typeface="Apfel Grotezk"/>
              </a:rPr>
              <a:t>Then use File → Open.</a:t>
            </a:r>
          </a:p>
        </p:txBody>
      </p:sp>
      <p:sp>
        <p:nvSpPr>
          <p:cNvPr id="8" name="">
            <a:extLst xmlns:a="http://schemas.openxmlformats.org/drawingml/2006/main">
              <a:ext uri="{FF2B5EF4-FFF2-40B4-BE49-F238E27FC236}">
                <a16:creationId xmlns:a16="http://schemas.microsoft.com/office/drawing/2014/main" id="{AF771979-F071-4819-B638-5DF086C44557}"/>
              </a:ext>
            </a:extLst>
          </p:cNvPr>
          <p:cNvSpPr>
            <a:spLocks xmlns:a="http://schemas.openxmlformats.org/drawingml/2006/main" noGrp="1"/>
          </p:cNvSpPr>
          <p:nvPr/>
        </p:nvSpPr>
        <p:spPr>
          <a:xfrm xmlns:a="http://schemas.openxmlformats.org/drawingml/2006/main">
            <a:off x="6457950" y="1962150"/>
            <a:ext cx="5334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0">
                <a:solidFill>
                  <a:srgbClr val="F4501E"/>
                </a:solidFill>
                <a:latin typeface="Mayonnaise Black"/>
                <a:ea typeface="Mayonnaise Black"/>
                <a:cs typeface="Mayonnaise Black"/>
              </a:defRPr>
            </a:pPr>
            <a:r>
              <a:rPr sz="3450" b="0">
                <a:solidFill>
                  <a:srgbClr val="F4501E"/>
                </a:solidFill>
                <a:latin typeface="Mayonnaise Black"/>
                <a:ea typeface="Mayonnaise Black"/>
                <a:cs typeface="Mayonnaise Black"/>
              </a:rPr>
              <a:t>INKSCAPE</a:t>
            </a:r>
          </a:p>
        </p:txBody>
      </p:sp>
      <p:sp>
        <p:nvSpPr>
          <p:cNvPr id="9" name="">
            <a:extLst xmlns:a="http://schemas.openxmlformats.org/drawingml/2006/main">
              <a:ext uri="{FF2B5EF4-FFF2-40B4-BE49-F238E27FC236}">
                <a16:creationId xmlns:a16="http://schemas.microsoft.com/office/drawing/2014/main" id="{C83935E4-888B-43FC-B8FA-A3FBE25AE9AF}"/>
              </a:ext>
            </a:extLst>
          </p:cNvPr>
          <p:cNvSpPr>
            <a:spLocks xmlns:a="http://schemas.openxmlformats.org/drawingml/2006/main" noGrp="1"/>
          </p:cNvSpPr>
          <p:nvPr/>
        </p:nvSpPr>
        <p:spPr>
          <a:xfrm xmlns:a="http://schemas.openxmlformats.org/drawingml/2006/main">
            <a:off x="6457950" y="2905125"/>
            <a:ext cx="52768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8180F"/>
                </a:solidFill>
                <a:latin typeface="Apfel Grotezk"/>
                <a:ea typeface="Apfel Grotezk"/>
                <a:cs typeface="Apfel Grotezk"/>
              </a:defRPr>
            </a:pPr>
            <a:r>
              <a:rPr sz="2250" b="1">
                <a:solidFill>
                  <a:srgbClr val="18180F"/>
                </a:solidFill>
                <a:latin typeface="Apfel Grotezk"/>
                <a:ea typeface="Apfel Grotezk"/>
                <a:cs typeface="Apfel Grotezk"/>
              </a:rPr>
              <a:t>Choose “SVG (Inkscape / others)”</a:t>
            </a:r>
          </a:p>
        </p:txBody>
      </p:sp>
      <p:sp>
        <p:nvSpPr>
          <p:cNvPr id="10" name="">
            <a:extLst xmlns:a="http://schemas.openxmlformats.org/drawingml/2006/main">
              <a:ext uri="{FF2B5EF4-FFF2-40B4-BE49-F238E27FC236}">
                <a16:creationId xmlns:a16="http://schemas.microsoft.com/office/drawing/2014/main" id="{75AC2E9C-F254-47B2-8116-83315B933D0D}"/>
              </a:ext>
            </a:extLst>
          </p:cNvPr>
          <p:cNvSpPr>
            <a:spLocks xmlns:a="http://schemas.openxmlformats.org/drawingml/2006/main" noGrp="1"/>
          </p:cNvSpPr>
          <p:nvPr/>
        </p:nvSpPr>
        <p:spPr>
          <a:xfrm xmlns:a="http://schemas.openxmlformats.org/drawingml/2006/main">
            <a:off x="6457950" y="4067175"/>
            <a:ext cx="51816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8180F"/>
                </a:solidFill>
                <a:latin typeface="Apfel Grotezk"/>
                <a:ea typeface="Apfel Grotezk"/>
                <a:cs typeface="Apfel Grotezk"/>
              </a:defRPr>
            </a:pPr>
            <a:r>
              <a:rPr sz="2400" b="0">
                <a:solidFill>
                  <a:srgbClr val="18180F"/>
                </a:solidFill>
                <a:latin typeface="Apfel Grotezk"/>
                <a:ea typeface="Apfel Grotezk"/>
                <a:cs typeface="Apfel Grotezk"/>
              </a:rPr>
              <a:t>Export SVG → Download</a:t>
            </a:r>
          </a:p>
          <a:p xmlns:a="http://schemas.openxmlformats.org/drawingml/2006/main">
            <a:pPr>
              <a:defRPr sz="2400" b="0">
                <a:solidFill>
                  <a:srgbClr val="18180F"/>
                </a:solidFill>
                <a:latin typeface="Apfel Grotezk"/>
                <a:ea typeface="Apfel Grotezk"/>
                <a:cs typeface="Apfel Grotezk"/>
              </a:defRPr>
            </a:pPr>
            <a:r>
              <a:rPr sz="2400" b="0">
                <a:solidFill>
                  <a:srgbClr val="18180F"/>
                </a:solidFill>
                <a:latin typeface="Apfel Grotezk"/>
                <a:ea typeface="Apfel Grotezk"/>
                <a:cs typeface="Apfel Grotezk"/>
              </a:rPr>
              <a:t>Then use File → Open.</a:t>
            </a:r>
          </a:p>
        </p:txBody>
      </p:sp>
      <p:sp>
        <p:nvSpPr>
          <p:cNvPr id="11" name="">
            <a:extLst xmlns:a="http://schemas.openxmlformats.org/drawingml/2006/main">
              <a:ext uri="{FF2B5EF4-FFF2-40B4-BE49-F238E27FC236}">
                <a16:creationId xmlns:a16="http://schemas.microsoft.com/office/drawing/2014/main" id="{D2309EE4-CE1D-4232-A801-3AE453475E3A}"/>
              </a:ext>
            </a:extLst>
          </p:cNvPr>
          <p:cNvSpPr>
            <a:spLocks xmlns:a="http://schemas.openxmlformats.org/drawingml/2006/main" noGrp="1"/>
          </p:cNvSpPr>
          <p:nvPr/>
        </p:nvSpPr>
        <p:spPr>
          <a:xfrm xmlns:a="http://schemas.openxmlformats.org/drawingml/2006/main">
            <a:off x="6086475" y="1962150"/>
            <a:ext cx="19050" cy="3295650"/>
          </a:xfrm>
          <a:prstGeom xmlns:a="http://schemas.openxmlformats.org/drawingml/2006/main" prst="rect">
            <a:avLst/>
          </a:prstGeom>
          <a:solidFill xmlns:a="http://schemas.openxmlformats.org/drawingml/2006/main">
            <a:srgbClr val="D9D0AE"/>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0C0C8FA9-AAB0-4DC4-B3AF-0F1FFA54D04E}"/>
              </a:ext>
            </a:extLst>
          </p:cNvPr>
          <p:cNvSpPr>
            <a:spLocks xmlns:a="http://schemas.openxmlformats.org/drawingml/2006/main" noGrp="1"/>
          </p:cNvSpPr>
          <p:nvPr/>
        </p:nvSpPr>
        <p:spPr>
          <a:xfrm xmlns:a="http://schemas.openxmlformats.org/drawingml/2006/main">
            <a:off x="457200" y="5695950"/>
            <a:ext cx="112585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180F"/>
                </a:solidFill>
                <a:latin typeface="Apfel Grotezk"/>
                <a:ea typeface="Apfel Grotezk"/>
                <a:cs typeface="Apfel Grotezk"/>
              </a:defRPr>
            </a:pPr>
            <a:r>
              <a:rPr sz="2025" b="0">
                <a:solidFill>
                  <a:srgbClr val="18180F"/>
                </a:solidFill>
                <a:latin typeface="Apfel Grotezk"/>
                <a:ea typeface="Apfel Grotezk"/>
                <a:cs typeface="Apfel Grotezk"/>
              </a:rPr>
              <a:t>Keep the original export. Save your edits as a separate file.</a:t>
            </a:r>
          </a:p>
        </p:txBody>
      </p:sp>
    </p:spTree>
    <p:extLst>
      <p:ext uri="{BB962C8B-B14F-4D97-AF65-F5344CB8AC3E}">
        <p14:creationId xmlns:p14="http://schemas.microsoft.com/office/powerpoint/2010/main" val="1083444816"/>
      </p:ext>
    </p:extLst>
  </p:cSld>
</p:sld>
</file>

<file path=ppt/slides/slide9.xml><?xml version="1.0" encoding="utf-8"?>
<p:sld xmlns:p="http://schemas.openxmlformats.org/presentationml/2006/main">
  <p:cSld>
    <p:bg>
      <p:bgPr>
        <a:solidFill xmlns:a="http://schemas.openxmlformats.org/drawingml/2006/main">
          <a:srgbClr val="FEF9E4"/>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9302024D-094C-4E31-B157-BD79DCE7EEF5}"/>
              </a:ext>
            </a:extLst>
          </p:cNvPr>
          <p:cNvSpPr>
            <a:spLocks xmlns:a="http://schemas.openxmlformats.org/drawingml/2006/main" noGrp="1"/>
          </p:cNvSpPr>
          <p:nvPr/>
        </p:nvSpPr>
        <p:spPr>
          <a:xfrm xmlns:a="http://schemas.openxmlformats.org/drawingml/2006/main">
            <a:off x="457200" y="238125"/>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F4501E"/>
                </a:solidFill>
                <a:latin typeface="Apfel Grotezk"/>
                <a:ea typeface="Apfel Grotezk"/>
                <a:cs typeface="Apfel Grotezk"/>
              </a:defRPr>
            </a:pPr>
            <a:r>
              <a:rPr sz="1275" b="1">
                <a:solidFill>
                  <a:srgbClr val="F4501E"/>
                </a:solidFill>
                <a:latin typeface="Apfel Grotezk"/>
                <a:ea typeface="Apfel Grotezk"/>
                <a:cs typeface="Apfel Grotezk"/>
              </a:rPr>
              <a:t>INSIDE THE SVG</a:t>
            </a:r>
          </a:p>
        </p:txBody>
      </p:sp>
      <p:sp>
        <p:nvSpPr>
          <p:cNvPr id="2" name="">
            <a:extLst xmlns:a="http://schemas.openxmlformats.org/drawingml/2006/main">
              <a:ext uri="{FF2B5EF4-FFF2-40B4-BE49-F238E27FC236}">
                <a16:creationId xmlns:a16="http://schemas.microsoft.com/office/drawing/2014/main" id="{A3FF130B-AEC9-403B-8033-BA4CEA8D555E}"/>
              </a:ext>
            </a:extLst>
          </p:cNvPr>
          <p:cNvSpPr>
            <a:spLocks xmlns:a="http://schemas.openxmlformats.org/drawingml/2006/main" noGrp="1"/>
          </p:cNvSpPr>
          <p:nvPr/>
        </p:nvSpPr>
        <p:spPr>
          <a:xfrm xmlns:a="http://schemas.openxmlformats.org/drawingml/2006/main">
            <a:off x="457200" y="638175"/>
            <a:ext cx="11239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125" b="0">
                <a:solidFill>
                  <a:srgbClr val="18180F"/>
                </a:solidFill>
                <a:latin typeface="Mayonnaise Black"/>
                <a:ea typeface="Mayonnaise Black"/>
                <a:cs typeface="Mayonnaise Black"/>
              </a:defRPr>
            </a:pPr>
            <a:r>
              <a:rPr sz="4125" b="0">
                <a:solidFill>
                  <a:srgbClr val="18180F"/>
                </a:solidFill>
                <a:latin typeface="Mayonnaise Black"/>
                <a:ea typeface="Mayonnaise Black"/>
                <a:cs typeface="Mayonnaise Black"/>
              </a:rPr>
              <a:t>FIND THE LAYER. EDIT THE RIGHT THINGS.</a:t>
            </a:r>
          </a:p>
        </p:txBody>
      </p:sp>
      <p:sp>
        <p:nvSpPr>
          <p:cNvPr id="3" name="">
            <a:extLst xmlns:a="http://schemas.openxmlformats.org/drawingml/2006/main">
              <a:ext uri="{FF2B5EF4-FFF2-40B4-BE49-F238E27FC236}">
                <a16:creationId xmlns:a16="http://schemas.microsoft.com/office/drawing/2014/main" id="{70A54118-D97D-47B9-A4E6-1D8F417E0317}"/>
              </a:ext>
            </a:extLst>
          </p:cNvPr>
          <p:cNvSpPr>
            <a:spLocks xmlns:a="http://schemas.openxmlformats.org/drawingml/2006/main" noGrp="1"/>
          </p:cNvSpPr>
          <p:nvPr/>
        </p:nvSpPr>
        <p:spPr>
          <a:xfrm xmlns:a="http://schemas.openxmlformats.org/drawingml/2006/main">
            <a:off x="457200" y="6429375"/>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18180F"/>
                </a:solidFill>
                <a:latin typeface="Apfel Grotezk"/>
                <a:ea typeface="Apfel Grotezk"/>
                <a:cs typeface="Apfel Grotezk"/>
              </a:defRPr>
            </a:pPr>
            <a:r>
              <a:rPr sz="1125" b="0">
                <a:solidFill>
                  <a:srgbClr val="18180F"/>
                </a:solidFill>
                <a:latin typeface="Apfel Grotezk"/>
                <a:ea typeface="Apfel Grotezk"/>
                <a:cs typeface="Apfel Grotezk"/>
              </a:rPr>
              <a:t>MAPEXPORT  /  USE-IT     ·     Map data © OpenStreetMap contributors</a:t>
            </a:r>
          </a:p>
        </p:txBody>
      </p:sp>
      <p:sp>
        <p:nvSpPr>
          <p:cNvPr id="4" name="">
            <a:extLst xmlns:a="http://schemas.openxmlformats.org/drawingml/2006/main">
              <a:ext uri="{FF2B5EF4-FFF2-40B4-BE49-F238E27FC236}">
                <a16:creationId xmlns:a16="http://schemas.microsoft.com/office/drawing/2014/main" id="{BCD4D9CF-19CD-4BBA-AB75-102D561C9B60}"/>
              </a:ext>
            </a:extLst>
          </p:cNvPr>
          <p:cNvSpPr>
            <a:spLocks xmlns:a="http://schemas.openxmlformats.org/drawingml/2006/main" noGrp="1"/>
          </p:cNvSpPr>
          <p:nvPr/>
        </p:nvSpPr>
        <p:spPr>
          <a:xfrm xmlns:a="http://schemas.openxmlformats.org/drawingml/2006/main">
            <a:off x="11144250" y="6429375"/>
            <a:ext cx="590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18180F"/>
                </a:solidFill>
                <a:latin typeface="Apfel Grotezk"/>
                <a:ea typeface="Apfel Grotezk"/>
                <a:cs typeface="Apfel Grotezk"/>
              </a:defRPr>
            </a:pPr>
            <a:r>
              <a:rPr sz="1125" b="0">
                <a:solidFill>
                  <a:srgbClr val="18180F"/>
                </a:solidFill>
                <a:latin typeface="Apfel Grotezk"/>
                <a:ea typeface="Apfel Grotezk"/>
                <a:cs typeface="Apfel Grotezk"/>
              </a:rPr>
              <a:t>09</a:t>
            </a:r>
          </a:p>
        </p:txBody>
      </p:sp>
      <p:sp>
        <p:nvSpPr>
          <p:cNvPr id="5" name="">
            <a:extLst xmlns:a="http://schemas.openxmlformats.org/drawingml/2006/main">
              <a:ext uri="{FF2B5EF4-FFF2-40B4-BE49-F238E27FC236}">
                <a16:creationId xmlns:a16="http://schemas.microsoft.com/office/drawing/2014/main" id="{C7713C94-0538-466B-A6FA-32E4788E987A}"/>
              </a:ext>
            </a:extLst>
          </p:cNvPr>
          <p:cNvSpPr>
            <a:spLocks xmlns:a="http://schemas.openxmlformats.org/drawingml/2006/main" noGrp="1"/>
          </p:cNvSpPr>
          <p:nvPr/>
        </p:nvSpPr>
        <p:spPr>
          <a:xfrm xmlns:a="http://schemas.openxmlformats.org/drawingml/2006/main">
            <a:off x="590550" y="2000250"/>
            <a:ext cx="5619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F4501E"/>
                </a:solidFill>
                <a:latin typeface="Apfel Grotezk"/>
                <a:ea typeface="Apfel Grotezk"/>
                <a:cs typeface="Apfel Grotezk"/>
              </a:defRPr>
            </a:pPr>
            <a:r>
              <a:rPr sz="2850" b="1">
                <a:solidFill>
                  <a:srgbClr val="F4501E"/>
                </a:solidFill>
                <a:latin typeface="Apfel Grotezk"/>
                <a:ea typeface="Apfel Grotezk"/>
                <a:cs typeface="Apfel Grotezk"/>
              </a:rPr>
              <a:t>Map content</a:t>
            </a:r>
          </a:p>
        </p:txBody>
      </p:sp>
      <p:sp>
        <p:nvSpPr>
          <p:cNvPr id="6" name="">
            <a:extLst xmlns:a="http://schemas.openxmlformats.org/drawingml/2006/main">
              <a:ext uri="{FF2B5EF4-FFF2-40B4-BE49-F238E27FC236}">
                <a16:creationId xmlns:a16="http://schemas.microsoft.com/office/drawing/2014/main" id="{9E7DDC19-804B-40A1-9FED-137C1ED2B017}"/>
              </a:ext>
            </a:extLst>
          </p:cNvPr>
          <p:cNvSpPr>
            <a:spLocks xmlns:a="http://schemas.openxmlformats.org/drawingml/2006/main" noGrp="1"/>
          </p:cNvSpPr>
          <p:nvPr/>
        </p:nvSpPr>
        <p:spPr>
          <a:xfrm xmlns:a="http://schemas.openxmlformats.org/drawingml/2006/main">
            <a:off x="704850" y="2781300"/>
            <a:ext cx="57150" cy="381000"/>
          </a:xfrm>
          <a:prstGeom xmlns:a="http://schemas.openxmlformats.org/drawingml/2006/main" prst="rect">
            <a:avLst/>
          </a:prstGeom>
          <a:solidFill xmlns:a="http://schemas.openxmlformats.org/drawingml/2006/main">
            <a:srgbClr val="F4501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941A570D-6772-4AEF-AA24-9CC368C93365}"/>
              </a:ext>
            </a:extLst>
          </p:cNvPr>
          <p:cNvSpPr>
            <a:spLocks xmlns:a="http://schemas.openxmlformats.org/drawingml/2006/main" noGrp="1"/>
          </p:cNvSpPr>
          <p:nvPr/>
        </p:nvSpPr>
        <p:spPr>
          <a:xfrm xmlns:a="http://schemas.openxmlformats.org/drawingml/2006/main">
            <a:off x="1047750" y="2762250"/>
            <a:ext cx="4857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8180F"/>
                </a:solidFill>
                <a:latin typeface="Apfel Grotezk"/>
                <a:ea typeface="Apfel Grotezk"/>
                <a:cs typeface="Apfel Grotezk"/>
              </a:defRPr>
            </a:pPr>
            <a:r>
              <a:rPr sz="2250" b="0">
                <a:solidFill>
                  <a:srgbClr val="18180F"/>
                </a:solidFill>
                <a:latin typeface="Apfel Grotezk"/>
                <a:ea typeface="Apfel Grotezk"/>
                <a:cs typeface="Apfel Grotezk"/>
              </a:rPr>
              <a:t>City blocks</a:t>
            </a:r>
          </a:p>
        </p:txBody>
      </p:sp>
      <p:sp>
        <p:nvSpPr>
          <p:cNvPr id="8" name="">
            <a:extLst xmlns:a="http://schemas.openxmlformats.org/drawingml/2006/main">
              <a:ext uri="{FF2B5EF4-FFF2-40B4-BE49-F238E27FC236}">
                <a16:creationId xmlns:a16="http://schemas.microsoft.com/office/drawing/2014/main" id="{4A5DF6B0-18B5-4901-84E0-B27BABBB9140}"/>
              </a:ext>
            </a:extLst>
          </p:cNvPr>
          <p:cNvSpPr>
            <a:spLocks xmlns:a="http://schemas.openxmlformats.org/drawingml/2006/main" noGrp="1"/>
          </p:cNvSpPr>
          <p:nvPr/>
        </p:nvSpPr>
        <p:spPr>
          <a:xfrm xmlns:a="http://schemas.openxmlformats.org/drawingml/2006/main">
            <a:off x="704850" y="3429000"/>
            <a:ext cx="57150" cy="381000"/>
          </a:xfrm>
          <a:prstGeom xmlns:a="http://schemas.openxmlformats.org/drawingml/2006/main" prst="rect">
            <a:avLst/>
          </a:prstGeom>
          <a:solidFill xmlns:a="http://schemas.openxmlformats.org/drawingml/2006/main">
            <a:srgbClr val="7ECAB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EB070843-9AD3-4C5C-AB86-20155166209F}"/>
              </a:ext>
            </a:extLst>
          </p:cNvPr>
          <p:cNvSpPr>
            <a:spLocks xmlns:a="http://schemas.openxmlformats.org/drawingml/2006/main" noGrp="1"/>
          </p:cNvSpPr>
          <p:nvPr/>
        </p:nvSpPr>
        <p:spPr>
          <a:xfrm xmlns:a="http://schemas.openxmlformats.org/drawingml/2006/main">
            <a:off x="1047750" y="3409950"/>
            <a:ext cx="4857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8180F"/>
                </a:solidFill>
                <a:latin typeface="Apfel Grotezk"/>
                <a:ea typeface="Apfel Grotezk"/>
                <a:cs typeface="Apfel Grotezk"/>
              </a:defRPr>
            </a:pPr>
            <a:r>
              <a:rPr sz="2250" b="0">
                <a:solidFill>
                  <a:srgbClr val="18180F"/>
                </a:solidFill>
                <a:latin typeface="Apfel Grotezk"/>
                <a:ea typeface="Apfel Grotezk"/>
                <a:cs typeface="Apfel Grotezk"/>
              </a:rPr>
              <a:t>Parks &amp; green space</a:t>
            </a:r>
          </a:p>
        </p:txBody>
      </p:sp>
      <p:sp>
        <p:nvSpPr>
          <p:cNvPr id="10" name="">
            <a:extLst xmlns:a="http://schemas.openxmlformats.org/drawingml/2006/main">
              <a:ext uri="{FF2B5EF4-FFF2-40B4-BE49-F238E27FC236}">
                <a16:creationId xmlns:a16="http://schemas.microsoft.com/office/drawing/2014/main" id="{0BFF684F-5947-45D4-81A1-EE55B4694A2F}"/>
              </a:ext>
            </a:extLst>
          </p:cNvPr>
          <p:cNvSpPr>
            <a:spLocks xmlns:a="http://schemas.openxmlformats.org/drawingml/2006/main" noGrp="1"/>
          </p:cNvSpPr>
          <p:nvPr/>
        </p:nvSpPr>
        <p:spPr>
          <a:xfrm xmlns:a="http://schemas.openxmlformats.org/drawingml/2006/main">
            <a:off x="704850" y="4076700"/>
            <a:ext cx="57150" cy="381000"/>
          </a:xfrm>
          <a:prstGeom xmlns:a="http://schemas.openxmlformats.org/drawingml/2006/main" prst="rect">
            <a:avLst/>
          </a:prstGeom>
          <a:solidFill xmlns:a="http://schemas.openxmlformats.org/drawingml/2006/main">
            <a:srgbClr val="7ECAB6"/>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D7C2DC64-142C-455B-83F1-2E076661AB76}"/>
              </a:ext>
            </a:extLst>
          </p:cNvPr>
          <p:cNvSpPr>
            <a:spLocks xmlns:a="http://schemas.openxmlformats.org/drawingml/2006/main" noGrp="1"/>
          </p:cNvSpPr>
          <p:nvPr/>
        </p:nvSpPr>
        <p:spPr>
          <a:xfrm xmlns:a="http://schemas.openxmlformats.org/drawingml/2006/main">
            <a:off x="1047750" y="4057650"/>
            <a:ext cx="4857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8180F"/>
                </a:solidFill>
                <a:latin typeface="Apfel Grotezk"/>
                <a:ea typeface="Apfel Grotezk"/>
                <a:cs typeface="Apfel Grotezk"/>
              </a:defRPr>
            </a:pPr>
            <a:r>
              <a:rPr sz="2250" b="0">
                <a:solidFill>
                  <a:srgbClr val="18180F"/>
                </a:solidFill>
                <a:latin typeface="Apfel Grotezk"/>
                <a:ea typeface="Apfel Grotezk"/>
                <a:cs typeface="Apfel Grotezk"/>
              </a:rPr>
              <a:t>Roads</a:t>
            </a:r>
          </a:p>
        </p:txBody>
      </p:sp>
      <p:sp>
        <p:nvSpPr>
          <p:cNvPr id="12" name="">
            <a:extLst xmlns:a="http://schemas.openxmlformats.org/drawingml/2006/main">
              <a:ext uri="{FF2B5EF4-FFF2-40B4-BE49-F238E27FC236}">
                <a16:creationId xmlns:a16="http://schemas.microsoft.com/office/drawing/2014/main" id="{1DA317BC-B1A0-4C9D-8B60-4A95D157991E}"/>
              </a:ext>
            </a:extLst>
          </p:cNvPr>
          <p:cNvSpPr>
            <a:spLocks xmlns:a="http://schemas.openxmlformats.org/drawingml/2006/main" noGrp="1"/>
          </p:cNvSpPr>
          <p:nvPr/>
        </p:nvSpPr>
        <p:spPr>
          <a:xfrm xmlns:a="http://schemas.openxmlformats.org/drawingml/2006/main">
            <a:off x="704850" y="4724400"/>
            <a:ext cx="57150" cy="381000"/>
          </a:xfrm>
          <a:prstGeom xmlns:a="http://schemas.openxmlformats.org/drawingml/2006/main" prst="rect">
            <a:avLst/>
          </a:prstGeom>
          <a:solidFill xmlns:a="http://schemas.openxmlformats.org/drawingml/2006/main">
            <a:srgbClr val="7ECAB6"/>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A026A3C0-15D3-48F1-8C6D-E3EA80235E02}"/>
              </a:ext>
            </a:extLst>
          </p:cNvPr>
          <p:cNvSpPr>
            <a:spLocks xmlns:a="http://schemas.openxmlformats.org/drawingml/2006/main" noGrp="1"/>
          </p:cNvSpPr>
          <p:nvPr/>
        </p:nvSpPr>
        <p:spPr>
          <a:xfrm xmlns:a="http://schemas.openxmlformats.org/drawingml/2006/main">
            <a:off x="1047750" y="4705350"/>
            <a:ext cx="4857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8180F"/>
                </a:solidFill>
                <a:latin typeface="Apfel Grotezk"/>
                <a:ea typeface="Apfel Grotezk"/>
                <a:cs typeface="Apfel Grotezk"/>
              </a:defRPr>
            </a:pPr>
            <a:r>
              <a:rPr sz="2250" b="0">
                <a:solidFill>
                  <a:srgbClr val="18180F"/>
                </a:solidFill>
                <a:latin typeface="Apfel Grotezk"/>
                <a:ea typeface="Apfel Grotezk"/>
                <a:cs typeface="Apfel Grotezk"/>
              </a:rPr>
              <a:t>Street names</a:t>
            </a:r>
          </a:p>
        </p:txBody>
      </p:sp>
      <p:sp>
        <p:nvSpPr>
          <p:cNvPr id="14" name="">
            <a:extLst xmlns:a="http://schemas.openxmlformats.org/drawingml/2006/main">
              <a:ext uri="{FF2B5EF4-FFF2-40B4-BE49-F238E27FC236}">
                <a16:creationId xmlns:a16="http://schemas.microsoft.com/office/drawing/2014/main" id="{0E8FC298-A31A-41F9-ABD2-0486D4CE5959}"/>
              </a:ext>
            </a:extLst>
          </p:cNvPr>
          <p:cNvSpPr>
            <a:spLocks xmlns:a="http://schemas.openxmlformats.org/drawingml/2006/main" noGrp="1"/>
          </p:cNvSpPr>
          <p:nvPr/>
        </p:nvSpPr>
        <p:spPr>
          <a:xfrm xmlns:a="http://schemas.openxmlformats.org/drawingml/2006/main">
            <a:off x="6810375" y="2105025"/>
            <a:ext cx="4648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F4501E"/>
                </a:solidFill>
                <a:latin typeface="Apfel Grotezk"/>
                <a:ea typeface="Apfel Grotezk"/>
                <a:cs typeface="Apfel Grotezk"/>
              </a:defRPr>
            </a:pPr>
            <a:r>
              <a:rPr sz="2400" b="1">
                <a:solidFill>
                  <a:srgbClr val="F4501E"/>
                </a:solidFill>
                <a:latin typeface="Apfel Grotezk"/>
                <a:ea typeface="Apfel Grotezk"/>
                <a:cs typeface="Apfel Grotezk"/>
              </a:rPr>
              <a:t>Open the Layers panel.</a:t>
            </a:r>
          </a:p>
        </p:txBody>
      </p:sp>
      <p:sp>
        <p:nvSpPr>
          <p:cNvPr id="15" name="">
            <a:extLst xmlns:a="http://schemas.openxmlformats.org/drawingml/2006/main">
              <a:ext uri="{FF2B5EF4-FFF2-40B4-BE49-F238E27FC236}">
                <a16:creationId xmlns:a16="http://schemas.microsoft.com/office/drawing/2014/main" id="{F4AF3944-E1FD-4396-B508-3520229DC766}"/>
              </a:ext>
            </a:extLst>
          </p:cNvPr>
          <p:cNvSpPr>
            <a:spLocks xmlns:a="http://schemas.openxmlformats.org/drawingml/2006/main" noGrp="1"/>
          </p:cNvSpPr>
          <p:nvPr/>
        </p:nvSpPr>
        <p:spPr>
          <a:xfrm xmlns:a="http://schemas.openxmlformats.org/drawingml/2006/main">
            <a:off x="6810375" y="2971800"/>
            <a:ext cx="462915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8180F"/>
                </a:solidFill>
                <a:latin typeface="Apfel Grotezk"/>
                <a:ea typeface="Apfel Grotezk"/>
                <a:cs typeface="Apfel Grotezk"/>
              </a:defRPr>
            </a:pPr>
            <a:r>
              <a:rPr sz="2250" b="0">
                <a:solidFill>
                  <a:srgbClr val="18180F"/>
                </a:solidFill>
                <a:latin typeface="Apfel Grotezk"/>
                <a:ea typeface="Apfel Grotezk"/>
                <a:cs typeface="Apfel Grotezk"/>
              </a:rPr>
              <a:t>Expand Map content.</a:t>
            </a:r>
          </a:p>
          <a:p xmlns:a="http://schemas.openxmlformats.org/drawingml/2006/main">
            <a:r>
              <a:t/>
            </a:r>
          </a:p>
          <a:p xmlns:a="http://schemas.openxmlformats.org/drawingml/2006/main">
            <a:pPr>
              <a:defRPr sz="2250" b="0">
                <a:solidFill>
                  <a:srgbClr val="18180F"/>
                </a:solidFill>
                <a:latin typeface="Apfel Grotezk"/>
                <a:ea typeface="Apfel Grotezk"/>
                <a:cs typeface="Apfel Grotezk"/>
              </a:defRPr>
            </a:pPr>
            <a:r>
              <a:rPr sz="2250" b="0">
                <a:solidFill>
                  <a:srgbClr val="18180F"/>
                </a:solidFill>
                <a:latin typeface="Apfel Grotezk"/>
                <a:ea typeface="Apfel Grotezk"/>
                <a:cs typeface="Apfel Grotezk"/>
              </a:rPr>
              <a:t>Toggle a layer to see what it contains.</a:t>
            </a:r>
          </a:p>
          <a:p xmlns:a="http://schemas.openxmlformats.org/drawingml/2006/main">
            <a:r>
              <a:t/>
            </a:r>
          </a:p>
          <a:p xmlns:a="http://schemas.openxmlformats.org/drawingml/2006/main">
            <a:pPr>
              <a:defRPr sz="2250" b="0">
                <a:solidFill>
                  <a:srgbClr val="18180F"/>
                </a:solidFill>
                <a:latin typeface="Apfel Grotezk"/>
                <a:ea typeface="Apfel Grotezk"/>
                <a:cs typeface="Apfel Grotezk"/>
              </a:defRPr>
            </a:pPr>
            <a:r>
              <a:rPr sz="2250" b="0">
                <a:solidFill>
                  <a:srgbClr val="18180F"/>
                </a:solidFill>
                <a:latin typeface="Apfel Grotezk"/>
                <a:ea typeface="Apfel Grotezk"/>
                <a:cs typeface="Apfel Grotezk"/>
              </a:rPr>
              <a:t>Keep groups intact while you explore.</a:t>
            </a:r>
          </a:p>
        </p:txBody>
      </p:sp>
    </p:spTree>
    <p:extLst>
      <p:ext uri="{BB962C8B-B14F-4D97-AF65-F5344CB8AC3E}">
        <p14:creationId xmlns:p14="http://schemas.microsoft.com/office/powerpoint/2010/main" val="491305562"/>
      </p:ext>
    </p:extLst>
  </p:cSld>
</p:sld>
</file>

<file path=ppt/slides/slide10.xml><?xml version="1.0" encoding="utf-8"?>
<p:sld xmlns:p="http://schemas.openxmlformats.org/presentationml/2006/main">
  <p:cSld>
    <p:bg>
      <p:bgPr>
        <a:solidFill xmlns:a="http://schemas.openxmlformats.org/drawingml/2006/main">
          <a:srgbClr val="7ECAB6"/>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D8D87F5-776E-4F26-AE77-9441CA69A2E4}"/>
              </a:ext>
            </a:extLst>
          </p:cNvPr>
          <p:cNvSpPr>
            <a:spLocks xmlns:a="http://schemas.openxmlformats.org/drawingml/2006/main" noGrp="1"/>
          </p:cNvSpPr>
          <p:nvPr/>
        </p:nvSpPr>
        <p:spPr>
          <a:xfrm xmlns:a="http://schemas.openxmlformats.org/drawingml/2006/main">
            <a:off x="457200" y="238125"/>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F4501E"/>
                </a:solidFill>
                <a:latin typeface="Apfel Grotezk"/>
                <a:ea typeface="Apfel Grotezk"/>
                <a:cs typeface="Apfel Grotezk"/>
              </a:defRPr>
            </a:pPr>
            <a:r>
              <a:rPr sz="1275" b="1">
                <a:solidFill>
                  <a:srgbClr val="F4501E"/>
                </a:solidFill>
                <a:latin typeface="Apfel Grotezk"/>
                <a:ea typeface="Apfel Grotezk"/>
                <a:cs typeface="Apfel Grotezk"/>
              </a:rPr>
              <a:t>INKSCAPE / ABOUT 5 MINUTES</a:t>
            </a:r>
          </a:p>
        </p:txBody>
      </p:sp>
      <p:sp>
        <p:nvSpPr>
          <p:cNvPr id="2" name="">
            <a:extLst xmlns:a="http://schemas.openxmlformats.org/drawingml/2006/main">
              <a:ext uri="{FF2B5EF4-FFF2-40B4-BE49-F238E27FC236}">
                <a16:creationId xmlns:a16="http://schemas.microsoft.com/office/drawing/2014/main" id="{7AD3645C-5FD7-46B5-9164-A96FCF0CBA6D}"/>
              </a:ext>
            </a:extLst>
          </p:cNvPr>
          <p:cNvSpPr>
            <a:spLocks xmlns:a="http://schemas.openxmlformats.org/drawingml/2006/main" noGrp="1"/>
          </p:cNvSpPr>
          <p:nvPr/>
        </p:nvSpPr>
        <p:spPr>
          <a:xfrm xmlns:a="http://schemas.openxmlformats.org/drawingml/2006/main">
            <a:off x="457200" y="638175"/>
            <a:ext cx="11239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125" b="0">
                <a:solidFill>
                  <a:srgbClr val="18180F"/>
                </a:solidFill>
                <a:latin typeface="Mayonnaise Black"/>
                <a:ea typeface="Mayonnaise Black"/>
                <a:cs typeface="Mayonnaise Black"/>
              </a:defRPr>
            </a:pPr>
            <a:r>
              <a:rPr sz="4125" b="0">
                <a:solidFill>
                  <a:srgbClr val="18180F"/>
                </a:solidFill>
                <a:latin typeface="Mayonnaise Black"/>
                <a:ea typeface="Mayonnaise Black"/>
                <a:cs typeface="Mayonnaise Black"/>
              </a:rPr>
              <a:t>LIVE DEMO: CHANGE ALL THE BLOCKS</a:t>
            </a:r>
          </a:p>
        </p:txBody>
      </p:sp>
      <p:sp>
        <p:nvSpPr>
          <p:cNvPr id="3" name="">
            <a:extLst xmlns:a="http://schemas.openxmlformats.org/drawingml/2006/main">
              <a:ext uri="{FF2B5EF4-FFF2-40B4-BE49-F238E27FC236}">
                <a16:creationId xmlns:a16="http://schemas.microsoft.com/office/drawing/2014/main" id="{EFDC86DB-C02E-4C3A-95D6-087DAC14CB2E}"/>
              </a:ext>
            </a:extLst>
          </p:cNvPr>
          <p:cNvSpPr>
            <a:spLocks xmlns:a="http://schemas.openxmlformats.org/drawingml/2006/main" noGrp="1"/>
          </p:cNvSpPr>
          <p:nvPr/>
        </p:nvSpPr>
        <p:spPr>
          <a:xfrm xmlns:a="http://schemas.openxmlformats.org/drawingml/2006/main">
            <a:off x="457200" y="6429375"/>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18180F"/>
                </a:solidFill>
                <a:latin typeface="Apfel Grotezk"/>
                <a:ea typeface="Apfel Grotezk"/>
                <a:cs typeface="Apfel Grotezk"/>
              </a:defRPr>
            </a:pPr>
            <a:r>
              <a:rPr sz="1125" b="0">
                <a:solidFill>
                  <a:srgbClr val="18180F"/>
                </a:solidFill>
                <a:latin typeface="Apfel Grotezk"/>
                <a:ea typeface="Apfel Grotezk"/>
                <a:cs typeface="Apfel Grotezk"/>
              </a:rPr>
              <a:t>MAPEXPORT  /  USE-IT     ·     Map data © OpenStreetMap contributors</a:t>
            </a:r>
          </a:p>
        </p:txBody>
      </p:sp>
      <p:sp>
        <p:nvSpPr>
          <p:cNvPr id="4" name="">
            <a:extLst xmlns:a="http://schemas.openxmlformats.org/drawingml/2006/main">
              <a:ext uri="{FF2B5EF4-FFF2-40B4-BE49-F238E27FC236}">
                <a16:creationId xmlns:a16="http://schemas.microsoft.com/office/drawing/2014/main" id="{D10329D8-2BAE-4FB4-9B6B-24C86B79AE66}"/>
              </a:ext>
            </a:extLst>
          </p:cNvPr>
          <p:cNvSpPr>
            <a:spLocks xmlns:a="http://schemas.openxmlformats.org/drawingml/2006/main" noGrp="1"/>
          </p:cNvSpPr>
          <p:nvPr/>
        </p:nvSpPr>
        <p:spPr>
          <a:xfrm xmlns:a="http://schemas.openxmlformats.org/drawingml/2006/main">
            <a:off x="11144250" y="6429375"/>
            <a:ext cx="590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18180F"/>
                </a:solidFill>
                <a:latin typeface="Apfel Grotezk"/>
                <a:ea typeface="Apfel Grotezk"/>
                <a:cs typeface="Apfel Grotezk"/>
              </a:defRPr>
            </a:pPr>
            <a:r>
              <a:rPr sz="1125" b="0">
                <a:solidFill>
                  <a:srgbClr val="18180F"/>
                </a:solidFill>
                <a:latin typeface="Apfel Grotezk"/>
                <a:ea typeface="Apfel Grotezk"/>
                <a:cs typeface="Apfel Grotezk"/>
              </a:rPr>
              <a:t>10</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0412b00c491a4088"/>
          <a:srcRect xmlns:a="http://schemas.openxmlformats.org/drawingml/2006/main" l="11" t="0" r="11" b="0"/>
          <a:stretch xmlns:a="http://schemas.openxmlformats.org/drawingml/2006/main">
            <a:fillRect l="0" t="0" r="0" b="0"/>
          </a:stretch>
        </p:blipFill>
        <p:spPr>
          <a:xfrm xmlns:a="http://schemas.openxmlformats.org/drawingml/2006/main">
            <a:off x="457200" y="1809750"/>
            <a:ext cx="4114800" cy="3333750"/>
          </a:xfrm>
          <a:prstGeom xmlns:a="http://schemas.openxmlformats.org/drawingml/2006/main" prst="rect">
            <a:avLst/>
          </a:prstGeom>
        </p:spPr>
      </p:pic>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3d799b6cdf294743"/>
          <a:srcRect xmlns:a="http://schemas.openxmlformats.org/drawingml/2006/main" l="11" t="0" r="11" b="0"/>
          <a:stretch xmlns:a="http://schemas.openxmlformats.org/drawingml/2006/main">
            <a:fillRect l="0" t="0" r="0" b="0"/>
          </a:stretch>
        </p:blipFill>
        <p:spPr>
          <a:xfrm xmlns:a="http://schemas.openxmlformats.org/drawingml/2006/main">
            <a:off x="4686300" y="1809750"/>
            <a:ext cx="4114800" cy="33337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3B193213-5BBA-4F49-94CA-37C62032ADCC}"/>
              </a:ext>
            </a:extLst>
          </p:cNvPr>
          <p:cNvSpPr>
            <a:spLocks xmlns:a="http://schemas.openxmlformats.org/drawingml/2006/main" noGrp="1"/>
          </p:cNvSpPr>
          <p:nvPr/>
        </p:nvSpPr>
        <p:spPr>
          <a:xfrm xmlns:a="http://schemas.openxmlformats.org/drawingml/2006/main">
            <a:off x="457200" y="5248275"/>
            <a:ext cx="4000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8180F"/>
                </a:solidFill>
                <a:latin typeface="Apfel Grotezk"/>
                <a:ea typeface="Apfel Grotezk"/>
                <a:cs typeface="Apfel Grotezk"/>
              </a:defRPr>
            </a:pPr>
            <a:r>
              <a:rPr sz="1500" b="1">
                <a:solidFill>
                  <a:srgbClr val="18180F"/>
                </a:solidFill>
                <a:latin typeface="Apfel Grotezk"/>
                <a:ea typeface="Apfel Grotezk"/>
                <a:cs typeface="Apfel Grotezk"/>
              </a:rPr>
              <a:t>BEFORE</a:t>
            </a:r>
          </a:p>
        </p:txBody>
      </p:sp>
      <p:sp>
        <p:nvSpPr>
          <p:cNvPr id="8" name="">
            <a:extLst xmlns:a="http://schemas.openxmlformats.org/drawingml/2006/main">
              <a:ext uri="{FF2B5EF4-FFF2-40B4-BE49-F238E27FC236}">
                <a16:creationId xmlns:a16="http://schemas.microsoft.com/office/drawing/2014/main" id="{EF4D51EB-EA15-4408-93F2-E0FE5ACCCA1E}"/>
              </a:ext>
            </a:extLst>
          </p:cNvPr>
          <p:cNvSpPr>
            <a:spLocks xmlns:a="http://schemas.openxmlformats.org/drawingml/2006/main" noGrp="1"/>
          </p:cNvSpPr>
          <p:nvPr/>
        </p:nvSpPr>
        <p:spPr>
          <a:xfrm xmlns:a="http://schemas.openxmlformats.org/drawingml/2006/main">
            <a:off x="4686300" y="5248275"/>
            <a:ext cx="4210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8180F"/>
                </a:solidFill>
                <a:latin typeface="Apfel Grotezk"/>
                <a:ea typeface="Apfel Grotezk"/>
                <a:cs typeface="Apfel Grotezk"/>
              </a:defRPr>
            </a:pPr>
            <a:r>
              <a:rPr sz="1500" b="1">
                <a:solidFill>
                  <a:srgbClr val="18180F"/>
                </a:solidFill>
                <a:latin typeface="Apfel Grotezk"/>
                <a:ea typeface="Apfel Grotezk"/>
                <a:cs typeface="Apfel Grotezk"/>
              </a:rPr>
              <a:t>ONE COLOUR CHANGE</a:t>
            </a:r>
          </a:p>
        </p:txBody>
      </p:sp>
      <p:sp>
        <p:nvSpPr>
          <p:cNvPr id="9" name="">
            <a:extLst xmlns:a="http://schemas.openxmlformats.org/drawingml/2006/main">
              <a:ext uri="{FF2B5EF4-FFF2-40B4-BE49-F238E27FC236}">
                <a16:creationId xmlns:a16="http://schemas.microsoft.com/office/drawing/2014/main" id="{B91804CA-BEA1-4C08-A1CB-61D7F5C272C0}"/>
              </a:ext>
            </a:extLst>
          </p:cNvPr>
          <p:cNvSpPr>
            <a:spLocks xmlns:a="http://schemas.openxmlformats.org/drawingml/2006/main" noGrp="1"/>
          </p:cNvSpPr>
          <p:nvPr/>
        </p:nvSpPr>
        <p:spPr>
          <a:xfrm xmlns:a="http://schemas.openxmlformats.org/drawingml/2006/main">
            <a:off x="9144000" y="1914525"/>
            <a:ext cx="2647950" cy="335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8180F"/>
                </a:solidFill>
                <a:latin typeface="Apfel Grotezk"/>
                <a:ea typeface="Apfel Grotezk"/>
                <a:cs typeface="Apfel Grotezk"/>
              </a:defRPr>
            </a:pPr>
            <a:r>
              <a:rPr sz="1875" b="1">
                <a:solidFill>
                  <a:srgbClr val="18180F"/>
                </a:solidFill>
                <a:latin typeface="Apfel Grotezk"/>
                <a:ea typeface="Apfel Grotezk"/>
                <a:cs typeface="Apfel Grotezk"/>
              </a:rPr>
              <a:t>1  Open the SVG</a:t>
            </a:r>
          </a:p>
          <a:p xmlns:a="http://schemas.openxmlformats.org/drawingml/2006/main">
            <a:r>
              <a:t/>
            </a:r>
          </a:p>
          <a:p xmlns:a="http://schemas.openxmlformats.org/drawingml/2006/main">
            <a:pPr>
              <a:defRPr sz="1875" b="1">
                <a:solidFill>
                  <a:srgbClr val="18180F"/>
                </a:solidFill>
                <a:latin typeface="Apfel Grotezk"/>
                <a:ea typeface="Apfel Grotezk"/>
                <a:cs typeface="Apfel Grotezk"/>
              </a:defRPr>
            </a:pPr>
            <a:r>
              <a:rPr sz="1875" b="1">
                <a:solidFill>
                  <a:srgbClr val="18180F"/>
                </a:solidFill>
                <a:latin typeface="Apfel Grotezk"/>
                <a:ea typeface="Apfel Grotezk"/>
                <a:cs typeface="Apfel Grotezk"/>
              </a:rPr>
              <a:t>2  Find City blocks</a:t>
            </a:r>
          </a:p>
          <a:p xmlns:a="http://schemas.openxmlformats.org/drawingml/2006/main">
            <a:r>
              <a:t/>
            </a:r>
          </a:p>
          <a:p xmlns:a="http://schemas.openxmlformats.org/drawingml/2006/main">
            <a:pPr>
              <a:defRPr sz="1875" b="1">
                <a:solidFill>
                  <a:srgbClr val="18180F"/>
                </a:solidFill>
                <a:latin typeface="Apfel Grotezk"/>
                <a:ea typeface="Apfel Grotezk"/>
                <a:cs typeface="Apfel Grotezk"/>
              </a:defRPr>
            </a:pPr>
            <a:r>
              <a:rPr sz="1875" b="1">
                <a:solidFill>
                  <a:srgbClr val="18180F"/>
                </a:solidFill>
                <a:latin typeface="Apfel Grotezk"/>
                <a:ea typeface="Apfel Grotezk"/>
                <a:cs typeface="Apfel Grotezk"/>
              </a:rPr>
              <a:t>3  Select its blocks</a:t>
            </a:r>
          </a:p>
          <a:p xmlns:a="http://schemas.openxmlformats.org/drawingml/2006/main">
            <a:r>
              <a:t/>
            </a:r>
          </a:p>
          <a:p xmlns:a="http://schemas.openxmlformats.org/drawingml/2006/main">
            <a:pPr>
              <a:defRPr sz="1875" b="1">
                <a:solidFill>
                  <a:srgbClr val="18180F"/>
                </a:solidFill>
                <a:latin typeface="Apfel Grotezk"/>
                <a:ea typeface="Apfel Grotezk"/>
                <a:cs typeface="Apfel Grotezk"/>
              </a:defRPr>
            </a:pPr>
            <a:r>
              <a:rPr sz="1875" b="1">
                <a:solidFill>
                  <a:srgbClr val="18180F"/>
                </a:solidFill>
                <a:latin typeface="Apfel Grotezk"/>
                <a:ea typeface="Apfel Grotezk"/>
                <a:cs typeface="Apfel Grotezk"/>
              </a:rPr>
              <a:t>4  Change the fill</a:t>
            </a:r>
          </a:p>
        </p:txBody>
      </p:sp>
      <p:sp>
        <p:nvSpPr>
          <p:cNvPr id="10" name="">
            <a:extLst xmlns:a="http://schemas.openxmlformats.org/drawingml/2006/main">
              <a:ext uri="{FF2B5EF4-FFF2-40B4-BE49-F238E27FC236}">
                <a16:creationId xmlns:a16="http://schemas.microsoft.com/office/drawing/2014/main" id="{D8E06520-62CC-4241-9049-585C891FF2FD}"/>
              </a:ext>
            </a:extLst>
          </p:cNvPr>
          <p:cNvSpPr>
            <a:spLocks xmlns:a="http://schemas.openxmlformats.org/drawingml/2006/main" noGrp="1"/>
          </p:cNvSpPr>
          <p:nvPr/>
        </p:nvSpPr>
        <p:spPr>
          <a:xfrm xmlns:a="http://schemas.openxmlformats.org/drawingml/2006/main">
            <a:off x="457200" y="5762625"/>
            <a:ext cx="11334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180F"/>
                </a:solidFill>
                <a:latin typeface="Apfel Grotezk"/>
                <a:ea typeface="Apfel Grotezk"/>
                <a:cs typeface="Apfel Grotezk"/>
              </a:defRPr>
            </a:pPr>
            <a:r>
              <a:rPr sz="1950" b="0">
                <a:solidFill>
                  <a:srgbClr val="18180F"/>
                </a:solidFill>
                <a:latin typeface="Apfel Grotezk"/>
                <a:ea typeface="Apfel Grotezk"/>
                <a:cs typeface="Apfel Grotezk"/>
              </a:rPr>
              <a:t>581 blocks in this example. Roads, water and parks keep their colours.</a:t>
            </a:r>
          </a:p>
        </p:txBody>
      </p:sp>
    </p:spTree>
    <p:extLst>
      <p:ext uri="{BB962C8B-B14F-4D97-AF65-F5344CB8AC3E}">
        <p14:creationId xmlns:p14="http://schemas.microsoft.com/office/powerpoint/2010/main" val="372458647"/>
      </p:ext>
    </p:extLst>
  </p:cSld>
</p:sld>
</file>

<file path=ppt/slides/slide11.xml><?xml version="1.0" encoding="utf-8"?>
<p:sld xmlns:p="http://schemas.openxmlformats.org/presentationml/2006/main">
  <p:cSld>
    <p:bg>
      <p:bgPr>
        <a:solidFill xmlns:a="http://schemas.openxmlformats.org/drawingml/2006/main">
          <a:srgbClr val="FEF9E4"/>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5985CD4-AF75-42E2-A413-A39A9B533340}"/>
              </a:ext>
            </a:extLst>
          </p:cNvPr>
          <p:cNvSpPr>
            <a:spLocks xmlns:a="http://schemas.openxmlformats.org/drawingml/2006/main" noGrp="1"/>
          </p:cNvSpPr>
          <p:nvPr/>
        </p:nvSpPr>
        <p:spPr>
          <a:xfrm xmlns:a="http://schemas.openxmlformats.org/drawingml/2006/main">
            <a:off x="457200" y="238125"/>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F4501E"/>
                </a:solidFill>
                <a:latin typeface="Apfel Grotezk"/>
                <a:ea typeface="Apfel Grotezk"/>
                <a:cs typeface="Apfel Grotezk"/>
              </a:defRPr>
            </a:pPr>
            <a:r>
              <a:rPr sz="1275" b="1">
                <a:solidFill>
                  <a:srgbClr val="F4501E"/>
                </a:solidFill>
                <a:latin typeface="Apfel Grotezk"/>
                <a:ea typeface="Apfel Grotezk"/>
                <a:cs typeface="Apfel Grotezk"/>
              </a:rPr>
              <a:t>FROM BASE MAP TO USE-IT MAP</a:t>
            </a:r>
          </a:p>
        </p:txBody>
      </p:sp>
      <p:sp>
        <p:nvSpPr>
          <p:cNvPr id="2" name="">
            <a:extLst xmlns:a="http://schemas.openxmlformats.org/drawingml/2006/main">
              <a:ext uri="{FF2B5EF4-FFF2-40B4-BE49-F238E27FC236}">
                <a16:creationId xmlns:a16="http://schemas.microsoft.com/office/drawing/2014/main" id="{E6CB5CBB-A79D-47CC-92EC-604FC291B22E}"/>
              </a:ext>
            </a:extLst>
          </p:cNvPr>
          <p:cNvSpPr>
            <a:spLocks xmlns:a="http://schemas.openxmlformats.org/drawingml/2006/main" noGrp="1"/>
          </p:cNvSpPr>
          <p:nvPr/>
        </p:nvSpPr>
        <p:spPr>
          <a:xfrm xmlns:a="http://schemas.openxmlformats.org/drawingml/2006/main">
            <a:off x="457200" y="638175"/>
            <a:ext cx="11239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125" b="0">
                <a:solidFill>
                  <a:srgbClr val="18180F"/>
                </a:solidFill>
                <a:latin typeface="Mayonnaise Black"/>
                <a:ea typeface="Mayonnaise Black"/>
                <a:cs typeface="Mayonnaise Black"/>
              </a:defRPr>
            </a:pPr>
            <a:r>
              <a:rPr sz="4125" b="0">
                <a:solidFill>
                  <a:srgbClr val="18180F"/>
                </a:solidFill>
                <a:latin typeface="Mayonnaise Black"/>
                <a:ea typeface="Mayonnaise Black"/>
                <a:cs typeface="Mayonnaise Black"/>
              </a:rPr>
              <a:t>YOU BRING THE LOCAL KNOWLEDGE</a:t>
            </a:r>
          </a:p>
        </p:txBody>
      </p:sp>
      <p:sp>
        <p:nvSpPr>
          <p:cNvPr id="3" name="">
            <a:extLst xmlns:a="http://schemas.openxmlformats.org/drawingml/2006/main">
              <a:ext uri="{FF2B5EF4-FFF2-40B4-BE49-F238E27FC236}">
                <a16:creationId xmlns:a16="http://schemas.microsoft.com/office/drawing/2014/main" id="{2D334B0F-7EDD-4102-9F89-132ADA5D5A71}"/>
              </a:ext>
            </a:extLst>
          </p:cNvPr>
          <p:cNvSpPr>
            <a:spLocks xmlns:a="http://schemas.openxmlformats.org/drawingml/2006/main" noGrp="1"/>
          </p:cNvSpPr>
          <p:nvPr/>
        </p:nvSpPr>
        <p:spPr>
          <a:xfrm xmlns:a="http://schemas.openxmlformats.org/drawingml/2006/main">
            <a:off x="457200" y="6429375"/>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18180F"/>
                </a:solidFill>
                <a:latin typeface="Apfel Grotezk"/>
                <a:ea typeface="Apfel Grotezk"/>
                <a:cs typeface="Apfel Grotezk"/>
              </a:defRPr>
            </a:pPr>
            <a:r>
              <a:rPr sz="1125" b="0">
                <a:solidFill>
                  <a:srgbClr val="18180F"/>
                </a:solidFill>
                <a:latin typeface="Apfel Grotezk"/>
                <a:ea typeface="Apfel Grotezk"/>
                <a:cs typeface="Apfel Grotezk"/>
              </a:rPr>
              <a:t>MAPEXPORT  /  USE-IT     ·     Map data © OpenStreetMap contributors</a:t>
            </a:r>
          </a:p>
        </p:txBody>
      </p:sp>
      <p:sp>
        <p:nvSpPr>
          <p:cNvPr id="4" name="">
            <a:extLst xmlns:a="http://schemas.openxmlformats.org/drawingml/2006/main">
              <a:ext uri="{FF2B5EF4-FFF2-40B4-BE49-F238E27FC236}">
                <a16:creationId xmlns:a16="http://schemas.microsoft.com/office/drawing/2014/main" id="{ACF2E7EC-9778-4D8D-866D-53675561093C}"/>
              </a:ext>
            </a:extLst>
          </p:cNvPr>
          <p:cNvSpPr>
            <a:spLocks xmlns:a="http://schemas.openxmlformats.org/drawingml/2006/main" noGrp="1"/>
          </p:cNvSpPr>
          <p:nvPr/>
        </p:nvSpPr>
        <p:spPr>
          <a:xfrm xmlns:a="http://schemas.openxmlformats.org/drawingml/2006/main">
            <a:off x="11144250" y="6429375"/>
            <a:ext cx="590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18180F"/>
                </a:solidFill>
                <a:latin typeface="Apfel Grotezk"/>
                <a:ea typeface="Apfel Grotezk"/>
                <a:cs typeface="Apfel Grotezk"/>
              </a:defRPr>
            </a:pPr>
            <a:r>
              <a:rPr sz="1125" b="0">
                <a:solidFill>
                  <a:srgbClr val="18180F"/>
                </a:solidFill>
                <a:latin typeface="Apfel Grotezk"/>
                <a:ea typeface="Apfel Grotezk"/>
                <a:cs typeface="Apfel Grotezk"/>
              </a:rPr>
              <a:t>11</a:t>
            </a:r>
          </a:p>
        </p:txBody>
      </p:sp>
      <p:sp>
        <p:nvSpPr>
          <p:cNvPr id="5" name="">
            <a:extLst xmlns:a="http://schemas.openxmlformats.org/drawingml/2006/main">
              <a:ext uri="{FF2B5EF4-FFF2-40B4-BE49-F238E27FC236}">
                <a16:creationId xmlns:a16="http://schemas.microsoft.com/office/drawing/2014/main" id="{5B3EEE4E-7E93-4095-BC20-C3E6FEB799D7}"/>
              </a:ext>
            </a:extLst>
          </p:cNvPr>
          <p:cNvSpPr>
            <a:spLocks xmlns:a="http://schemas.openxmlformats.org/drawingml/2006/main" noGrp="1"/>
          </p:cNvSpPr>
          <p:nvPr/>
        </p:nvSpPr>
        <p:spPr>
          <a:xfrm xmlns:a="http://schemas.openxmlformats.org/drawingml/2006/main">
            <a:off x="457200" y="1990725"/>
            <a:ext cx="532447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0">
                <a:solidFill>
                  <a:srgbClr val="F4501E"/>
                </a:solidFill>
                <a:latin typeface="Mayonnaise Black"/>
                <a:ea typeface="Mayonnaise Black"/>
                <a:cs typeface="Mayonnaise Black"/>
              </a:defRPr>
            </a:pPr>
            <a:r>
              <a:rPr sz="3600" b="0">
                <a:solidFill>
                  <a:srgbClr val="F4501E"/>
                </a:solidFill>
                <a:latin typeface="Mayonnaise Black"/>
                <a:ea typeface="Mayonnaise Black"/>
                <a:cs typeface="Mayonnaise Black"/>
              </a:rPr>
              <a:t>MapExport supplies</a:t>
            </a:r>
          </a:p>
          <a:p xmlns:a="http://schemas.openxmlformats.org/drawingml/2006/main">
            <a:pPr>
              <a:defRPr sz="3600" b="0">
                <a:solidFill>
                  <a:srgbClr val="F4501E"/>
                </a:solidFill>
                <a:latin typeface="Mayonnaise Black"/>
                <a:ea typeface="Mayonnaise Black"/>
                <a:cs typeface="Mayonnaise Black"/>
              </a:defRPr>
            </a:pPr>
            <a:r>
              <a:rPr sz="3600" b="0">
                <a:solidFill>
                  <a:srgbClr val="F4501E"/>
                </a:solidFill>
                <a:latin typeface="Mayonnaise Black"/>
                <a:ea typeface="Mayonnaise Black"/>
                <a:cs typeface="Mayonnaise Black"/>
              </a:rPr>
              <a:t>the groundwork.</a:t>
            </a:r>
          </a:p>
        </p:txBody>
      </p:sp>
      <p:sp>
        <p:nvSpPr>
          <p:cNvPr id="6" name="">
            <a:extLst xmlns:a="http://schemas.openxmlformats.org/drawingml/2006/main">
              <a:ext uri="{FF2B5EF4-FFF2-40B4-BE49-F238E27FC236}">
                <a16:creationId xmlns:a16="http://schemas.microsoft.com/office/drawing/2014/main" id="{BE3F0958-E6A0-4452-912C-A917520F3702}"/>
              </a:ext>
            </a:extLst>
          </p:cNvPr>
          <p:cNvSpPr>
            <a:spLocks xmlns:a="http://schemas.openxmlformats.org/drawingml/2006/main" noGrp="1"/>
          </p:cNvSpPr>
          <p:nvPr/>
        </p:nvSpPr>
        <p:spPr>
          <a:xfrm xmlns:a="http://schemas.openxmlformats.org/drawingml/2006/main">
            <a:off x="457200" y="3838575"/>
            <a:ext cx="547687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0">
                <a:solidFill>
                  <a:srgbClr val="18180F"/>
                </a:solidFill>
                <a:latin typeface="Mayonnaise Black"/>
                <a:ea typeface="Mayonnaise Black"/>
                <a:cs typeface="Mayonnaise Black"/>
              </a:defRPr>
            </a:pPr>
            <a:r>
              <a:rPr sz="3600" b="0">
                <a:solidFill>
                  <a:srgbClr val="18180F"/>
                </a:solidFill>
                <a:latin typeface="Mayonnaise Black"/>
                <a:ea typeface="Mayonnaise Black"/>
                <a:cs typeface="Mayonnaise Black"/>
              </a:rPr>
              <a:t>You decide what</a:t>
            </a:r>
          </a:p>
          <a:p xmlns:a="http://schemas.openxmlformats.org/drawingml/2006/main">
            <a:pPr>
              <a:defRPr sz="3600" b="0">
                <a:solidFill>
                  <a:srgbClr val="18180F"/>
                </a:solidFill>
                <a:latin typeface="Mayonnaise Black"/>
                <a:ea typeface="Mayonnaise Black"/>
                <a:cs typeface="Mayonnaise Black"/>
              </a:defRPr>
            </a:pPr>
            <a:r>
              <a:rPr sz="3600" b="0">
                <a:solidFill>
                  <a:srgbClr val="18180F"/>
                </a:solidFill>
                <a:latin typeface="Mayonnaise Black"/>
                <a:ea typeface="Mayonnaise Black"/>
                <a:cs typeface="Mayonnaise Black"/>
              </a:rPr>
              <a:t>matters to visitors.</a:t>
            </a:r>
          </a:p>
        </p:txBody>
      </p:sp>
      <p:sp>
        <p:nvSpPr>
          <p:cNvPr id="7" name="">
            <a:extLst xmlns:a="http://schemas.openxmlformats.org/drawingml/2006/main">
              <a:ext uri="{FF2B5EF4-FFF2-40B4-BE49-F238E27FC236}">
                <a16:creationId xmlns:a16="http://schemas.microsoft.com/office/drawing/2014/main" id="{4926F843-7397-44B6-99A8-C0C63E545C2D}"/>
              </a:ext>
            </a:extLst>
          </p:cNvPr>
          <p:cNvSpPr>
            <a:spLocks xmlns:a="http://schemas.openxmlformats.org/drawingml/2006/main" noGrp="1"/>
          </p:cNvSpPr>
          <p:nvPr/>
        </p:nvSpPr>
        <p:spPr>
          <a:xfrm xmlns:a="http://schemas.openxmlformats.org/drawingml/2006/main">
            <a:off x="6677025" y="2047875"/>
            <a:ext cx="5114925" cy="3562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180F"/>
                </a:solidFill>
                <a:latin typeface="Apfel Grotezk"/>
                <a:ea typeface="Apfel Grotezk"/>
                <a:cs typeface="Apfel Grotezk"/>
              </a:defRPr>
            </a:pPr>
            <a:r>
              <a:rPr sz="2175" b="0">
                <a:solidFill>
                  <a:srgbClr val="18180F"/>
                </a:solidFill>
                <a:latin typeface="Apfel Grotezk"/>
                <a:ea typeface="Apfel Grotezk"/>
                <a:cs typeface="Apfel Grotezk"/>
              </a:rPr>
              <a:t>Choose and position your local tips.</a:t>
            </a:r>
          </a:p>
          <a:p xmlns:a="http://schemas.openxmlformats.org/drawingml/2006/main">
            <a:r>
              <a:t/>
            </a:r>
          </a:p>
          <a:p xmlns:a="http://schemas.openxmlformats.org/drawingml/2006/main">
            <a:pPr>
              <a:defRPr sz="2175" b="0">
                <a:solidFill>
                  <a:srgbClr val="18180F"/>
                </a:solidFill>
                <a:latin typeface="Apfel Grotezk"/>
                <a:ea typeface="Apfel Grotezk"/>
                <a:cs typeface="Apfel Grotezk"/>
              </a:defRPr>
            </a:pPr>
            <a:r>
              <a:rPr sz="2175" b="0">
                <a:solidFill>
                  <a:srgbClr val="18180F"/>
                </a:solidFill>
                <a:latin typeface="Apfel Grotezk"/>
                <a:ea typeface="Apfel Grotezk"/>
                <a:cs typeface="Apfel Grotezk"/>
              </a:rPr>
              <a:t>Add illustrations, symbols and character.</a:t>
            </a:r>
          </a:p>
          <a:p xmlns:a="http://schemas.openxmlformats.org/drawingml/2006/main">
            <a:r>
              <a:t/>
            </a:r>
          </a:p>
          <a:p xmlns:a="http://schemas.openxmlformats.org/drawingml/2006/main">
            <a:pPr>
              <a:defRPr sz="2175" b="0">
                <a:solidFill>
                  <a:srgbClr val="18180F"/>
                </a:solidFill>
                <a:latin typeface="Apfel Grotezk"/>
                <a:ea typeface="Apfel Grotezk"/>
                <a:cs typeface="Apfel Grotezk"/>
              </a:defRPr>
            </a:pPr>
            <a:r>
              <a:rPr sz="2175" b="0">
                <a:solidFill>
                  <a:srgbClr val="18180F"/>
                </a:solidFill>
                <a:latin typeface="Apfel Grotezk"/>
                <a:ea typeface="Apfel Grotezk"/>
                <a:cs typeface="Apfel Grotezk"/>
              </a:rPr>
              <a:t>Check names and the street hierarchy.</a:t>
            </a:r>
          </a:p>
          <a:p xmlns:a="http://schemas.openxmlformats.org/drawingml/2006/main">
            <a:r>
              <a:t/>
            </a:r>
          </a:p>
          <a:p xmlns:a="http://schemas.openxmlformats.org/drawingml/2006/main">
            <a:pPr>
              <a:defRPr sz="2175" b="0">
                <a:solidFill>
                  <a:srgbClr val="18180F"/>
                </a:solidFill>
                <a:latin typeface="Apfel Grotezk"/>
                <a:ea typeface="Apfel Grotezk"/>
                <a:cs typeface="Apfel Grotezk"/>
              </a:defRPr>
            </a:pPr>
            <a:r>
              <a:rPr sz="2175" b="0">
                <a:solidFill>
                  <a:srgbClr val="18180F"/>
                </a:solidFill>
                <a:latin typeface="Apfel Grotezk"/>
                <a:ea typeface="Apfel Grotezk"/>
                <a:cs typeface="Apfel Grotezk"/>
              </a:rPr>
              <a:t>Proof the map at its final printed size.</a:t>
            </a:r>
          </a:p>
        </p:txBody>
      </p:sp>
      <p:sp>
        <p:nvSpPr>
          <p:cNvPr id="8" name="">
            <a:extLst xmlns:a="http://schemas.openxmlformats.org/drawingml/2006/main">
              <a:ext uri="{FF2B5EF4-FFF2-40B4-BE49-F238E27FC236}">
                <a16:creationId xmlns:a16="http://schemas.microsoft.com/office/drawing/2014/main" id="{C2B434C1-0519-41F5-9AF5-D4C01C2D7E62}"/>
              </a:ext>
            </a:extLst>
          </p:cNvPr>
          <p:cNvSpPr>
            <a:spLocks xmlns:a="http://schemas.openxmlformats.org/drawingml/2006/main" noGrp="1"/>
          </p:cNvSpPr>
          <p:nvPr/>
        </p:nvSpPr>
        <p:spPr>
          <a:xfrm xmlns:a="http://schemas.openxmlformats.org/drawingml/2006/main">
            <a:off x="6677025" y="5772150"/>
            <a:ext cx="5000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F4501E"/>
                </a:solidFill>
                <a:latin typeface="Apfel Grotezk"/>
                <a:ea typeface="Apfel Grotezk"/>
                <a:cs typeface="Apfel Grotezk"/>
              </a:defRPr>
            </a:pPr>
            <a:r>
              <a:rPr sz="1575" b="0">
                <a:solidFill>
                  <a:srgbClr val="F4501E"/>
                </a:solidFill>
                <a:latin typeface="Apfel Grotezk"/>
                <a:ea typeface="Apfel Grotezk"/>
                <a:cs typeface="Apfel Grotezk"/>
              </a:rPr>
              <a:t>Keep OpenStreetMap attribution in the finished map.</a:t>
            </a:r>
          </a:p>
        </p:txBody>
      </p:sp>
    </p:spTree>
    <p:extLst>
      <p:ext uri="{BB962C8B-B14F-4D97-AF65-F5344CB8AC3E}">
        <p14:creationId xmlns:p14="http://schemas.microsoft.com/office/powerpoint/2010/main" val="186162688"/>
      </p:ext>
    </p:extLst>
  </p:cSld>
</p:sld>
</file>

<file path=ppt/slides/slide12.xml><?xml version="1.0" encoding="utf-8"?>
<p:sld xmlns:p="http://schemas.openxmlformats.org/presentationml/2006/main">
  <p:cSld>
    <p:bg>
      <p:bgPr>
        <a:solidFill xmlns:a="http://schemas.openxmlformats.org/drawingml/2006/main">
          <a:srgbClr val="F4501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EE1F624-6789-447A-9AA7-9728482FE290}"/>
              </a:ext>
            </a:extLst>
          </p:cNvPr>
          <p:cNvSpPr>
            <a:spLocks xmlns:a="http://schemas.openxmlformats.org/drawingml/2006/main" noGrp="1"/>
          </p:cNvSpPr>
          <p:nvPr/>
        </p:nvSpPr>
        <p:spPr>
          <a:xfrm xmlns:a="http://schemas.openxmlformats.org/drawingml/2006/main">
            <a:off x="457200" y="238125"/>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FEF9E4"/>
                </a:solidFill>
                <a:latin typeface="Apfel Grotezk"/>
                <a:ea typeface="Apfel Grotezk"/>
                <a:cs typeface="Apfel Grotezk"/>
              </a:defRPr>
            </a:pPr>
            <a:r>
              <a:rPr sz="1275" b="1">
                <a:solidFill>
                  <a:srgbClr val="FEF9E4"/>
                </a:solidFill>
                <a:latin typeface="Apfel Grotezk"/>
                <a:ea typeface="Apfel Grotezk"/>
                <a:cs typeface="Apfel Grotezk"/>
              </a:rPr>
              <a:t>HANDS-ON / SUGGESTED 20 MINUTES</a:t>
            </a:r>
          </a:p>
        </p:txBody>
      </p:sp>
      <p:sp>
        <p:nvSpPr>
          <p:cNvPr id="2" name="">
            <a:extLst xmlns:a="http://schemas.openxmlformats.org/drawingml/2006/main">
              <a:ext uri="{FF2B5EF4-FFF2-40B4-BE49-F238E27FC236}">
                <a16:creationId xmlns:a16="http://schemas.microsoft.com/office/drawing/2014/main" id="{5CC23DA4-F741-467B-9A88-A3AA97B36D86}"/>
              </a:ext>
            </a:extLst>
          </p:cNvPr>
          <p:cNvSpPr>
            <a:spLocks xmlns:a="http://schemas.openxmlformats.org/drawingml/2006/main" noGrp="1"/>
          </p:cNvSpPr>
          <p:nvPr/>
        </p:nvSpPr>
        <p:spPr>
          <a:xfrm xmlns:a="http://schemas.openxmlformats.org/drawingml/2006/main">
            <a:off x="457200" y="638175"/>
            <a:ext cx="11239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125" b="0">
                <a:solidFill>
                  <a:srgbClr val="FEF9E4"/>
                </a:solidFill>
                <a:latin typeface="Mayonnaise Black"/>
                <a:ea typeface="Mayonnaise Black"/>
                <a:cs typeface="Mayonnaise Black"/>
              </a:defRPr>
            </a:pPr>
            <a:r>
              <a:rPr sz="4125" b="0">
                <a:solidFill>
                  <a:srgbClr val="FEF9E4"/>
                </a:solidFill>
                <a:latin typeface="Mayonnaise Black"/>
                <a:ea typeface="Mayonnaise Black"/>
                <a:cs typeface="Mayonnaise Black"/>
              </a:rPr>
              <a:t>YOUR CITY. YOUR TURN.</a:t>
            </a:r>
          </a:p>
        </p:txBody>
      </p:sp>
      <p:sp>
        <p:nvSpPr>
          <p:cNvPr id="3" name="">
            <a:extLst xmlns:a="http://schemas.openxmlformats.org/drawingml/2006/main">
              <a:ext uri="{FF2B5EF4-FFF2-40B4-BE49-F238E27FC236}">
                <a16:creationId xmlns:a16="http://schemas.microsoft.com/office/drawing/2014/main" id="{D40D5B08-0B1A-4BD4-8EFE-0B683416EF54}"/>
              </a:ext>
            </a:extLst>
          </p:cNvPr>
          <p:cNvSpPr>
            <a:spLocks xmlns:a="http://schemas.openxmlformats.org/drawingml/2006/main" noGrp="1"/>
          </p:cNvSpPr>
          <p:nvPr/>
        </p:nvSpPr>
        <p:spPr>
          <a:xfrm xmlns:a="http://schemas.openxmlformats.org/drawingml/2006/main">
            <a:off x="457200" y="6429375"/>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FEF9E4"/>
                </a:solidFill>
                <a:latin typeface="Apfel Grotezk"/>
                <a:ea typeface="Apfel Grotezk"/>
                <a:cs typeface="Apfel Grotezk"/>
              </a:defRPr>
            </a:pPr>
            <a:r>
              <a:rPr sz="1125" b="0">
                <a:solidFill>
                  <a:srgbClr val="FEF9E4"/>
                </a:solidFill>
                <a:latin typeface="Apfel Grotezk"/>
                <a:ea typeface="Apfel Grotezk"/>
                <a:cs typeface="Apfel Grotezk"/>
              </a:rPr>
              <a:t>MAPEXPORT  /  USE-IT     ·     Map data © OpenStreetMap contributors</a:t>
            </a:r>
          </a:p>
        </p:txBody>
      </p:sp>
      <p:sp>
        <p:nvSpPr>
          <p:cNvPr id="4" name="">
            <a:extLst xmlns:a="http://schemas.openxmlformats.org/drawingml/2006/main">
              <a:ext uri="{FF2B5EF4-FFF2-40B4-BE49-F238E27FC236}">
                <a16:creationId xmlns:a16="http://schemas.microsoft.com/office/drawing/2014/main" id="{141EDED1-6606-4114-81C8-7C23E9E2CF04}"/>
              </a:ext>
            </a:extLst>
          </p:cNvPr>
          <p:cNvSpPr>
            <a:spLocks xmlns:a="http://schemas.openxmlformats.org/drawingml/2006/main" noGrp="1"/>
          </p:cNvSpPr>
          <p:nvPr/>
        </p:nvSpPr>
        <p:spPr>
          <a:xfrm xmlns:a="http://schemas.openxmlformats.org/drawingml/2006/main">
            <a:off x="11144250" y="6429375"/>
            <a:ext cx="590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FEF9E4"/>
                </a:solidFill>
                <a:latin typeface="Apfel Grotezk"/>
                <a:ea typeface="Apfel Grotezk"/>
                <a:cs typeface="Apfel Grotezk"/>
              </a:defRPr>
            </a:pPr>
            <a:r>
              <a:rPr sz="1125" b="0">
                <a:solidFill>
                  <a:srgbClr val="FEF9E4"/>
                </a:solidFill>
                <a:latin typeface="Apfel Grotezk"/>
                <a:ea typeface="Apfel Grotezk"/>
                <a:cs typeface="Apfel Grotezk"/>
              </a:rPr>
              <a:t>12</a:t>
            </a:r>
          </a:p>
        </p:txBody>
      </p:sp>
      <p:sp>
        <p:nvSpPr>
          <p:cNvPr id="5" name="">
            <a:extLst xmlns:a="http://schemas.openxmlformats.org/drawingml/2006/main">
              <a:ext uri="{FF2B5EF4-FFF2-40B4-BE49-F238E27FC236}">
                <a16:creationId xmlns:a16="http://schemas.microsoft.com/office/drawing/2014/main" id="{7DED932B-30E6-488F-884E-3395F87D7D2C}"/>
              </a:ext>
            </a:extLst>
          </p:cNvPr>
          <p:cNvSpPr>
            <a:spLocks xmlns:a="http://schemas.openxmlformats.org/drawingml/2006/main" noGrp="1"/>
          </p:cNvSpPr>
          <p:nvPr/>
        </p:nvSpPr>
        <p:spPr>
          <a:xfrm xmlns:a="http://schemas.openxmlformats.org/drawingml/2006/main">
            <a:off x="457200" y="1914525"/>
            <a:ext cx="11125200"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625" b="0">
                <a:solidFill>
                  <a:srgbClr val="FEF9E4"/>
                </a:solidFill>
                <a:latin typeface="Mayonnaise Black"/>
                <a:ea typeface="Mayonnaise Black"/>
                <a:cs typeface="Mayonnaise Black"/>
              </a:defRPr>
            </a:pPr>
            <a:r>
              <a:rPr sz="5625" b="0">
                <a:solidFill>
                  <a:srgbClr val="FEF9E4"/>
                </a:solidFill>
                <a:latin typeface="Mayonnaise Black"/>
                <a:ea typeface="Mayonnaise Black"/>
                <a:cs typeface="Mayonnaise Black"/>
              </a:rPr>
              <a:t>Export a small area.</a:t>
            </a:r>
          </a:p>
          <a:p xmlns:a="http://schemas.openxmlformats.org/drawingml/2006/main">
            <a:pPr>
              <a:defRPr sz="5625" b="0">
                <a:solidFill>
                  <a:srgbClr val="FEF9E4"/>
                </a:solidFill>
                <a:latin typeface="Mayonnaise Black"/>
                <a:ea typeface="Mayonnaise Black"/>
                <a:cs typeface="Mayonnaise Black"/>
              </a:defRPr>
            </a:pPr>
            <a:r>
              <a:rPr sz="5625" b="0">
                <a:solidFill>
                  <a:srgbClr val="FEF9E4"/>
                </a:solidFill>
                <a:latin typeface="Mayonnaise Black"/>
                <a:ea typeface="Mayonnaise Black"/>
                <a:cs typeface="Mayonnaise Black"/>
              </a:rPr>
              <a:t>Open it in your editor.</a:t>
            </a:r>
          </a:p>
          <a:p xmlns:a="http://schemas.openxmlformats.org/drawingml/2006/main">
            <a:pPr>
              <a:defRPr sz="5625" b="0">
                <a:solidFill>
                  <a:srgbClr val="FEF9E4"/>
                </a:solidFill>
                <a:latin typeface="Mayonnaise Black"/>
                <a:ea typeface="Mayonnaise Black"/>
                <a:cs typeface="Mayonnaise Black"/>
              </a:defRPr>
            </a:pPr>
            <a:r>
              <a:rPr sz="5625" b="0">
                <a:solidFill>
                  <a:srgbClr val="FEF9E4"/>
                </a:solidFill>
                <a:latin typeface="Mayonnaise Black"/>
                <a:ea typeface="Mayonnaise Black"/>
                <a:cs typeface="Mayonnaise Black"/>
              </a:rPr>
              <a:t>Make one change.</a:t>
            </a:r>
          </a:p>
        </p:txBody>
      </p:sp>
      <p:sp>
        <p:nvSpPr>
          <p:cNvPr id="6" name="">
            <a:extLst xmlns:a="http://schemas.openxmlformats.org/drawingml/2006/main">
              <a:ext uri="{FF2B5EF4-FFF2-40B4-BE49-F238E27FC236}">
                <a16:creationId xmlns:a16="http://schemas.microsoft.com/office/drawing/2014/main" id="{88ACA0C7-B172-4ECB-B7DE-D35E63174761}"/>
              </a:ext>
            </a:extLst>
          </p:cNvPr>
          <p:cNvSpPr>
            <a:spLocks xmlns:a="http://schemas.openxmlformats.org/drawingml/2006/main" noGrp="1"/>
          </p:cNvSpPr>
          <p:nvPr/>
        </p:nvSpPr>
        <p:spPr>
          <a:xfrm xmlns:a="http://schemas.openxmlformats.org/drawingml/2006/main">
            <a:off x="457200" y="5562600"/>
            <a:ext cx="111728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0">
                <a:solidFill>
                  <a:srgbClr val="FEF9E4"/>
                </a:solidFill>
                <a:latin typeface="Apfel Grotezk"/>
                <a:ea typeface="Apfel Grotezk"/>
                <a:cs typeface="Apfel Grotezk"/>
              </a:defRPr>
            </a:pPr>
            <a:r>
              <a:rPr sz="2775" b="0">
                <a:solidFill>
                  <a:srgbClr val="FEF9E4"/>
                </a:solidFill>
                <a:latin typeface="Apfel Grotezk"/>
                <a:ea typeface="Apfel Grotezk"/>
                <a:cs typeface="Apfel Grotezk"/>
              </a:rPr>
              <a:t>coen.at/mapexport</a:t>
            </a:r>
          </a:p>
        </p:txBody>
      </p:sp>
    </p:spTree>
    <p:extLst>
      <p:ext uri="{BB962C8B-B14F-4D97-AF65-F5344CB8AC3E}">
        <p14:creationId xmlns:p14="http://schemas.microsoft.com/office/powerpoint/2010/main" val="2076875980"/>
      </p:ext>
    </p:extLst>
  </p:cSld>
</p:sld>
</file>

<file path=ppt/slides/slide13.xml><?xml version="1.0" encoding="utf-8"?>
<p:sld xmlns:p="http://schemas.openxmlformats.org/presentationml/2006/main">
  <p:cSld>
    <p:bg>
      <p:bgPr>
        <a:solidFill xmlns:a="http://schemas.openxmlformats.org/drawingml/2006/main">
          <a:srgbClr val="FEF9E4"/>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3D03DCC1-BEA6-4418-93F8-B53FBC3E3E7B}"/>
              </a:ext>
            </a:extLst>
          </p:cNvPr>
          <p:cNvSpPr>
            <a:spLocks xmlns:a="http://schemas.openxmlformats.org/drawingml/2006/main" noGrp="1"/>
          </p:cNvSpPr>
          <p:nvPr/>
        </p:nvSpPr>
        <p:spPr>
          <a:xfrm xmlns:a="http://schemas.openxmlformats.org/drawingml/2006/main">
            <a:off x="457200" y="238125"/>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F4501E"/>
                </a:solidFill>
                <a:latin typeface="Apfel Grotezk"/>
                <a:ea typeface="Apfel Grotezk"/>
                <a:cs typeface="Apfel Grotezk"/>
              </a:defRPr>
            </a:pPr>
            <a:r>
              <a:rPr sz="1275" b="1">
                <a:solidFill>
                  <a:srgbClr val="F4501E"/>
                </a:solidFill>
                <a:latin typeface="Apfel Grotezk"/>
                <a:ea typeface="Apfel Grotezk"/>
                <a:cs typeface="Apfel Grotezk"/>
              </a:rPr>
              <a:t>HANDS-ON / PART 1</a:t>
            </a:r>
          </a:p>
        </p:txBody>
      </p:sp>
      <p:sp>
        <p:nvSpPr>
          <p:cNvPr id="2" name="">
            <a:extLst xmlns:a="http://schemas.openxmlformats.org/drawingml/2006/main">
              <a:ext uri="{FF2B5EF4-FFF2-40B4-BE49-F238E27FC236}">
                <a16:creationId xmlns:a16="http://schemas.microsoft.com/office/drawing/2014/main" id="{99B21259-BA9F-4DFD-846F-7ED115C438C8}"/>
              </a:ext>
            </a:extLst>
          </p:cNvPr>
          <p:cNvSpPr>
            <a:spLocks xmlns:a="http://schemas.openxmlformats.org/drawingml/2006/main" noGrp="1"/>
          </p:cNvSpPr>
          <p:nvPr/>
        </p:nvSpPr>
        <p:spPr>
          <a:xfrm xmlns:a="http://schemas.openxmlformats.org/drawingml/2006/main">
            <a:off x="457200" y="638175"/>
            <a:ext cx="11239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125" b="0">
                <a:solidFill>
                  <a:srgbClr val="18180F"/>
                </a:solidFill>
                <a:latin typeface="Mayonnaise Black"/>
                <a:ea typeface="Mayonnaise Black"/>
                <a:cs typeface="Mayonnaise Black"/>
              </a:defRPr>
            </a:pPr>
            <a:r>
              <a:rPr sz="4125" b="0">
                <a:solidFill>
                  <a:srgbClr val="18180F"/>
                </a:solidFill>
                <a:latin typeface="Mayonnaise Black"/>
                <a:ea typeface="Mayonnaise Black"/>
                <a:cs typeface="Mayonnaise Black"/>
              </a:rPr>
              <a:t>YOUR FIRST EXPORT</a:t>
            </a:r>
          </a:p>
        </p:txBody>
      </p:sp>
      <p:sp>
        <p:nvSpPr>
          <p:cNvPr id="3" name="">
            <a:extLst xmlns:a="http://schemas.openxmlformats.org/drawingml/2006/main">
              <a:ext uri="{FF2B5EF4-FFF2-40B4-BE49-F238E27FC236}">
                <a16:creationId xmlns:a16="http://schemas.microsoft.com/office/drawing/2014/main" id="{E6A1EEC5-E3F9-4557-8123-8A50AAD2EBE4}"/>
              </a:ext>
            </a:extLst>
          </p:cNvPr>
          <p:cNvSpPr>
            <a:spLocks xmlns:a="http://schemas.openxmlformats.org/drawingml/2006/main" noGrp="1"/>
          </p:cNvSpPr>
          <p:nvPr/>
        </p:nvSpPr>
        <p:spPr>
          <a:xfrm xmlns:a="http://schemas.openxmlformats.org/drawingml/2006/main">
            <a:off x="457200" y="6429375"/>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18180F"/>
                </a:solidFill>
                <a:latin typeface="Apfel Grotezk"/>
                <a:ea typeface="Apfel Grotezk"/>
                <a:cs typeface="Apfel Grotezk"/>
              </a:defRPr>
            </a:pPr>
            <a:r>
              <a:rPr sz="1125" b="0">
                <a:solidFill>
                  <a:srgbClr val="18180F"/>
                </a:solidFill>
                <a:latin typeface="Apfel Grotezk"/>
                <a:ea typeface="Apfel Grotezk"/>
                <a:cs typeface="Apfel Grotezk"/>
              </a:rPr>
              <a:t>MAPEXPORT  /  USE-IT     ·     Map data © OpenStreetMap contributors</a:t>
            </a:r>
          </a:p>
        </p:txBody>
      </p:sp>
      <p:sp>
        <p:nvSpPr>
          <p:cNvPr id="4" name="">
            <a:extLst xmlns:a="http://schemas.openxmlformats.org/drawingml/2006/main">
              <a:ext uri="{FF2B5EF4-FFF2-40B4-BE49-F238E27FC236}">
                <a16:creationId xmlns:a16="http://schemas.microsoft.com/office/drawing/2014/main" id="{479B0BFF-07C0-4D24-A6F7-8968CBA8425F}"/>
              </a:ext>
            </a:extLst>
          </p:cNvPr>
          <p:cNvSpPr>
            <a:spLocks xmlns:a="http://schemas.openxmlformats.org/drawingml/2006/main" noGrp="1"/>
          </p:cNvSpPr>
          <p:nvPr/>
        </p:nvSpPr>
        <p:spPr>
          <a:xfrm xmlns:a="http://schemas.openxmlformats.org/drawingml/2006/main">
            <a:off x="11144250" y="6429375"/>
            <a:ext cx="590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18180F"/>
                </a:solidFill>
                <a:latin typeface="Apfel Grotezk"/>
                <a:ea typeface="Apfel Grotezk"/>
                <a:cs typeface="Apfel Grotezk"/>
              </a:defRPr>
            </a:pPr>
            <a:r>
              <a:rPr sz="1125" b="0">
                <a:solidFill>
                  <a:srgbClr val="18180F"/>
                </a:solidFill>
                <a:latin typeface="Apfel Grotezk"/>
                <a:ea typeface="Apfel Grotezk"/>
                <a:cs typeface="Apfel Grotezk"/>
              </a:rPr>
              <a:t>13</a:t>
            </a:r>
          </a:p>
        </p:txBody>
      </p:sp>
      <p:sp>
        <p:nvSpPr>
          <p:cNvPr id="5" name="">
            <a:extLst xmlns:a="http://schemas.openxmlformats.org/drawingml/2006/main">
              <a:ext uri="{FF2B5EF4-FFF2-40B4-BE49-F238E27FC236}">
                <a16:creationId xmlns:a16="http://schemas.microsoft.com/office/drawing/2014/main" id="{47B551AA-03C6-4DF1-A8C1-48CBF89B464A}"/>
              </a:ext>
            </a:extLst>
          </p:cNvPr>
          <p:cNvSpPr>
            <a:spLocks xmlns:a="http://schemas.openxmlformats.org/drawingml/2006/main" noGrp="1"/>
          </p:cNvSpPr>
          <p:nvPr/>
        </p:nvSpPr>
        <p:spPr>
          <a:xfrm xmlns:a="http://schemas.openxmlformats.org/drawingml/2006/main">
            <a:off x="457200" y="1762125"/>
            <a:ext cx="685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F4501E"/>
                </a:solidFill>
                <a:latin typeface="Mayonnaise Black"/>
                <a:ea typeface="Mayonnaise Black"/>
                <a:cs typeface="Mayonnaise Black"/>
              </a:defRPr>
            </a:pPr>
            <a:r>
              <a:rPr sz="3000" b="0">
                <a:solidFill>
                  <a:srgbClr val="F4501E"/>
                </a:solidFill>
                <a:latin typeface="Mayonnaise Black"/>
                <a:ea typeface="Mayonnaise Black"/>
                <a:cs typeface="Mayonnaise Black"/>
              </a:rPr>
              <a:t>01</a:t>
            </a:r>
          </a:p>
        </p:txBody>
      </p:sp>
      <p:sp>
        <p:nvSpPr>
          <p:cNvPr id="6" name="">
            <a:extLst xmlns:a="http://schemas.openxmlformats.org/drawingml/2006/main">
              <a:ext uri="{FF2B5EF4-FFF2-40B4-BE49-F238E27FC236}">
                <a16:creationId xmlns:a16="http://schemas.microsoft.com/office/drawing/2014/main" id="{58DA2CA4-91BB-4DA1-AA59-7EE38749A2DC}"/>
              </a:ext>
            </a:extLst>
          </p:cNvPr>
          <p:cNvSpPr>
            <a:spLocks xmlns:a="http://schemas.openxmlformats.org/drawingml/2006/main" noGrp="1"/>
          </p:cNvSpPr>
          <p:nvPr/>
        </p:nvSpPr>
        <p:spPr>
          <a:xfrm xmlns:a="http://schemas.openxmlformats.org/drawingml/2006/main">
            <a:off x="1257300" y="1762125"/>
            <a:ext cx="9486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8180F"/>
                </a:solidFill>
                <a:latin typeface="Apfel Grotezk"/>
                <a:ea typeface="Apfel Grotezk"/>
                <a:cs typeface="Apfel Grotezk"/>
              </a:defRPr>
            </a:pPr>
            <a:r>
              <a:rPr sz="2250" b="1">
                <a:solidFill>
                  <a:srgbClr val="18180F"/>
                </a:solidFill>
                <a:latin typeface="Apfel Grotezk"/>
                <a:ea typeface="Apfel Grotezk"/>
                <a:cs typeface="Apfel Grotezk"/>
              </a:rPr>
              <a:t>Find your city</a:t>
            </a:r>
          </a:p>
        </p:txBody>
      </p:sp>
      <p:sp>
        <p:nvSpPr>
          <p:cNvPr id="7" name="">
            <a:extLst xmlns:a="http://schemas.openxmlformats.org/drawingml/2006/main">
              <a:ext uri="{FF2B5EF4-FFF2-40B4-BE49-F238E27FC236}">
                <a16:creationId xmlns:a16="http://schemas.microsoft.com/office/drawing/2014/main" id="{940904C2-D3EE-4B2F-9E3B-36D4E4186184}"/>
              </a:ext>
            </a:extLst>
          </p:cNvPr>
          <p:cNvSpPr>
            <a:spLocks xmlns:a="http://schemas.openxmlformats.org/drawingml/2006/main" noGrp="1"/>
          </p:cNvSpPr>
          <p:nvPr/>
        </p:nvSpPr>
        <p:spPr>
          <a:xfrm xmlns:a="http://schemas.openxmlformats.org/drawingml/2006/main">
            <a:off x="1257300" y="2200275"/>
            <a:ext cx="94869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180F"/>
                </a:solidFill>
                <a:latin typeface="Apfel Grotezk"/>
                <a:ea typeface="Apfel Grotezk"/>
                <a:cs typeface="Apfel Grotezk"/>
              </a:defRPr>
            </a:pPr>
            <a:r>
              <a:rPr sz="1950" b="0">
                <a:solidFill>
                  <a:srgbClr val="18180F"/>
                </a:solidFill>
                <a:latin typeface="Apfel Grotezk"/>
                <a:ea typeface="Apfel Grotezk"/>
                <a:cs typeface="Apfel Grotezk"/>
              </a:rPr>
              <a:t>Draw a rectangle around a familiar central area.</a:t>
            </a:r>
          </a:p>
        </p:txBody>
      </p:sp>
      <p:sp>
        <p:nvSpPr>
          <p:cNvPr id="8" name="">
            <a:extLst xmlns:a="http://schemas.openxmlformats.org/drawingml/2006/main">
              <a:ext uri="{FF2B5EF4-FFF2-40B4-BE49-F238E27FC236}">
                <a16:creationId xmlns:a16="http://schemas.microsoft.com/office/drawing/2014/main" id="{C6EAD061-86EE-47CB-B1C2-40D1C3D1DB00}"/>
              </a:ext>
            </a:extLst>
          </p:cNvPr>
          <p:cNvSpPr>
            <a:spLocks xmlns:a="http://schemas.openxmlformats.org/drawingml/2006/main" noGrp="1"/>
          </p:cNvSpPr>
          <p:nvPr/>
        </p:nvSpPr>
        <p:spPr>
          <a:xfrm xmlns:a="http://schemas.openxmlformats.org/drawingml/2006/main">
            <a:off x="457200" y="2886075"/>
            <a:ext cx="685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F4501E"/>
                </a:solidFill>
                <a:latin typeface="Mayonnaise Black"/>
                <a:ea typeface="Mayonnaise Black"/>
                <a:cs typeface="Mayonnaise Black"/>
              </a:defRPr>
            </a:pPr>
            <a:r>
              <a:rPr sz="3000" b="0">
                <a:solidFill>
                  <a:srgbClr val="F4501E"/>
                </a:solidFill>
                <a:latin typeface="Mayonnaise Black"/>
                <a:ea typeface="Mayonnaise Black"/>
                <a:cs typeface="Mayonnaise Black"/>
              </a:rPr>
              <a:t>02</a:t>
            </a:r>
          </a:p>
        </p:txBody>
      </p:sp>
      <p:sp>
        <p:nvSpPr>
          <p:cNvPr id="9" name="">
            <a:extLst xmlns:a="http://schemas.openxmlformats.org/drawingml/2006/main">
              <a:ext uri="{FF2B5EF4-FFF2-40B4-BE49-F238E27FC236}">
                <a16:creationId xmlns:a16="http://schemas.microsoft.com/office/drawing/2014/main" id="{AF92DCE7-7800-4B65-9EC2-FCC1ADDA569C}"/>
              </a:ext>
            </a:extLst>
          </p:cNvPr>
          <p:cNvSpPr>
            <a:spLocks xmlns:a="http://schemas.openxmlformats.org/drawingml/2006/main" noGrp="1"/>
          </p:cNvSpPr>
          <p:nvPr/>
        </p:nvSpPr>
        <p:spPr>
          <a:xfrm xmlns:a="http://schemas.openxmlformats.org/drawingml/2006/main">
            <a:off x="1257300" y="2886075"/>
            <a:ext cx="9486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8180F"/>
                </a:solidFill>
                <a:latin typeface="Apfel Grotezk"/>
                <a:ea typeface="Apfel Grotezk"/>
                <a:cs typeface="Apfel Grotezk"/>
              </a:defRPr>
            </a:pPr>
            <a:r>
              <a:rPr sz="2250" b="1">
                <a:solidFill>
                  <a:srgbClr val="18180F"/>
                </a:solidFill>
                <a:latin typeface="Apfel Grotezk"/>
                <a:ea typeface="Apfel Grotezk"/>
                <a:cs typeface="Apfel Grotezk"/>
              </a:rPr>
              <a:t>Choose your layers and SVG format</a:t>
            </a:r>
          </a:p>
        </p:txBody>
      </p:sp>
      <p:sp>
        <p:nvSpPr>
          <p:cNvPr id="10" name="">
            <a:extLst xmlns:a="http://schemas.openxmlformats.org/drawingml/2006/main">
              <a:ext uri="{FF2B5EF4-FFF2-40B4-BE49-F238E27FC236}">
                <a16:creationId xmlns:a16="http://schemas.microsoft.com/office/drawing/2014/main" id="{D43E0F4E-8D62-4DFB-AD4D-95D0A3F1E29A}"/>
              </a:ext>
            </a:extLst>
          </p:cNvPr>
          <p:cNvSpPr>
            <a:spLocks xmlns:a="http://schemas.openxmlformats.org/drawingml/2006/main" noGrp="1"/>
          </p:cNvSpPr>
          <p:nvPr/>
        </p:nvSpPr>
        <p:spPr>
          <a:xfrm xmlns:a="http://schemas.openxmlformats.org/drawingml/2006/main">
            <a:off x="1257300" y="3324225"/>
            <a:ext cx="94869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180F"/>
                </a:solidFill>
                <a:latin typeface="Apfel Grotezk"/>
                <a:ea typeface="Apfel Grotezk"/>
                <a:cs typeface="Apfel Grotezk"/>
              </a:defRPr>
            </a:pPr>
            <a:r>
              <a:rPr sz="1950" b="0">
                <a:solidFill>
                  <a:srgbClr val="18180F"/>
                </a:solidFill>
                <a:latin typeface="Apfel Grotezk"/>
                <a:ea typeface="Apfel Grotezk"/>
                <a:cs typeface="Apfel Grotezk"/>
              </a:rPr>
              <a:t>Pick the format that matches your editor.</a:t>
            </a:r>
          </a:p>
        </p:txBody>
      </p:sp>
      <p:sp>
        <p:nvSpPr>
          <p:cNvPr id="11" name="">
            <a:extLst xmlns:a="http://schemas.openxmlformats.org/drawingml/2006/main">
              <a:ext uri="{FF2B5EF4-FFF2-40B4-BE49-F238E27FC236}">
                <a16:creationId xmlns:a16="http://schemas.microsoft.com/office/drawing/2014/main" id="{12519D18-4E5A-4388-BD74-E77F87F4DE52}"/>
              </a:ext>
            </a:extLst>
          </p:cNvPr>
          <p:cNvSpPr>
            <a:spLocks xmlns:a="http://schemas.openxmlformats.org/drawingml/2006/main" noGrp="1"/>
          </p:cNvSpPr>
          <p:nvPr/>
        </p:nvSpPr>
        <p:spPr>
          <a:xfrm xmlns:a="http://schemas.openxmlformats.org/drawingml/2006/main">
            <a:off x="457200" y="4010025"/>
            <a:ext cx="685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F4501E"/>
                </a:solidFill>
                <a:latin typeface="Mayonnaise Black"/>
                <a:ea typeface="Mayonnaise Black"/>
                <a:cs typeface="Mayonnaise Black"/>
              </a:defRPr>
            </a:pPr>
            <a:r>
              <a:rPr sz="3000" b="0">
                <a:solidFill>
                  <a:srgbClr val="F4501E"/>
                </a:solidFill>
                <a:latin typeface="Mayonnaise Black"/>
                <a:ea typeface="Mayonnaise Black"/>
                <a:cs typeface="Mayonnaise Black"/>
              </a:rPr>
              <a:t>03</a:t>
            </a:r>
          </a:p>
        </p:txBody>
      </p:sp>
      <p:sp>
        <p:nvSpPr>
          <p:cNvPr id="12" name="">
            <a:extLst xmlns:a="http://schemas.openxmlformats.org/drawingml/2006/main">
              <a:ext uri="{FF2B5EF4-FFF2-40B4-BE49-F238E27FC236}">
                <a16:creationId xmlns:a16="http://schemas.microsoft.com/office/drawing/2014/main" id="{4BFB61DB-B760-48DC-BA85-C4A4263EAB4A}"/>
              </a:ext>
            </a:extLst>
          </p:cNvPr>
          <p:cNvSpPr>
            <a:spLocks xmlns:a="http://schemas.openxmlformats.org/drawingml/2006/main" noGrp="1"/>
          </p:cNvSpPr>
          <p:nvPr/>
        </p:nvSpPr>
        <p:spPr>
          <a:xfrm xmlns:a="http://schemas.openxmlformats.org/drawingml/2006/main">
            <a:off x="1257300" y="4010025"/>
            <a:ext cx="9486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8180F"/>
                </a:solidFill>
                <a:latin typeface="Apfel Grotezk"/>
                <a:ea typeface="Apfel Grotezk"/>
                <a:cs typeface="Apfel Grotezk"/>
              </a:defRPr>
            </a:pPr>
            <a:r>
              <a:rPr sz="2250" b="1">
                <a:solidFill>
                  <a:srgbClr val="18180F"/>
                </a:solidFill>
                <a:latin typeface="Apfel Grotezk"/>
                <a:ea typeface="Apfel Grotezk"/>
                <a:cs typeface="Apfel Grotezk"/>
              </a:rPr>
              <a:t>Export, download and open</a:t>
            </a:r>
          </a:p>
        </p:txBody>
      </p:sp>
      <p:sp>
        <p:nvSpPr>
          <p:cNvPr id="13" name="">
            <a:extLst xmlns:a="http://schemas.openxmlformats.org/drawingml/2006/main">
              <a:ext uri="{FF2B5EF4-FFF2-40B4-BE49-F238E27FC236}">
                <a16:creationId xmlns:a16="http://schemas.microsoft.com/office/drawing/2014/main" id="{7DCF63DA-0724-4230-BBD4-521E6EE5F968}"/>
              </a:ext>
            </a:extLst>
          </p:cNvPr>
          <p:cNvSpPr>
            <a:spLocks xmlns:a="http://schemas.openxmlformats.org/drawingml/2006/main" noGrp="1"/>
          </p:cNvSpPr>
          <p:nvPr/>
        </p:nvSpPr>
        <p:spPr>
          <a:xfrm xmlns:a="http://schemas.openxmlformats.org/drawingml/2006/main">
            <a:off x="1257300" y="4448175"/>
            <a:ext cx="94869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180F"/>
                </a:solidFill>
                <a:latin typeface="Apfel Grotezk"/>
                <a:ea typeface="Apfel Grotezk"/>
                <a:cs typeface="Apfel Grotezk"/>
              </a:defRPr>
            </a:pPr>
            <a:r>
              <a:rPr sz="1950" b="0">
                <a:solidFill>
                  <a:srgbClr val="18180F"/>
                </a:solidFill>
                <a:latin typeface="Apfel Grotezk"/>
                <a:ea typeface="Apfel Grotezk"/>
                <a:cs typeface="Apfel Grotezk"/>
              </a:rPr>
              <a:t>Use File → Open in Illustrator or Inkscape.</a:t>
            </a:r>
          </a:p>
        </p:txBody>
      </p:sp>
      <p:sp>
        <p:nvSpPr>
          <p:cNvPr id="14" name="">
            <a:extLst xmlns:a="http://schemas.openxmlformats.org/drawingml/2006/main">
              <a:ext uri="{FF2B5EF4-FFF2-40B4-BE49-F238E27FC236}">
                <a16:creationId xmlns:a16="http://schemas.microsoft.com/office/drawing/2014/main" id="{B50FDE61-A702-4E61-A221-C5084B2A2BBA}"/>
              </a:ext>
            </a:extLst>
          </p:cNvPr>
          <p:cNvSpPr>
            <a:spLocks xmlns:a="http://schemas.openxmlformats.org/drawingml/2006/main" noGrp="1"/>
          </p:cNvSpPr>
          <p:nvPr/>
        </p:nvSpPr>
        <p:spPr>
          <a:xfrm xmlns:a="http://schemas.openxmlformats.org/drawingml/2006/main">
            <a:off x="457200" y="5676900"/>
            <a:ext cx="11239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F4501E"/>
                </a:solidFill>
                <a:latin typeface="Apfel Grotezk"/>
                <a:ea typeface="Apfel Grotezk"/>
                <a:cs typeface="Apfel Grotezk"/>
              </a:defRPr>
            </a:pPr>
            <a:r>
              <a:rPr sz="2100" b="1">
                <a:solidFill>
                  <a:srgbClr val="F4501E"/>
                </a:solidFill>
                <a:latin typeface="Apfel Grotezk"/>
                <a:ea typeface="Apfel Grotezk"/>
                <a:cs typeface="Apfel Grotezk"/>
              </a:rPr>
              <a:t>Success: you can see your city and inspect its layers or groups.</a:t>
            </a:r>
          </a:p>
        </p:txBody>
      </p:sp>
    </p:spTree>
    <p:extLst>
      <p:ext uri="{BB962C8B-B14F-4D97-AF65-F5344CB8AC3E}">
        <p14:creationId xmlns:p14="http://schemas.microsoft.com/office/powerpoint/2010/main" val="1624812063"/>
      </p:ext>
    </p:extLst>
  </p:cSld>
</p:sld>
</file>

<file path=ppt/slides/slide14.xml><?xml version="1.0" encoding="utf-8"?>
<p:sld xmlns:p="http://schemas.openxmlformats.org/presentationml/2006/main">
  <p:cSld>
    <p:bg>
      <p:bgPr>
        <a:solidFill xmlns:a="http://schemas.openxmlformats.org/drawingml/2006/main">
          <a:srgbClr val="FEF9E4"/>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7432A705-7460-4E95-BA09-1194162F7AB3}"/>
              </a:ext>
            </a:extLst>
          </p:cNvPr>
          <p:cNvSpPr>
            <a:spLocks xmlns:a="http://schemas.openxmlformats.org/drawingml/2006/main" noGrp="1"/>
          </p:cNvSpPr>
          <p:nvPr/>
        </p:nvSpPr>
        <p:spPr>
          <a:xfrm xmlns:a="http://schemas.openxmlformats.org/drawingml/2006/main">
            <a:off x="457200" y="238125"/>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F4501E"/>
                </a:solidFill>
                <a:latin typeface="Apfel Grotezk"/>
                <a:ea typeface="Apfel Grotezk"/>
                <a:cs typeface="Apfel Grotezk"/>
              </a:defRPr>
            </a:pPr>
            <a:r>
              <a:rPr sz="1275" b="1">
                <a:solidFill>
                  <a:srgbClr val="F4501E"/>
                </a:solidFill>
                <a:latin typeface="Apfel Grotezk"/>
                <a:ea typeface="Apfel Grotezk"/>
                <a:cs typeface="Apfel Grotezk"/>
              </a:rPr>
              <a:t>HANDS-ON / PART 2</a:t>
            </a:r>
          </a:p>
        </p:txBody>
      </p:sp>
      <p:sp>
        <p:nvSpPr>
          <p:cNvPr id="2" name="">
            <a:extLst xmlns:a="http://schemas.openxmlformats.org/drawingml/2006/main">
              <a:ext uri="{FF2B5EF4-FFF2-40B4-BE49-F238E27FC236}">
                <a16:creationId xmlns:a16="http://schemas.microsoft.com/office/drawing/2014/main" id="{8D13510A-617B-4695-AC56-4183768BBC06}"/>
              </a:ext>
            </a:extLst>
          </p:cNvPr>
          <p:cNvSpPr>
            <a:spLocks xmlns:a="http://schemas.openxmlformats.org/drawingml/2006/main" noGrp="1"/>
          </p:cNvSpPr>
          <p:nvPr/>
        </p:nvSpPr>
        <p:spPr>
          <a:xfrm xmlns:a="http://schemas.openxmlformats.org/drawingml/2006/main">
            <a:off x="457200" y="638175"/>
            <a:ext cx="11239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125" b="0">
                <a:solidFill>
                  <a:srgbClr val="18180F"/>
                </a:solidFill>
                <a:latin typeface="Mayonnaise Black"/>
                <a:ea typeface="Mayonnaise Black"/>
                <a:cs typeface="Mayonnaise Black"/>
              </a:defRPr>
            </a:pPr>
            <a:r>
              <a:rPr sz="4125" b="0">
                <a:solidFill>
                  <a:srgbClr val="18180F"/>
                </a:solidFill>
                <a:latin typeface="Mayonnaise Black"/>
                <a:ea typeface="Mayonnaise Black"/>
                <a:cs typeface="Mayonnaise Black"/>
              </a:rPr>
              <a:t>MAKE THE FILE YOURS</a:t>
            </a:r>
          </a:p>
        </p:txBody>
      </p:sp>
      <p:sp>
        <p:nvSpPr>
          <p:cNvPr id="3" name="">
            <a:extLst xmlns:a="http://schemas.openxmlformats.org/drawingml/2006/main">
              <a:ext uri="{FF2B5EF4-FFF2-40B4-BE49-F238E27FC236}">
                <a16:creationId xmlns:a16="http://schemas.microsoft.com/office/drawing/2014/main" id="{C2E17452-063B-4848-8149-1B0D5B376108}"/>
              </a:ext>
            </a:extLst>
          </p:cNvPr>
          <p:cNvSpPr>
            <a:spLocks xmlns:a="http://schemas.openxmlformats.org/drawingml/2006/main" noGrp="1"/>
          </p:cNvSpPr>
          <p:nvPr/>
        </p:nvSpPr>
        <p:spPr>
          <a:xfrm xmlns:a="http://schemas.openxmlformats.org/drawingml/2006/main">
            <a:off x="457200" y="6429375"/>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18180F"/>
                </a:solidFill>
                <a:latin typeface="Apfel Grotezk"/>
                <a:ea typeface="Apfel Grotezk"/>
                <a:cs typeface="Apfel Grotezk"/>
              </a:defRPr>
            </a:pPr>
            <a:r>
              <a:rPr sz="1125" b="0">
                <a:solidFill>
                  <a:srgbClr val="18180F"/>
                </a:solidFill>
                <a:latin typeface="Apfel Grotezk"/>
                <a:ea typeface="Apfel Grotezk"/>
                <a:cs typeface="Apfel Grotezk"/>
              </a:rPr>
              <a:t>MAPEXPORT  /  USE-IT     ·     Map data © OpenStreetMap contributors</a:t>
            </a:r>
          </a:p>
        </p:txBody>
      </p:sp>
      <p:sp>
        <p:nvSpPr>
          <p:cNvPr id="4" name="">
            <a:extLst xmlns:a="http://schemas.openxmlformats.org/drawingml/2006/main">
              <a:ext uri="{FF2B5EF4-FFF2-40B4-BE49-F238E27FC236}">
                <a16:creationId xmlns:a16="http://schemas.microsoft.com/office/drawing/2014/main" id="{E2974FE6-33D7-45D0-A6D9-2F72FA841772}"/>
              </a:ext>
            </a:extLst>
          </p:cNvPr>
          <p:cNvSpPr>
            <a:spLocks xmlns:a="http://schemas.openxmlformats.org/drawingml/2006/main" noGrp="1"/>
          </p:cNvSpPr>
          <p:nvPr/>
        </p:nvSpPr>
        <p:spPr>
          <a:xfrm xmlns:a="http://schemas.openxmlformats.org/drawingml/2006/main">
            <a:off x="11144250" y="6429375"/>
            <a:ext cx="590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18180F"/>
                </a:solidFill>
                <a:latin typeface="Apfel Grotezk"/>
                <a:ea typeface="Apfel Grotezk"/>
                <a:cs typeface="Apfel Grotezk"/>
              </a:defRPr>
            </a:pPr>
            <a:r>
              <a:rPr sz="1125" b="0">
                <a:solidFill>
                  <a:srgbClr val="18180F"/>
                </a:solidFill>
                <a:latin typeface="Apfel Grotezk"/>
                <a:ea typeface="Apfel Grotezk"/>
                <a:cs typeface="Apfel Grotezk"/>
              </a:rPr>
              <a:t>14</a:t>
            </a:r>
          </a:p>
        </p:txBody>
      </p:sp>
      <p:sp>
        <p:nvSpPr>
          <p:cNvPr id="5" name="">
            <a:extLst xmlns:a="http://schemas.openxmlformats.org/drawingml/2006/main">
              <a:ext uri="{FF2B5EF4-FFF2-40B4-BE49-F238E27FC236}">
                <a16:creationId xmlns:a16="http://schemas.microsoft.com/office/drawing/2014/main" id="{4E072296-C170-4B1E-9607-DEAEC785D64F}"/>
              </a:ext>
            </a:extLst>
          </p:cNvPr>
          <p:cNvSpPr>
            <a:spLocks xmlns:a="http://schemas.openxmlformats.org/drawingml/2006/main" noGrp="1"/>
          </p:cNvSpPr>
          <p:nvPr/>
        </p:nvSpPr>
        <p:spPr>
          <a:xfrm xmlns:a="http://schemas.openxmlformats.org/drawingml/2006/main">
            <a:off x="457200" y="1762125"/>
            <a:ext cx="685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F4501E"/>
                </a:solidFill>
                <a:latin typeface="Mayonnaise Black"/>
                <a:ea typeface="Mayonnaise Black"/>
                <a:cs typeface="Mayonnaise Black"/>
              </a:defRPr>
            </a:pPr>
            <a:r>
              <a:rPr sz="3000" b="0">
                <a:solidFill>
                  <a:srgbClr val="F4501E"/>
                </a:solidFill>
                <a:latin typeface="Mayonnaise Black"/>
                <a:ea typeface="Mayonnaise Black"/>
                <a:cs typeface="Mayonnaise Black"/>
              </a:rPr>
              <a:t>01</a:t>
            </a:r>
          </a:p>
        </p:txBody>
      </p:sp>
      <p:sp>
        <p:nvSpPr>
          <p:cNvPr id="6" name="">
            <a:extLst xmlns:a="http://schemas.openxmlformats.org/drawingml/2006/main">
              <a:ext uri="{FF2B5EF4-FFF2-40B4-BE49-F238E27FC236}">
                <a16:creationId xmlns:a16="http://schemas.microsoft.com/office/drawing/2014/main" id="{946FFC1F-132C-455D-9924-8A6907C8F993}"/>
              </a:ext>
            </a:extLst>
          </p:cNvPr>
          <p:cNvSpPr>
            <a:spLocks xmlns:a="http://schemas.openxmlformats.org/drawingml/2006/main" noGrp="1"/>
          </p:cNvSpPr>
          <p:nvPr/>
        </p:nvSpPr>
        <p:spPr>
          <a:xfrm xmlns:a="http://schemas.openxmlformats.org/drawingml/2006/main">
            <a:off x="1257300" y="1762125"/>
            <a:ext cx="9486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8180F"/>
                </a:solidFill>
                <a:latin typeface="Apfel Grotezk"/>
                <a:ea typeface="Apfel Grotezk"/>
                <a:cs typeface="Apfel Grotezk"/>
              </a:defRPr>
            </a:pPr>
            <a:r>
              <a:rPr sz="2250" b="1">
                <a:solidFill>
                  <a:srgbClr val="18180F"/>
                </a:solidFill>
                <a:latin typeface="Apfel Grotezk"/>
                <a:ea typeface="Apfel Grotezk"/>
                <a:cs typeface="Apfel Grotezk"/>
              </a:rPr>
              <a:t>Change all city blocks to a new colour</a:t>
            </a:r>
          </a:p>
        </p:txBody>
      </p:sp>
      <p:sp>
        <p:nvSpPr>
          <p:cNvPr id="7" name="">
            <a:extLst xmlns:a="http://schemas.openxmlformats.org/drawingml/2006/main">
              <a:ext uri="{FF2B5EF4-FFF2-40B4-BE49-F238E27FC236}">
                <a16:creationId xmlns:a16="http://schemas.microsoft.com/office/drawing/2014/main" id="{EB84F0BD-ECD6-4310-A84F-E4E31ECD7880}"/>
              </a:ext>
            </a:extLst>
          </p:cNvPr>
          <p:cNvSpPr>
            <a:spLocks xmlns:a="http://schemas.openxmlformats.org/drawingml/2006/main" noGrp="1"/>
          </p:cNvSpPr>
          <p:nvPr/>
        </p:nvSpPr>
        <p:spPr>
          <a:xfrm xmlns:a="http://schemas.openxmlformats.org/drawingml/2006/main">
            <a:off x="1257300" y="2200275"/>
            <a:ext cx="94869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180F"/>
                </a:solidFill>
                <a:latin typeface="Apfel Grotezk"/>
                <a:ea typeface="Apfel Grotezk"/>
                <a:cs typeface="Apfel Grotezk"/>
              </a:defRPr>
            </a:pPr>
            <a:r>
              <a:rPr sz="1950" b="0">
                <a:solidFill>
                  <a:srgbClr val="18180F"/>
                </a:solidFill>
                <a:latin typeface="Apfel Grotezk"/>
                <a:ea typeface="Apfel Grotezk"/>
                <a:cs typeface="Apfel Grotezk"/>
              </a:rPr>
              <a:t>Select the block paths together. Keep roads and water unchanged.</a:t>
            </a:r>
          </a:p>
        </p:txBody>
      </p:sp>
      <p:sp>
        <p:nvSpPr>
          <p:cNvPr id="8" name="">
            <a:extLst xmlns:a="http://schemas.openxmlformats.org/drawingml/2006/main">
              <a:ext uri="{FF2B5EF4-FFF2-40B4-BE49-F238E27FC236}">
                <a16:creationId xmlns:a16="http://schemas.microsoft.com/office/drawing/2014/main" id="{608588F5-28D0-4649-94E2-669176C90111}"/>
              </a:ext>
            </a:extLst>
          </p:cNvPr>
          <p:cNvSpPr>
            <a:spLocks xmlns:a="http://schemas.openxmlformats.org/drawingml/2006/main" noGrp="1"/>
          </p:cNvSpPr>
          <p:nvPr/>
        </p:nvSpPr>
        <p:spPr>
          <a:xfrm xmlns:a="http://schemas.openxmlformats.org/drawingml/2006/main">
            <a:off x="457200" y="2886075"/>
            <a:ext cx="685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F4501E"/>
                </a:solidFill>
                <a:latin typeface="Mayonnaise Black"/>
                <a:ea typeface="Mayonnaise Black"/>
                <a:cs typeface="Mayonnaise Black"/>
              </a:defRPr>
            </a:pPr>
            <a:r>
              <a:rPr sz="3000" b="0">
                <a:solidFill>
                  <a:srgbClr val="F4501E"/>
                </a:solidFill>
                <a:latin typeface="Mayonnaise Black"/>
                <a:ea typeface="Mayonnaise Black"/>
                <a:cs typeface="Mayonnaise Black"/>
              </a:rPr>
              <a:t>02</a:t>
            </a:r>
          </a:p>
        </p:txBody>
      </p:sp>
      <p:sp>
        <p:nvSpPr>
          <p:cNvPr id="9" name="">
            <a:extLst xmlns:a="http://schemas.openxmlformats.org/drawingml/2006/main">
              <a:ext uri="{FF2B5EF4-FFF2-40B4-BE49-F238E27FC236}">
                <a16:creationId xmlns:a16="http://schemas.microsoft.com/office/drawing/2014/main" id="{3DD085B9-1060-4F58-A532-09F698BA84F8}"/>
              </a:ext>
            </a:extLst>
          </p:cNvPr>
          <p:cNvSpPr>
            <a:spLocks xmlns:a="http://schemas.openxmlformats.org/drawingml/2006/main" noGrp="1"/>
          </p:cNvSpPr>
          <p:nvPr/>
        </p:nvSpPr>
        <p:spPr>
          <a:xfrm xmlns:a="http://schemas.openxmlformats.org/drawingml/2006/main">
            <a:off x="1257300" y="2886075"/>
            <a:ext cx="9486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8180F"/>
                </a:solidFill>
                <a:latin typeface="Apfel Grotezk"/>
                <a:ea typeface="Apfel Grotezk"/>
                <a:cs typeface="Apfel Grotezk"/>
              </a:defRPr>
            </a:pPr>
            <a:r>
              <a:rPr sz="2250" b="1">
                <a:solidFill>
                  <a:srgbClr val="18180F"/>
                </a:solidFill>
                <a:latin typeface="Apfel Grotezk"/>
                <a:ea typeface="Apfel Grotezk"/>
                <a:cs typeface="Apfel Grotezk"/>
              </a:rPr>
              <a:t>Explore the structure</a:t>
            </a:r>
          </a:p>
        </p:txBody>
      </p:sp>
      <p:sp>
        <p:nvSpPr>
          <p:cNvPr id="10" name="">
            <a:extLst xmlns:a="http://schemas.openxmlformats.org/drawingml/2006/main">
              <a:ext uri="{FF2B5EF4-FFF2-40B4-BE49-F238E27FC236}">
                <a16:creationId xmlns:a16="http://schemas.microsoft.com/office/drawing/2014/main" id="{7EEF1C4D-2D78-4BA1-B955-FA859F9AEFC3}"/>
              </a:ext>
            </a:extLst>
          </p:cNvPr>
          <p:cNvSpPr>
            <a:spLocks xmlns:a="http://schemas.openxmlformats.org/drawingml/2006/main" noGrp="1"/>
          </p:cNvSpPr>
          <p:nvPr/>
        </p:nvSpPr>
        <p:spPr>
          <a:xfrm xmlns:a="http://schemas.openxmlformats.org/drawingml/2006/main">
            <a:off x="1257300" y="3324225"/>
            <a:ext cx="94869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180F"/>
                </a:solidFill>
                <a:latin typeface="Apfel Grotezk"/>
                <a:ea typeface="Apfel Grotezk"/>
                <a:cs typeface="Apfel Grotezk"/>
              </a:defRPr>
            </a:pPr>
            <a:r>
              <a:rPr sz="1950" b="0">
                <a:solidFill>
                  <a:srgbClr val="18180F"/>
                </a:solidFill>
                <a:latin typeface="Apfel Grotezk"/>
                <a:ea typeface="Apfel Grotezk"/>
                <a:cs typeface="Apfel Grotezk"/>
              </a:rPr>
              <a:t>Hide one layer, restore it, then find a street label.</a:t>
            </a:r>
          </a:p>
        </p:txBody>
      </p:sp>
      <p:sp>
        <p:nvSpPr>
          <p:cNvPr id="11" name="">
            <a:extLst xmlns:a="http://schemas.openxmlformats.org/drawingml/2006/main">
              <a:ext uri="{FF2B5EF4-FFF2-40B4-BE49-F238E27FC236}">
                <a16:creationId xmlns:a16="http://schemas.microsoft.com/office/drawing/2014/main" id="{49A72A98-8B32-45F8-983F-AB559C66B16C}"/>
              </a:ext>
            </a:extLst>
          </p:cNvPr>
          <p:cNvSpPr>
            <a:spLocks xmlns:a="http://schemas.openxmlformats.org/drawingml/2006/main" noGrp="1"/>
          </p:cNvSpPr>
          <p:nvPr/>
        </p:nvSpPr>
        <p:spPr>
          <a:xfrm xmlns:a="http://schemas.openxmlformats.org/drawingml/2006/main">
            <a:off x="457200" y="4010025"/>
            <a:ext cx="685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F4501E"/>
                </a:solidFill>
                <a:latin typeface="Mayonnaise Black"/>
                <a:ea typeface="Mayonnaise Black"/>
                <a:cs typeface="Mayonnaise Black"/>
              </a:defRPr>
            </a:pPr>
            <a:r>
              <a:rPr sz="3000" b="0">
                <a:solidFill>
                  <a:srgbClr val="F4501E"/>
                </a:solidFill>
                <a:latin typeface="Mayonnaise Black"/>
                <a:ea typeface="Mayonnaise Black"/>
                <a:cs typeface="Mayonnaise Black"/>
              </a:rPr>
              <a:t>03</a:t>
            </a:r>
          </a:p>
        </p:txBody>
      </p:sp>
      <p:sp>
        <p:nvSpPr>
          <p:cNvPr id="12" name="">
            <a:extLst xmlns:a="http://schemas.openxmlformats.org/drawingml/2006/main">
              <a:ext uri="{FF2B5EF4-FFF2-40B4-BE49-F238E27FC236}">
                <a16:creationId xmlns:a16="http://schemas.microsoft.com/office/drawing/2014/main" id="{6A6E80CF-D74F-40CA-A3C0-148BF96760C2}"/>
              </a:ext>
            </a:extLst>
          </p:cNvPr>
          <p:cNvSpPr>
            <a:spLocks xmlns:a="http://schemas.openxmlformats.org/drawingml/2006/main" noGrp="1"/>
          </p:cNvSpPr>
          <p:nvPr/>
        </p:nvSpPr>
        <p:spPr>
          <a:xfrm xmlns:a="http://schemas.openxmlformats.org/drawingml/2006/main">
            <a:off x="1257300" y="4010025"/>
            <a:ext cx="9486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8180F"/>
                </a:solidFill>
                <a:latin typeface="Apfel Grotezk"/>
                <a:ea typeface="Apfel Grotezk"/>
                <a:cs typeface="Apfel Grotezk"/>
              </a:defRPr>
            </a:pPr>
            <a:r>
              <a:rPr sz="2250" b="1">
                <a:solidFill>
                  <a:srgbClr val="18180F"/>
                </a:solidFill>
                <a:latin typeface="Apfel Grotezk"/>
                <a:ea typeface="Apfel Grotezk"/>
                <a:cs typeface="Apfel Grotezk"/>
              </a:rPr>
              <a:t>Save a working copy</a:t>
            </a:r>
          </a:p>
        </p:txBody>
      </p:sp>
      <p:sp>
        <p:nvSpPr>
          <p:cNvPr id="13" name="">
            <a:extLst xmlns:a="http://schemas.openxmlformats.org/drawingml/2006/main">
              <a:ext uri="{FF2B5EF4-FFF2-40B4-BE49-F238E27FC236}">
                <a16:creationId xmlns:a16="http://schemas.microsoft.com/office/drawing/2014/main" id="{4CE05B30-4073-4C38-84D8-A3A1C14FA86A}"/>
              </a:ext>
            </a:extLst>
          </p:cNvPr>
          <p:cNvSpPr>
            <a:spLocks xmlns:a="http://schemas.openxmlformats.org/drawingml/2006/main" noGrp="1"/>
          </p:cNvSpPr>
          <p:nvPr/>
        </p:nvSpPr>
        <p:spPr>
          <a:xfrm xmlns:a="http://schemas.openxmlformats.org/drawingml/2006/main">
            <a:off x="1257300" y="4448175"/>
            <a:ext cx="94869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180F"/>
                </a:solidFill>
                <a:latin typeface="Apfel Grotezk"/>
                <a:ea typeface="Apfel Grotezk"/>
                <a:cs typeface="Apfel Grotezk"/>
              </a:defRPr>
            </a:pPr>
            <a:r>
              <a:rPr sz="1950" b="0">
                <a:solidFill>
                  <a:srgbClr val="18180F"/>
                </a:solidFill>
                <a:latin typeface="Apfel Grotezk"/>
                <a:ea typeface="Apfel Grotezk"/>
                <a:cs typeface="Apfel Grotezk"/>
              </a:rPr>
              <a:t>Keep one observation to share with the group.</a:t>
            </a:r>
          </a:p>
        </p:txBody>
      </p:sp>
      <p:sp>
        <p:nvSpPr>
          <p:cNvPr id="14" name="">
            <a:extLst xmlns:a="http://schemas.openxmlformats.org/drawingml/2006/main">
              <a:ext uri="{FF2B5EF4-FFF2-40B4-BE49-F238E27FC236}">
                <a16:creationId xmlns:a16="http://schemas.microsoft.com/office/drawing/2014/main" id="{83B146A8-BC82-4430-A6FE-2E77202CDCDA}"/>
              </a:ext>
            </a:extLst>
          </p:cNvPr>
          <p:cNvSpPr>
            <a:spLocks xmlns:a="http://schemas.openxmlformats.org/drawingml/2006/main" noGrp="1"/>
          </p:cNvSpPr>
          <p:nvPr/>
        </p:nvSpPr>
        <p:spPr>
          <a:xfrm xmlns:a="http://schemas.openxmlformats.org/drawingml/2006/main">
            <a:off x="457200" y="5676900"/>
            <a:ext cx="11239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F4501E"/>
                </a:solidFill>
                <a:latin typeface="Apfel Grotezk"/>
                <a:ea typeface="Apfel Grotezk"/>
                <a:cs typeface="Apfel Grotezk"/>
              </a:defRPr>
            </a:pPr>
            <a:r>
              <a:rPr sz="2100" b="1">
                <a:solidFill>
                  <a:srgbClr val="F4501E"/>
                </a:solidFill>
                <a:latin typeface="Apfel Grotezk"/>
                <a:ea typeface="Apfel Grotezk"/>
                <a:cs typeface="Apfel Grotezk"/>
              </a:rPr>
              <a:t>Done early? Compare the result with a place you know well.</a:t>
            </a:r>
          </a:p>
        </p:txBody>
      </p:sp>
    </p:spTree>
    <p:extLst>
      <p:ext uri="{BB962C8B-B14F-4D97-AF65-F5344CB8AC3E}">
        <p14:creationId xmlns:p14="http://schemas.microsoft.com/office/powerpoint/2010/main" val="862800208"/>
      </p:ext>
    </p:extLst>
  </p:cSld>
</p:sld>
</file>

<file path=ppt/slides/slide15.xml><?xml version="1.0" encoding="utf-8"?>
<p:sld xmlns:p="http://schemas.openxmlformats.org/presentationml/2006/main">
  <p:cSld>
    <p:bg>
      <p:bgPr>
        <a:solidFill xmlns:a="http://schemas.openxmlformats.org/drawingml/2006/main">
          <a:srgbClr val="FEF9E4"/>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679D237C-0085-47BE-BF4E-4E62F36C69F8}"/>
              </a:ext>
            </a:extLst>
          </p:cNvPr>
          <p:cNvSpPr>
            <a:spLocks xmlns:a="http://schemas.openxmlformats.org/drawingml/2006/main" noGrp="1"/>
          </p:cNvSpPr>
          <p:nvPr/>
        </p:nvSpPr>
        <p:spPr>
          <a:xfrm xmlns:a="http://schemas.openxmlformats.org/drawingml/2006/main">
            <a:off x="457200" y="238125"/>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F4501E"/>
                </a:solidFill>
                <a:latin typeface="Apfel Grotezk"/>
                <a:ea typeface="Apfel Grotezk"/>
                <a:cs typeface="Apfel Grotezk"/>
              </a:defRPr>
            </a:pPr>
            <a:r>
              <a:rPr sz="1275" b="1">
                <a:solidFill>
                  <a:srgbClr val="F4501E"/>
                </a:solidFill>
                <a:latin typeface="Apfel Grotezk"/>
                <a:ea typeface="Apfel Grotezk"/>
                <a:cs typeface="Apfel Grotezk"/>
              </a:rPr>
              <a:t>WORKSHOP HELP</a:t>
            </a:r>
          </a:p>
        </p:txBody>
      </p:sp>
      <p:sp>
        <p:nvSpPr>
          <p:cNvPr id="2" name="">
            <a:extLst xmlns:a="http://schemas.openxmlformats.org/drawingml/2006/main">
              <a:ext uri="{FF2B5EF4-FFF2-40B4-BE49-F238E27FC236}">
                <a16:creationId xmlns:a16="http://schemas.microsoft.com/office/drawing/2014/main" id="{849FF2DF-28DC-4D9B-8010-20799B1CB43B}"/>
              </a:ext>
            </a:extLst>
          </p:cNvPr>
          <p:cNvSpPr>
            <a:spLocks xmlns:a="http://schemas.openxmlformats.org/drawingml/2006/main" noGrp="1"/>
          </p:cNvSpPr>
          <p:nvPr/>
        </p:nvSpPr>
        <p:spPr>
          <a:xfrm xmlns:a="http://schemas.openxmlformats.org/drawingml/2006/main">
            <a:off x="457200" y="638175"/>
            <a:ext cx="11239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125" b="0">
                <a:solidFill>
                  <a:srgbClr val="18180F"/>
                </a:solidFill>
                <a:latin typeface="Mayonnaise Black"/>
                <a:ea typeface="Mayonnaise Black"/>
                <a:cs typeface="Mayonnaise Black"/>
              </a:defRPr>
            </a:pPr>
            <a:r>
              <a:rPr sz="4125" b="0">
                <a:solidFill>
                  <a:srgbClr val="18180F"/>
                </a:solidFill>
                <a:latin typeface="Mayonnaise Black"/>
                <a:ea typeface="Mayonnaise Black"/>
                <a:cs typeface="Mayonnaise Black"/>
              </a:rPr>
              <a:t>KEEP MOVING IF SOMETHING GETS STUCK</a:t>
            </a:r>
          </a:p>
        </p:txBody>
      </p:sp>
      <p:sp>
        <p:nvSpPr>
          <p:cNvPr id="3" name="">
            <a:extLst xmlns:a="http://schemas.openxmlformats.org/drawingml/2006/main">
              <a:ext uri="{FF2B5EF4-FFF2-40B4-BE49-F238E27FC236}">
                <a16:creationId xmlns:a16="http://schemas.microsoft.com/office/drawing/2014/main" id="{E846A622-C36A-4ED8-8DFA-A61E091F5FC7}"/>
              </a:ext>
            </a:extLst>
          </p:cNvPr>
          <p:cNvSpPr>
            <a:spLocks xmlns:a="http://schemas.openxmlformats.org/drawingml/2006/main" noGrp="1"/>
          </p:cNvSpPr>
          <p:nvPr/>
        </p:nvSpPr>
        <p:spPr>
          <a:xfrm xmlns:a="http://schemas.openxmlformats.org/drawingml/2006/main">
            <a:off x="457200" y="6429375"/>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18180F"/>
                </a:solidFill>
                <a:latin typeface="Apfel Grotezk"/>
                <a:ea typeface="Apfel Grotezk"/>
                <a:cs typeface="Apfel Grotezk"/>
              </a:defRPr>
            </a:pPr>
            <a:r>
              <a:rPr sz="1125" b="0">
                <a:solidFill>
                  <a:srgbClr val="18180F"/>
                </a:solidFill>
                <a:latin typeface="Apfel Grotezk"/>
                <a:ea typeface="Apfel Grotezk"/>
                <a:cs typeface="Apfel Grotezk"/>
              </a:rPr>
              <a:t>MAPEXPORT  /  USE-IT     ·     Map data © OpenStreetMap contributors</a:t>
            </a:r>
          </a:p>
        </p:txBody>
      </p:sp>
      <p:sp>
        <p:nvSpPr>
          <p:cNvPr id="4" name="">
            <a:extLst xmlns:a="http://schemas.openxmlformats.org/drawingml/2006/main">
              <a:ext uri="{FF2B5EF4-FFF2-40B4-BE49-F238E27FC236}">
                <a16:creationId xmlns:a16="http://schemas.microsoft.com/office/drawing/2014/main" id="{533B3BAF-7BB8-41A5-80AD-F5EAF36CF09C}"/>
              </a:ext>
            </a:extLst>
          </p:cNvPr>
          <p:cNvSpPr>
            <a:spLocks xmlns:a="http://schemas.openxmlformats.org/drawingml/2006/main" noGrp="1"/>
          </p:cNvSpPr>
          <p:nvPr/>
        </p:nvSpPr>
        <p:spPr>
          <a:xfrm xmlns:a="http://schemas.openxmlformats.org/drawingml/2006/main">
            <a:off x="11144250" y="6429375"/>
            <a:ext cx="590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18180F"/>
                </a:solidFill>
                <a:latin typeface="Apfel Grotezk"/>
                <a:ea typeface="Apfel Grotezk"/>
                <a:cs typeface="Apfel Grotezk"/>
              </a:defRPr>
            </a:pPr>
            <a:r>
              <a:rPr sz="1125" b="0">
                <a:solidFill>
                  <a:srgbClr val="18180F"/>
                </a:solidFill>
                <a:latin typeface="Apfel Grotezk"/>
                <a:ea typeface="Apfel Grotezk"/>
                <a:cs typeface="Apfel Grotezk"/>
              </a:rPr>
              <a:t>15</a:t>
            </a:r>
          </a:p>
        </p:txBody>
      </p:sp>
      <p:sp>
        <p:nvSpPr>
          <p:cNvPr id="5" name="">
            <a:extLst xmlns:a="http://schemas.openxmlformats.org/drawingml/2006/main">
              <a:ext uri="{FF2B5EF4-FFF2-40B4-BE49-F238E27FC236}">
                <a16:creationId xmlns:a16="http://schemas.microsoft.com/office/drawing/2014/main" id="{DB158BDC-5573-4612-86A7-11C5D787B831}"/>
              </a:ext>
            </a:extLst>
          </p:cNvPr>
          <p:cNvSpPr>
            <a:spLocks xmlns:a="http://schemas.openxmlformats.org/drawingml/2006/main" noGrp="1"/>
          </p:cNvSpPr>
          <p:nvPr/>
        </p:nvSpPr>
        <p:spPr>
          <a:xfrm xmlns:a="http://schemas.openxmlformats.org/drawingml/2006/main">
            <a:off x="457200" y="1762125"/>
            <a:ext cx="685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F4501E"/>
                </a:solidFill>
                <a:latin typeface="Mayonnaise Black"/>
                <a:ea typeface="Mayonnaise Black"/>
                <a:cs typeface="Mayonnaise Black"/>
              </a:defRPr>
            </a:pPr>
            <a:r>
              <a:rPr sz="3000" b="0">
                <a:solidFill>
                  <a:srgbClr val="F4501E"/>
                </a:solidFill>
                <a:latin typeface="Mayonnaise Black"/>
                <a:ea typeface="Mayonnaise Black"/>
                <a:cs typeface="Mayonnaise Black"/>
              </a:rPr>
              <a:t>01</a:t>
            </a:r>
          </a:p>
        </p:txBody>
      </p:sp>
      <p:sp>
        <p:nvSpPr>
          <p:cNvPr id="6" name="">
            <a:extLst xmlns:a="http://schemas.openxmlformats.org/drawingml/2006/main">
              <a:ext uri="{FF2B5EF4-FFF2-40B4-BE49-F238E27FC236}">
                <a16:creationId xmlns:a16="http://schemas.microsoft.com/office/drawing/2014/main" id="{63782A80-0F80-4D58-A70C-1720F694C086}"/>
              </a:ext>
            </a:extLst>
          </p:cNvPr>
          <p:cNvSpPr>
            <a:spLocks xmlns:a="http://schemas.openxmlformats.org/drawingml/2006/main" noGrp="1"/>
          </p:cNvSpPr>
          <p:nvPr/>
        </p:nvSpPr>
        <p:spPr>
          <a:xfrm xmlns:a="http://schemas.openxmlformats.org/drawingml/2006/main">
            <a:off x="1257300" y="1762125"/>
            <a:ext cx="9486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8180F"/>
                </a:solidFill>
                <a:latin typeface="Apfel Grotezk"/>
                <a:ea typeface="Apfel Grotezk"/>
                <a:cs typeface="Apfel Grotezk"/>
              </a:defRPr>
            </a:pPr>
            <a:r>
              <a:rPr sz="2250" b="1">
                <a:solidFill>
                  <a:srgbClr val="18180F"/>
                </a:solidFill>
                <a:latin typeface="Apfel Grotezk"/>
                <a:ea typeface="Apfel Grotezk"/>
                <a:cs typeface="Apfel Grotezk"/>
              </a:rPr>
              <a:t>Export taking a while?</a:t>
            </a:r>
          </a:p>
        </p:txBody>
      </p:sp>
      <p:sp>
        <p:nvSpPr>
          <p:cNvPr id="7" name="">
            <a:extLst xmlns:a="http://schemas.openxmlformats.org/drawingml/2006/main">
              <a:ext uri="{FF2B5EF4-FFF2-40B4-BE49-F238E27FC236}">
                <a16:creationId xmlns:a16="http://schemas.microsoft.com/office/drawing/2014/main" id="{02E7A69F-9AD4-44FC-A29D-C1EF926F210C}"/>
              </a:ext>
            </a:extLst>
          </p:cNvPr>
          <p:cNvSpPr>
            <a:spLocks xmlns:a="http://schemas.openxmlformats.org/drawingml/2006/main" noGrp="1"/>
          </p:cNvSpPr>
          <p:nvPr/>
        </p:nvSpPr>
        <p:spPr>
          <a:xfrm xmlns:a="http://schemas.openxmlformats.org/drawingml/2006/main">
            <a:off x="1257300" y="2200275"/>
            <a:ext cx="94869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180F"/>
                </a:solidFill>
                <a:latin typeface="Apfel Grotezk"/>
                <a:ea typeface="Apfel Grotezk"/>
                <a:cs typeface="Apfel Grotezk"/>
              </a:defRPr>
            </a:pPr>
            <a:r>
              <a:rPr sz="1950" b="0">
                <a:solidFill>
                  <a:srgbClr val="18180F"/>
                </a:solidFill>
                <a:latin typeface="Apfel Grotezk"/>
                <a:ea typeface="Apfel Grotezk"/>
                <a:cs typeface="Apfel Grotezk"/>
              </a:rPr>
              <a:t>Watch the progress message. Try a smaller area for the next export.</a:t>
            </a:r>
          </a:p>
        </p:txBody>
      </p:sp>
      <p:sp>
        <p:nvSpPr>
          <p:cNvPr id="8" name="">
            <a:extLst xmlns:a="http://schemas.openxmlformats.org/drawingml/2006/main">
              <a:ext uri="{FF2B5EF4-FFF2-40B4-BE49-F238E27FC236}">
                <a16:creationId xmlns:a16="http://schemas.microsoft.com/office/drawing/2014/main" id="{FCF434D6-0000-48D9-8D46-484E6C93E13E}"/>
              </a:ext>
            </a:extLst>
          </p:cNvPr>
          <p:cNvSpPr>
            <a:spLocks xmlns:a="http://schemas.openxmlformats.org/drawingml/2006/main" noGrp="1"/>
          </p:cNvSpPr>
          <p:nvPr/>
        </p:nvSpPr>
        <p:spPr>
          <a:xfrm xmlns:a="http://schemas.openxmlformats.org/drawingml/2006/main">
            <a:off x="457200" y="2886075"/>
            <a:ext cx="685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F4501E"/>
                </a:solidFill>
                <a:latin typeface="Mayonnaise Black"/>
                <a:ea typeface="Mayonnaise Black"/>
                <a:cs typeface="Mayonnaise Black"/>
              </a:defRPr>
            </a:pPr>
            <a:r>
              <a:rPr sz="3000" b="0">
                <a:solidFill>
                  <a:srgbClr val="F4501E"/>
                </a:solidFill>
                <a:latin typeface="Mayonnaise Black"/>
                <a:ea typeface="Mayonnaise Black"/>
                <a:cs typeface="Mayonnaise Black"/>
              </a:rPr>
              <a:t>02</a:t>
            </a:r>
          </a:p>
        </p:txBody>
      </p:sp>
      <p:sp>
        <p:nvSpPr>
          <p:cNvPr id="9" name="">
            <a:extLst xmlns:a="http://schemas.openxmlformats.org/drawingml/2006/main">
              <a:ext uri="{FF2B5EF4-FFF2-40B4-BE49-F238E27FC236}">
                <a16:creationId xmlns:a16="http://schemas.microsoft.com/office/drawing/2014/main" id="{4936BF30-EA40-4F28-B778-BA5003A5E8AD}"/>
              </a:ext>
            </a:extLst>
          </p:cNvPr>
          <p:cNvSpPr>
            <a:spLocks xmlns:a="http://schemas.openxmlformats.org/drawingml/2006/main" noGrp="1"/>
          </p:cNvSpPr>
          <p:nvPr/>
        </p:nvSpPr>
        <p:spPr>
          <a:xfrm xmlns:a="http://schemas.openxmlformats.org/drawingml/2006/main">
            <a:off x="1257300" y="2886075"/>
            <a:ext cx="9486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8180F"/>
                </a:solidFill>
                <a:latin typeface="Apfel Grotezk"/>
                <a:ea typeface="Apfel Grotezk"/>
                <a:cs typeface="Apfel Grotezk"/>
              </a:defRPr>
            </a:pPr>
            <a:r>
              <a:rPr sz="2250" b="1">
                <a:solidFill>
                  <a:srgbClr val="18180F"/>
                </a:solidFill>
                <a:latin typeface="Apfel Grotezk"/>
                <a:ea typeface="Apfel Grotezk"/>
                <a:cs typeface="Apfel Grotezk"/>
              </a:rPr>
              <a:t>Need a file to practise with?</a:t>
            </a:r>
          </a:p>
        </p:txBody>
      </p:sp>
      <p:sp>
        <p:nvSpPr>
          <p:cNvPr id="10" name="">
            <a:extLst xmlns:a="http://schemas.openxmlformats.org/drawingml/2006/main">
              <a:ext uri="{FF2B5EF4-FFF2-40B4-BE49-F238E27FC236}">
                <a16:creationId xmlns:a16="http://schemas.microsoft.com/office/drawing/2014/main" id="{5E4F67FF-7263-4ABB-81E2-27C986FA1693}"/>
              </a:ext>
            </a:extLst>
          </p:cNvPr>
          <p:cNvSpPr>
            <a:spLocks xmlns:a="http://schemas.openxmlformats.org/drawingml/2006/main" noGrp="1"/>
          </p:cNvSpPr>
          <p:nvPr/>
        </p:nvSpPr>
        <p:spPr>
          <a:xfrm xmlns:a="http://schemas.openxmlformats.org/drawingml/2006/main">
            <a:off x="1257300" y="3324225"/>
            <a:ext cx="94869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180F"/>
                </a:solidFill>
                <a:latin typeface="Apfel Grotezk"/>
                <a:ea typeface="Apfel Grotezk"/>
                <a:cs typeface="Apfel Grotezk"/>
              </a:defRPr>
            </a:pPr>
            <a:r>
              <a:rPr sz="1950" b="0">
                <a:solidFill>
                  <a:srgbClr val="18180F"/>
                </a:solidFill>
                <a:latin typeface="Apfel Grotezk"/>
                <a:ea typeface="Apfel Grotezk"/>
                <a:cs typeface="Apfel Grotezk"/>
              </a:rPr>
              <a:t>Use the included Gent SVG while your own export finishes.</a:t>
            </a:r>
          </a:p>
        </p:txBody>
      </p:sp>
      <p:sp>
        <p:nvSpPr>
          <p:cNvPr id="11" name="">
            <a:extLst xmlns:a="http://schemas.openxmlformats.org/drawingml/2006/main">
              <a:ext uri="{FF2B5EF4-FFF2-40B4-BE49-F238E27FC236}">
                <a16:creationId xmlns:a16="http://schemas.microsoft.com/office/drawing/2014/main" id="{AA1D2E59-4D96-4212-A132-E57A430E75F5}"/>
              </a:ext>
            </a:extLst>
          </p:cNvPr>
          <p:cNvSpPr>
            <a:spLocks xmlns:a="http://schemas.openxmlformats.org/drawingml/2006/main" noGrp="1"/>
          </p:cNvSpPr>
          <p:nvPr/>
        </p:nvSpPr>
        <p:spPr>
          <a:xfrm xmlns:a="http://schemas.openxmlformats.org/drawingml/2006/main">
            <a:off x="457200" y="4010025"/>
            <a:ext cx="685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F4501E"/>
                </a:solidFill>
                <a:latin typeface="Mayonnaise Black"/>
                <a:ea typeface="Mayonnaise Black"/>
                <a:cs typeface="Mayonnaise Black"/>
              </a:defRPr>
            </a:pPr>
            <a:r>
              <a:rPr sz="3000" b="0">
                <a:solidFill>
                  <a:srgbClr val="F4501E"/>
                </a:solidFill>
                <a:latin typeface="Mayonnaise Black"/>
                <a:ea typeface="Mayonnaise Black"/>
                <a:cs typeface="Mayonnaise Black"/>
              </a:rPr>
              <a:t>03</a:t>
            </a:r>
          </a:p>
        </p:txBody>
      </p:sp>
      <p:sp>
        <p:nvSpPr>
          <p:cNvPr id="12" name="">
            <a:extLst xmlns:a="http://schemas.openxmlformats.org/drawingml/2006/main">
              <a:ext uri="{FF2B5EF4-FFF2-40B4-BE49-F238E27FC236}">
                <a16:creationId xmlns:a16="http://schemas.microsoft.com/office/drawing/2014/main" id="{1831CD2F-AE24-411E-8CA0-BB6DFBDA1BDF}"/>
              </a:ext>
            </a:extLst>
          </p:cNvPr>
          <p:cNvSpPr>
            <a:spLocks xmlns:a="http://schemas.openxmlformats.org/drawingml/2006/main" noGrp="1"/>
          </p:cNvSpPr>
          <p:nvPr/>
        </p:nvSpPr>
        <p:spPr>
          <a:xfrm xmlns:a="http://schemas.openxmlformats.org/drawingml/2006/main">
            <a:off x="1257300" y="4010025"/>
            <a:ext cx="9486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8180F"/>
                </a:solidFill>
                <a:latin typeface="Apfel Grotezk"/>
                <a:ea typeface="Apfel Grotezk"/>
                <a:cs typeface="Apfel Grotezk"/>
              </a:defRPr>
            </a:pPr>
            <a:r>
              <a:rPr sz="2250" b="1">
                <a:solidFill>
                  <a:srgbClr val="18180F"/>
                </a:solidFill>
                <a:latin typeface="Apfel Grotezk"/>
                <a:ea typeface="Apfel Grotezk"/>
                <a:cs typeface="Apfel Grotezk"/>
              </a:rPr>
              <a:t>File looks unexpected in your editor?</a:t>
            </a:r>
          </a:p>
        </p:txBody>
      </p:sp>
      <p:sp>
        <p:nvSpPr>
          <p:cNvPr id="13" name="">
            <a:extLst xmlns:a="http://schemas.openxmlformats.org/drawingml/2006/main">
              <a:ext uri="{FF2B5EF4-FFF2-40B4-BE49-F238E27FC236}">
                <a16:creationId xmlns:a16="http://schemas.microsoft.com/office/drawing/2014/main" id="{389F39B6-EE94-45AD-84F8-13EE503B8DEE}"/>
              </a:ext>
            </a:extLst>
          </p:cNvPr>
          <p:cNvSpPr>
            <a:spLocks xmlns:a="http://schemas.openxmlformats.org/drawingml/2006/main" noGrp="1"/>
          </p:cNvSpPr>
          <p:nvPr/>
        </p:nvSpPr>
        <p:spPr>
          <a:xfrm xmlns:a="http://schemas.openxmlformats.org/drawingml/2006/main">
            <a:off x="1257300" y="4448175"/>
            <a:ext cx="94869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180F"/>
                </a:solidFill>
                <a:latin typeface="Apfel Grotezk"/>
                <a:ea typeface="Apfel Grotezk"/>
                <a:cs typeface="Apfel Grotezk"/>
              </a:defRPr>
            </a:pPr>
            <a:r>
              <a:rPr sz="1950" b="0">
                <a:solidFill>
                  <a:srgbClr val="18180F"/>
                </a:solidFill>
                <a:latin typeface="Apfel Grotezk"/>
                <a:ea typeface="Apfel Grotezk"/>
                <a:cs typeface="Apfel Grotezk"/>
              </a:rPr>
              <a:t>Check the SVG format, fonts and layer visibility.</a:t>
            </a:r>
          </a:p>
        </p:txBody>
      </p:sp>
      <p:sp>
        <p:nvSpPr>
          <p:cNvPr id="14" name="">
            <a:extLst xmlns:a="http://schemas.openxmlformats.org/drawingml/2006/main">
              <a:ext uri="{FF2B5EF4-FFF2-40B4-BE49-F238E27FC236}">
                <a16:creationId xmlns:a16="http://schemas.microsoft.com/office/drawing/2014/main" id="{2816C050-C24F-494E-8AEF-17104A1A6DF2}"/>
              </a:ext>
            </a:extLst>
          </p:cNvPr>
          <p:cNvSpPr>
            <a:spLocks xmlns:a="http://schemas.openxmlformats.org/drawingml/2006/main" noGrp="1"/>
          </p:cNvSpPr>
          <p:nvPr/>
        </p:nvSpPr>
        <p:spPr>
          <a:xfrm xmlns:a="http://schemas.openxmlformats.org/drawingml/2006/main">
            <a:off x="457200" y="5676900"/>
            <a:ext cx="11239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F4501E"/>
                </a:solidFill>
                <a:latin typeface="Apfel Grotezk"/>
                <a:ea typeface="Apfel Grotezk"/>
                <a:cs typeface="Apfel Grotezk"/>
              </a:defRPr>
            </a:pPr>
            <a:r>
              <a:rPr sz="2025" b="1">
                <a:solidFill>
                  <a:srgbClr val="F4501E"/>
                </a:solidFill>
                <a:latin typeface="Apfel Grotezk"/>
                <a:ea typeface="Apfel Grotezk"/>
                <a:cs typeface="Apfel Grotezk"/>
              </a:rPr>
              <a:t>A useful bug report: city + selected area + editor + what you expected.</a:t>
            </a:r>
          </a:p>
        </p:txBody>
      </p:sp>
    </p:spTree>
    <p:extLst>
      <p:ext uri="{BB962C8B-B14F-4D97-AF65-F5344CB8AC3E}">
        <p14:creationId xmlns:p14="http://schemas.microsoft.com/office/powerpoint/2010/main" val="337012879"/>
      </p:ext>
    </p:extLst>
  </p:cSld>
</p:sld>
</file>

<file path=ppt/slides/slide16.xml><?xml version="1.0" encoding="utf-8"?>
<p:sld xmlns:p="http://schemas.openxmlformats.org/presentationml/2006/main">
  <p:cSld>
    <p:bg>
      <p:bgPr>
        <a:solidFill xmlns:a="http://schemas.openxmlformats.org/drawingml/2006/main">
          <a:srgbClr val="7ECAB6"/>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DB1EC9D-2F6B-4AE2-8D01-C96620B51184}"/>
              </a:ext>
            </a:extLst>
          </p:cNvPr>
          <p:cNvSpPr>
            <a:spLocks xmlns:a="http://schemas.openxmlformats.org/drawingml/2006/main" noGrp="1"/>
          </p:cNvSpPr>
          <p:nvPr/>
        </p:nvSpPr>
        <p:spPr>
          <a:xfrm xmlns:a="http://schemas.openxmlformats.org/drawingml/2006/main">
            <a:off x="457200" y="238125"/>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F4501E"/>
                </a:solidFill>
                <a:latin typeface="Apfel Grotezk"/>
                <a:ea typeface="Apfel Grotezk"/>
                <a:cs typeface="Apfel Grotezk"/>
              </a:defRPr>
            </a:pPr>
            <a:r>
              <a:rPr sz="1275" b="1">
                <a:solidFill>
                  <a:srgbClr val="F4501E"/>
                </a:solidFill>
                <a:latin typeface="Apfel Grotezk"/>
                <a:ea typeface="Apfel Grotezk"/>
                <a:cs typeface="Apfel Grotezk"/>
              </a:rPr>
              <a:t>OPEN DISCUSSION</a:t>
            </a:r>
          </a:p>
        </p:txBody>
      </p:sp>
      <p:sp>
        <p:nvSpPr>
          <p:cNvPr id="2" name="">
            <a:extLst xmlns:a="http://schemas.openxmlformats.org/drawingml/2006/main">
              <a:ext uri="{FF2B5EF4-FFF2-40B4-BE49-F238E27FC236}">
                <a16:creationId xmlns:a16="http://schemas.microsoft.com/office/drawing/2014/main" id="{15BEB37E-D31B-439D-A6DC-2D8ABD135353}"/>
              </a:ext>
            </a:extLst>
          </p:cNvPr>
          <p:cNvSpPr>
            <a:spLocks xmlns:a="http://schemas.openxmlformats.org/drawingml/2006/main" noGrp="1"/>
          </p:cNvSpPr>
          <p:nvPr/>
        </p:nvSpPr>
        <p:spPr>
          <a:xfrm xmlns:a="http://schemas.openxmlformats.org/drawingml/2006/main">
            <a:off x="457200" y="638175"/>
            <a:ext cx="11239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125" b="0">
                <a:solidFill>
                  <a:srgbClr val="18180F"/>
                </a:solidFill>
                <a:latin typeface="Mayonnaise Black"/>
                <a:ea typeface="Mayonnaise Black"/>
                <a:cs typeface="Mayonnaise Black"/>
              </a:defRPr>
            </a:pPr>
            <a:r>
              <a:rPr sz="4125" b="0">
                <a:solidFill>
                  <a:srgbClr val="18180F"/>
                </a:solidFill>
                <a:latin typeface="Mayonnaise Black"/>
                <a:ea typeface="Mayonnaise Black"/>
                <a:cs typeface="Mayonnaise Black"/>
              </a:rPr>
              <a:t>WHAT SHOULD MAPEXPORT DO BETTER?</a:t>
            </a:r>
          </a:p>
        </p:txBody>
      </p:sp>
      <p:sp>
        <p:nvSpPr>
          <p:cNvPr id="3" name="">
            <a:extLst xmlns:a="http://schemas.openxmlformats.org/drawingml/2006/main">
              <a:ext uri="{FF2B5EF4-FFF2-40B4-BE49-F238E27FC236}">
                <a16:creationId xmlns:a16="http://schemas.microsoft.com/office/drawing/2014/main" id="{41915351-19E1-4606-8439-2FCCC45464D8}"/>
              </a:ext>
            </a:extLst>
          </p:cNvPr>
          <p:cNvSpPr>
            <a:spLocks xmlns:a="http://schemas.openxmlformats.org/drawingml/2006/main" noGrp="1"/>
          </p:cNvSpPr>
          <p:nvPr/>
        </p:nvSpPr>
        <p:spPr>
          <a:xfrm xmlns:a="http://schemas.openxmlformats.org/drawingml/2006/main">
            <a:off x="457200" y="6429375"/>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18180F"/>
                </a:solidFill>
                <a:latin typeface="Apfel Grotezk"/>
                <a:ea typeface="Apfel Grotezk"/>
                <a:cs typeface="Apfel Grotezk"/>
              </a:defRPr>
            </a:pPr>
            <a:r>
              <a:rPr sz="1125" b="0">
                <a:solidFill>
                  <a:srgbClr val="18180F"/>
                </a:solidFill>
                <a:latin typeface="Apfel Grotezk"/>
                <a:ea typeface="Apfel Grotezk"/>
                <a:cs typeface="Apfel Grotezk"/>
              </a:rPr>
              <a:t>MAPEXPORT  /  USE-IT     ·     Map data © OpenStreetMap contributors</a:t>
            </a:r>
          </a:p>
        </p:txBody>
      </p:sp>
      <p:sp>
        <p:nvSpPr>
          <p:cNvPr id="4" name="">
            <a:extLst xmlns:a="http://schemas.openxmlformats.org/drawingml/2006/main">
              <a:ext uri="{FF2B5EF4-FFF2-40B4-BE49-F238E27FC236}">
                <a16:creationId xmlns:a16="http://schemas.microsoft.com/office/drawing/2014/main" id="{928B265D-BBC9-4F64-808A-992D26085A3F}"/>
              </a:ext>
            </a:extLst>
          </p:cNvPr>
          <p:cNvSpPr>
            <a:spLocks xmlns:a="http://schemas.openxmlformats.org/drawingml/2006/main" noGrp="1"/>
          </p:cNvSpPr>
          <p:nvPr/>
        </p:nvSpPr>
        <p:spPr>
          <a:xfrm xmlns:a="http://schemas.openxmlformats.org/drawingml/2006/main">
            <a:off x="11144250" y="6429375"/>
            <a:ext cx="590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18180F"/>
                </a:solidFill>
                <a:latin typeface="Apfel Grotezk"/>
                <a:ea typeface="Apfel Grotezk"/>
                <a:cs typeface="Apfel Grotezk"/>
              </a:defRPr>
            </a:pPr>
            <a:r>
              <a:rPr sz="1125" b="0">
                <a:solidFill>
                  <a:srgbClr val="18180F"/>
                </a:solidFill>
                <a:latin typeface="Apfel Grotezk"/>
                <a:ea typeface="Apfel Grotezk"/>
                <a:cs typeface="Apfel Grotezk"/>
              </a:rPr>
              <a:t>16</a:t>
            </a:r>
          </a:p>
        </p:txBody>
      </p:sp>
      <p:sp>
        <p:nvSpPr>
          <p:cNvPr id="5" name="">
            <a:extLst xmlns:a="http://schemas.openxmlformats.org/drawingml/2006/main">
              <a:ext uri="{FF2B5EF4-FFF2-40B4-BE49-F238E27FC236}">
                <a16:creationId xmlns:a16="http://schemas.microsoft.com/office/drawing/2014/main" id="{DD8A6C38-4C4C-40D4-A701-6E487676A0F4}"/>
              </a:ext>
            </a:extLst>
          </p:cNvPr>
          <p:cNvSpPr>
            <a:spLocks xmlns:a="http://schemas.openxmlformats.org/drawingml/2006/main" noGrp="1"/>
          </p:cNvSpPr>
          <p:nvPr/>
        </p:nvSpPr>
        <p:spPr>
          <a:xfrm xmlns:a="http://schemas.openxmlformats.org/drawingml/2006/main">
            <a:off x="457200" y="1952625"/>
            <a:ext cx="7381875"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0">
                <a:solidFill>
                  <a:srgbClr val="18180F"/>
                </a:solidFill>
                <a:latin typeface="Mayonnaise Black"/>
                <a:ea typeface="Mayonnaise Black"/>
                <a:cs typeface="Mayonnaise Black"/>
              </a:defRPr>
            </a:pPr>
            <a:r>
              <a:rPr sz="3225" b="0">
                <a:solidFill>
                  <a:srgbClr val="18180F"/>
                </a:solidFill>
                <a:latin typeface="Mayonnaise Black"/>
                <a:ea typeface="Mayonnaise Black"/>
                <a:cs typeface="Mayonnaise Black"/>
              </a:rPr>
              <a:t>What saved you work?</a:t>
            </a:r>
          </a:p>
          <a:p xmlns:a="http://schemas.openxmlformats.org/drawingml/2006/main">
            <a:r>
              <a:t/>
            </a:r>
          </a:p>
          <a:p xmlns:a="http://schemas.openxmlformats.org/drawingml/2006/main">
            <a:pPr>
              <a:defRPr sz="3225" b="0">
                <a:solidFill>
                  <a:srgbClr val="18180F"/>
                </a:solidFill>
                <a:latin typeface="Mayonnaise Black"/>
                <a:ea typeface="Mayonnaise Black"/>
                <a:cs typeface="Mayonnaise Black"/>
              </a:defRPr>
            </a:pPr>
            <a:r>
              <a:rPr sz="3225" b="0">
                <a:solidFill>
                  <a:srgbClr val="18180F"/>
                </a:solidFill>
                <a:latin typeface="Mayonnaise Black"/>
                <a:ea typeface="Mayonnaise Black"/>
                <a:cs typeface="Mayonnaise Black"/>
              </a:rPr>
              <a:t>What was confusing?</a:t>
            </a:r>
          </a:p>
          <a:p xmlns:a="http://schemas.openxmlformats.org/drawingml/2006/main">
            <a:r>
              <a:t/>
            </a:r>
          </a:p>
          <a:p xmlns:a="http://schemas.openxmlformats.org/drawingml/2006/main">
            <a:pPr>
              <a:defRPr sz="3225" b="0">
                <a:solidFill>
                  <a:srgbClr val="18180F"/>
                </a:solidFill>
                <a:latin typeface="Mayonnaise Black"/>
                <a:ea typeface="Mayonnaise Black"/>
                <a:cs typeface="Mayonnaise Black"/>
              </a:defRPr>
            </a:pPr>
            <a:r>
              <a:rPr sz="3225" b="0">
                <a:solidFill>
                  <a:srgbClr val="18180F"/>
                </a:solidFill>
                <a:latin typeface="Mayonnaise Black"/>
                <a:ea typeface="Mayonnaise Black"/>
                <a:cs typeface="Mayonnaise Black"/>
              </a:rPr>
              <a:t>What is missing for your city?</a:t>
            </a:r>
          </a:p>
        </p:txBody>
      </p:sp>
      <p:sp>
        <p:nvSpPr>
          <p:cNvPr id="6" name="">
            <a:extLst xmlns:a="http://schemas.openxmlformats.org/drawingml/2006/main">
              <a:ext uri="{FF2B5EF4-FFF2-40B4-BE49-F238E27FC236}">
                <a16:creationId xmlns:a16="http://schemas.microsoft.com/office/drawing/2014/main" id="{5971E17E-9A2B-4FE1-8DD4-C2974EC9FFF3}"/>
              </a:ext>
            </a:extLst>
          </p:cNvPr>
          <p:cNvSpPr>
            <a:spLocks xmlns:a="http://schemas.openxmlformats.org/drawingml/2006/main" noGrp="1"/>
          </p:cNvSpPr>
          <p:nvPr/>
        </p:nvSpPr>
        <p:spPr>
          <a:xfrm xmlns:a="http://schemas.openxmlformats.org/drawingml/2006/main">
            <a:off x="8382000" y="1924050"/>
            <a:ext cx="3352800" cy="3524250"/>
          </a:xfrm>
          <a:prstGeom xmlns:a="http://schemas.openxmlformats.org/drawingml/2006/main" prst="rect">
            <a:avLst/>
          </a:prstGeom>
          <a:solidFill xmlns:a="http://schemas.openxmlformats.org/drawingml/2006/main">
            <a:srgbClr val="FEF9E4"/>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2DEDA5E6-0FB8-44AE-9684-3BC8FA5AFF38}"/>
              </a:ext>
            </a:extLst>
          </p:cNvPr>
          <p:cNvSpPr>
            <a:spLocks xmlns:a="http://schemas.openxmlformats.org/drawingml/2006/main" noGrp="1"/>
          </p:cNvSpPr>
          <p:nvPr/>
        </p:nvSpPr>
        <p:spPr>
          <a:xfrm xmlns:a="http://schemas.openxmlformats.org/drawingml/2006/main">
            <a:off x="8639175" y="2238375"/>
            <a:ext cx="2809875"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0">
                <a:solidFill>
                  <a:srgbClr val="F4501E"/>
                </a:solidFill>
                <a:latin typeface="Mayonnaise Black"/>
                <a:ea typeface="Mayonnaise Black"/>
                <a:cs typeface="Mayonnaise Black"/>
              </a:defRPr>
            </a:pPr>
            <a:r>
              <a:rPr sz="3900" b="0">
                <a:solidFill>
                  <a:srgbClr val="F4501E"/>
                </a:solidFill>
                <a:latin typeface="Mayonnaise Black"/>
                <a:ea typeface="Mayonnaise Black"/>
                <a:cs typeface="Mayonnaise Black"/>
              </a:rPr>
              <a:t>SHOW ONE</a:t>
            </a:r>
          </a:p>
          <a:p xmlns:a="http://schemas.openxmlformats.org/drawingml/2006/main">
            <a:pPr>
              <a:defRPr sz="3900" b="0">
                <a:solidFill>
                  <a:srgbClr val="F4501E"/>
                </a:solidFill>
                <a:latin typeface="Mayonnaise Black"/>
                <a:ea typeface="Mayonnaise Black"/>
                <a:cs typeface="Mayonnaise Black"/>
              </a:defRPr>
            </a:pPr>
            <a:r>
              <a:rPr sz="3900" b="0">
                <a:solidFill>
                  <a:srgbClr val="F4501E"/>
                </a:solidFill>
                <a:latin typeface="Mayonnaise Black"/>
                <a:ea typeface="Mayonnaise Black"/>
                <a:cs typeface="Mayonnaise Black"/>
              </a:rPr>
              <a:t>EXAMPLE.</a:t>
            </a:r>
          </a:p>
        </p:txBody>
      </p:sp>
      <p:sp>
        <p:nvSpPr>
          <p:cNvPr id="8" name="">
            <a:extLst xmlns:a="http://schemas.openxmlformats.org/drawingml/2006/main">
              <a:ext uri="{FF2B5EF4-FFF2-40B4-BE49-F238E27FC236}">
                <a16:creationId xmlns:a16="http://schemas.microsoft.com/office/drawing/2014/main" id="{3D05ED2B-F613-44F5-925D-FE7632814B00}"/>
              </a:ext>
            </a:extLst>
          </p:cNvPr>
          <p:cNvSpPr>
            <a:spLocks xmlns:a="http://schemas.openxmlformats.org/drawingml/2006/main" noGrp="1"/>
          </p:cNvSpPr>
          <p:nvPr/>
        </p:nvSpPr>
        <p:spPr>
          <a:xfrm xmlns:a="http://schemas.openxmlformats.org/drawingml/2006/main">
            <a:off x="8639175" y="4048125"/>
            <a:ext cx="27051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180F"/>
                </a:solidFill>
                <a:latin typeface="Apfel Grotezk"/>
                <a:ea typeface="Apfel Grotezk"/>
                <a:cs typeface="Apfel Grotezk"/>
              </a:defRPr>
            </a:pPr>
            <a:r>
              <a:rPr sz="2025" b="0">
                <a:solidFill>
                  <a:srgbClr val="18180F"/>
                </a:solidFill>
                <a:latin typeface="Apfel Grotezk"/>
                <a:ea typeface="Apfel Grotezk"/>
                <a:cs typeface="Apfel Grotezk"/>
              </a:rPr>
              <a:t>Then tell us the one</a:t>
            </a:r>
          </a:p>
          <a:p xmlns:a="http://schemas.openxmlformats.org/drawingml/2006/main">
            <a:pPr>
              <a:defRPr sz="2025" b="0">
                <a:solidFill>
                  <a:srgbClr val="18180F"/>
                </a:solidFill>
                <a:latin typeface="Apfel Grotezk"/>
                <a:ea typeface="Apfel Grotezk"/>
                <a:cs typeface="Apfel Grotezk"/>
              </a:defRPr>
            </a:pPr>
            <a:r>
              <a:rPr sz="2025" b="0">
                <a:solidFill>
                  <a:srgbClr val="18180F"/>
                </a:solidFill>
                <a:latin typeface="Apfel Grotezk"/>
                <a:ea typeface="Apfel Grotezk"/>
                <a:cs typeface="Apfel Grotezk"/>
              </a:rPr>
              <a:t>change that would</a:t>
            </a:r>
          </a:p>
          <a:p xmlns:a="http://schemas.openxmlformats.org/drawingml/2006/main">
            <a:pPr>
              <a:defRPr sz="2025" b="0">
                <a:solidFill>
                  <a:srgbClr val="18180F"/>
                </a:solidFill>
                <a:latin typeface="Apfel Grotezk"/>
                <a:ea typeface="Apfel Grotezk"/>
                <a:cs typeface="Apfel Grotezk"/>
              </a:defRPr>
            </a:pPr>
            <a:r>
              <a:rPr sz="2025" b="0">
                <a:solidFill>
                  <a:srgbClr val="18180F"/>
                </a:solidFill>
                <a:latin typeface="Apfel Grotezk"/>
                <a:ea typeface="Apfel Grotezk"/>
                <a:cs typeface="Apfel Grotezk"/>
              </a:rPr>
              <a:t>help you most.</a:t>
            </a:r>
          </a:p>
        </p:txBody>
      </p:sp>
      <p:sp>
        <p:nvSpPr>
          <p:cNvPr id="9" name="">
            <a:extLst xmlns:a="http://schemas.openxmlformats.org/drawingml/2006/main">
              <a:ext uri="{FF2B5EF4-FFF2-40B4-BE49-F238E27FC236}">
                <a16:creationId xmlns:a16="http://schemas.microsoft.com/office/drawing/2014/main" id="{346DF57E-71A9-46C0-BE6C-FCCA21EC1DB1}"/>
              </a:ext>
            </a:extLst>
          </p:cNvPr>
          <p:cNvSpPr>
            <a:spLocks xmlns:a="http://schemas.openxmlformats.org/drawingml/2006/main" noGrp="1"/>
          </p:cNvSpPr>
          <p:nvPr/>
        </p:nvSpPr>
        <p:spPr>
          <a:xfrm xmlns:a="http://schemas.openxmlformats.org/drawingml/2006/main">
            <a:off x="457200" y="5810250"/>
            <a:ext cx="11334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180F"/>
                </a:solidFill>
                <a:latin typeface="Apfel Grotezk"/>
                <a:ea typeface="Apfel Grotezk"/>
                <a:cs typeface="Apfel Grotezk"/>
              </a:defRPr>
            </a:pPr>
            <a:r>
              <a:rPr sz="1875" b="0">
                <a:solidFill>
                  <a:srgbClr val="18180F"/>
                </a:solidFill>
                <a:latin typeface="Apfel Grotezk"/>
                <a:ea typeface="Apfel Grotezk"/>
                <a:cs typeface="Apfel Grotezk"/>
              </a:rPr>
              <a:t>Collect: observation → impact on your workflow → suggested improvement</a:t>
            </a:r>
          </a:p>
        </p:txBody>
      </p:sp>
    </p:spTree>
    <p:extLst>
      <p:ext uri="{BB962C8B-B14F-4D97-AF65-F5344CB8AC3E}">
        <p14:creationId xmlns:p14="http://schemas.microsoft.com/office/powerpoint/2010/main" val="84747886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2026-09-13T19:32:27.8270000Z</dcterms:created>
  <dcterms:modified xsi:type="dcterms:W3CDTF">2026-09-13T19:32:27.8270000Z</dcterms:modified>
</coreProperties>
</file>